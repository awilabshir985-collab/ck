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077d633-296d-3e6d-2adb-ea17c83398f1}">
          <p14:sldIdLst>
            <p14:sldId id="256"/>
            <p14:sldId id="257"/>
            <p14:sldId id="258"/>
            <p14:sldId id="259"/>
            <p14:sldId id="260"/>
          </p14:sldIdLst>
        </p14:section>
        <p14:section name="Literature Review" id="{b017e0fc-df50-3a7b-7445-55857ad28621}">
          <p14:sldIdLst>
            <p14:sldId id="261"/>
          </p14:sldIdLst>
        </p14:section>
        <p14:section name="Methodology" id="{7694585b-8104-5175-27d7-295e9e0e4dcf}">
          <p14:sldIdLst>
            <p14:sldId id="262"/>
            <p14:sldId id="263"/>
            <p14:sldId id="264"/>
          </p14:sldIdLst>
        </p14:section>
        <p14:section name="System Design" id="{c46da512-6048-0363-b280-863fa1f2039b}">
          <p14:sldIdLst>
            <p14:sldId id="265"/>
            <p14:sldId id="266"/>
            <p14:sldId id="267"/>
          </p14:sldIdLst>
        </p14:section>
        <p14:section name="Implementation and Testing" id="{01b73021-c492-9488-1636-f21d29e90ba3}">
          <p14:sldIdLst>
            <p14:sldId id="268"/>
            <p14:sldId id="269"/>
            <p14:sldId id="270"/>
          </p14:sldIdLst>
        </p14:section>
        <p14:section name="Conclusion" id="{c0c2003c-1787-8aed-fb59-534d3f90c5c5}">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Assalaamu calaykum. Magacaygu waa [magacaaga]. Maanta waxaan idin hor dhigayaa thesis-kayga: Beeciye, oo ah suuq online ah oo lagu iibsado laguna iibiyo alaabta la isticmaalay (second-hand). Supervisor-kaygu waa [magaca supervisor-ka].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Presentation-kan wuxuu ka kooban yahay siddeed qaybood: hordhaca iyo dhibaatada, ujeeddooyinka, dib-u-eegista daraasadaha, habka shaqada, naqshadeynta nidaamka, hirgelinta iyo tijaabinta, gabagabada, ugu dambeyntiina su'aalaha.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Ganacsiga online-ka ah wuxuu beddelay sida alaabta loo iibsado. Adduunka, suuqyada alaabta la isticmaalay sida eBay iyo Mercari way koreen. Laakiin Garowe, alaabta second-hand-ka ah weli waxaa lagu iibiyaa Facebook groups iyo af-ka-af, iyadoo aan la haysan qaybo (categories), raadin, ama diiwaan dalab iyo lacag bixin. Taasi waa fursadda ay daraasaddani ka shaqaysay.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Dhibaatada waxay leedahay afar qaybood. Koowaad: alaabta in la helo way adag tahay, maadaama ay ku kala firirsan yihiin bogag kala duwan. Labaad: ma jiro diiwaan dalab (order history). Saddexaad: lacag bixintu waa gacan, mana la diiwaangeliyo, taas oo keenta khilaaf. Afraad: ma jirto maamul kormeera iibiyeyaasha iyo xayeysiisyada.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Ujeeddada guud waa in la naqshadeeyo, la dhiso, lana tijaabiyo suuq online ah oo qofku hal account ku iibsan karo kuna iibin karo, iyadoo admin-ku uu kormeerayo nidaamka oo dhan. Ujeeddooyinka gaarka ah waa lix: database, login iyo roles, liiska alaabta, cart iyo checkout, dashboards, iyo tijaabinta nidaamka oo dhan.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Daraasado hore sida Yrjölä (2021), Moriuchi iyo Takahashi (2022), iyo Jang iyo Kim (2023) waxay muujiyeen in kalsoonidu (trust) muhiim u tahay suuqyada C2C. Zhang iyo Meng (2022) waxay caddeeyeen in MVC iyo SQL Server ay ku habboon yihiin nidaamyadan. Marka la barbardhigo OLX, Jiji iyo Facebook Marketplace, waxay kaliya bixiyaan xayeysiis; ma laha cart, checkout, diiwaan lacag bixin, iyo maamul dhexe. Beeciye ayaa buuxiya farqigaas.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Daraasaddu waxay isticmaashay design-based research iyo Agile iterative SDLC. Xogta waxaa lagu ururiyay afar hab: wareysiyo lala yeeshay iibsadayaal iyo iibiyeyaal, indha-indheyn lagu sameeyay sida Facebook groups loo isticmaalo, su'aalo (questionnaire) loo qaybiyay 30 qof oo Garowe ah, iyo barbardhigga nidaamyada jira.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Nidaamka waxaa loo dhisay 11 wareeg (rounds). Wareeg kasta wuxuu ku daray qayb cusub, kadibna waa la tijaabiyay. Tusaale ahaan, Round 6 waxaan ogaanay in xiriirka Order iyo Payment uu ahaa one-to-one, taas oo aan u beddelnay one-to-many si dalab kasta loogu diiwaangeliyo lacag bixin badan ama qayb-qayb ah. Tani waa faa'iidada habka iterative-ka.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Qalabka la isticmaalay: C# iyo .NET 9, ASP.NET Core 9 MVC oo ah framework-ka, Entity Framework Core 9 oo ah ORM-ka isku xira code-ka iyo database-ka, Microsoft SQL Server, ASP.NET Core Identity oo maamula login-ka iyo roles-ka, iyo Razor, Bootstrap 5 iyo Chart.js oo loo isticmaalay interface-ka iyo warbixinnada.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Nidaamku wuxuu raacaa three-tier architecture. Lakabka koowaad waa browser-ka, kaas oo HTTPS ku la xiriira ASP.NET Core MVC. Lakabka labaad waa todobada controller iyo Identity oo maamula logic-ga. Lakabka saddexaad waa Entity Framework Core iyo SQL Server oo xogta kaydiya.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Database-ku wuxuu leeyahay siddeed entity: User, Category, Product, ProductImage, CartItem, Order, OrderItem iyo Payment. Product kasta wuxuu leeyahay hal category iyo hal iibiye, sawirro badanna wuu yeelan karaa. Qodobka ugu muhiimsan: Order kasta wuxuu yeelan karaa Payments badan, si lacag qayb-qayb ah loogu diiwaangeliyo.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Nidaamku wuxuu leeyahay saddex actor. Guest-ku wuu daawan karaa alaabta, wuu is-diiwaangelin karaa, wuxuuna iib geli karaa isagoo account aan lahayn, kaliya magac iyo telefoon. Registered User-ku hal account ayuu ku iibsadaa kuna iibiyaa. Admin-ku wuxuu maamulaa users, products, categories, orders iyo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Halkan waa astaamaha ugu muhiimsan. Dhinaca iibsiga: raadin iyo categories, cart, Buy Now, iyo laba hab lacag bixin: Cash on Delivery iyo Mobile Money. Dhinaca iibinta: sawirro badan, qiimo hal-unug ah oo laga xisaabiyo qiimaha guud, alaabta dhammaatay si toos ah ayay u qarsoontaa, iyo warbixin iib. Admin-ku wuxuu leeyahay dashboard iyo maamul buuxa.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Kuwani waa sawirro laga qaaday nidaamka oo shaqaynaya. Bidix: bogga Browse Products, halkaas oo user-ku ku raadin karo alaabta, ku kala sooci karo categories, kuna dari karo cart-ka. Midig: Admin Dashboard oo muujinaya tirada users, sellers, products iyo wadarta iibka. Haddii waqti la helo, halkan waxaan ku samayn karaa demo toos 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Nidaamka waxaan ku tijaabinay manual testing, integration testing iyo smoke testing wareeg kasta kadib. Dhammaan 14-ka test case way guuleysteen. Tusaale: user caadi ah ma geli karo bogga Admin-ka, alaab dhammaatay cart-ka laguma dari karo, dalab keliyana laba lacag bixin ayaa lagu diiwaangelin karaa.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Gabagabadii, daraasaddani waxay muujisay in platform habaysan oo roles leh uu ka dhigi karo ganacsiga alaabta second-hand-ka ah ee Garowe mid habaysan, cad, lana xisaabtami karo. Dhammaan lixda ujeeddo ee gaarka ahaa waa la gaaray: database-ka, amniga, workflow-ga iibsiga, iyo dashboards-ka.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Talooyinka: in foomka checkout-ka la hagaajiyo magacyada field-yada, in la sameeyo password reset, in lagu daro qiimeyn iyo faallooyin iibiyeyaasha si kalsoonidu u korto, tijaabin otomaatig ah, iyo in server dadweyne la geliyo. Mustaqbalka: in lagu xiro mobile money dhab ah sida EVC Plus, app mobile ah, luqadda Soomaaliga iyo Ingiriiska, iyo falanqeyn ballaaran.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Waad ku mahadsan tihiin dhageysiga. Hadda waxaan diyaar u ahay su'aalahiinna.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7F5E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685800"/>
          </a:xfrm>
          <a:prstGeom prst="rect">
            <a:avLst/>
          </a:prstGeom>
          <a:noFill/>
          <a:ln/>
        </p:spPr>
        <p:txBody>
          <a:bodyPr wrap="square" rtlCol="0"/>
          <a:lstStyle>
            <a:lvl1pPr algn="l" indent="0" marL="0">
              <a:buNone/>
              <a:defRPr lang="en-US" sz="3400" b="1" dirty="0">
                <a:solidFill>
                  <a:srgbClr val="13203F"/>
                </a:solidFill>
                <a:latin typeface="Calibri" pitchFamily="34" charset="0"/>
                <a:ea typeface="Calibri" pitchFamily="34" charset="-122"/>
                <a:cs typeface="Calibri"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972800" y="6309360"/>
            <a:ext cx="670255"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3203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685800"/>
          </a:xfrm>
          <a:prstGeom prst="rect">
            <a:avLst/>
          </a:prstGeom>
          <a:noFill/>
          <a:ln/>
        </p:spPr>
        <p:txBody>
          <a:bodyPr wrap="square" rtlCol="0"/>
          <a:lstStyle>
            <a:lvl1pPr algn="l" indent="0" marL="0">
              <a:buNone/>
              <a:defRPr lang="en-US" sz="3400" b="1" dirty="0">
                <a:solidFill>
                  <a:srgbClr val="F7F5EF"/>
                </a:solidFill>
                <a:latin typeface="Calibri" pitchFamily="34" charset="0"/>
                <a:ea typeface="Calibri" pitchFamily="34" charset="-122"/>
                <a:cs typeface="Calibri"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972800" y="6309360"/>
            <a:ext cx="670255"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A6C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09360"/>
            <a:ext cx="670255"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778240" y="-1645920"/>
            <a:ext cx="5120640" cy="5120640"/>
          </a:xfrm>
          <a:prstGeom prst="ellipse">
            <a:avLst/>
          </a:prstGeom>
          <a:solidFill>
            <a:srgbClr val="1B2A50"/>
          </a:solidFill>
          <a:ln/>
        </p:spPr>
      </p:sp>
      <p:sp>
        <p:nvSpPr>
          <p:cNvPr id="3" name="Shape 1"/>
          <p:cNvSpPr/>
          <p:nvPr/>
        </p:nvSpPr>
        <p:spPr>
          <a:xfrm>
            <a:off x="10241280" y="4206240"/>
            <a:ext cx="2926080" cy="2926080"/>
          </a:xfrm>
          <a:prstGeom prst="ellipse">
            <a:avLst/>
          </a:prstGeom>
          <a:solidFill>
            <a:srgbClr val="182648"/>
          </a:solidFill>
          <a:ln/>
        </p:spPr>
      </p:sp>
      <p:sp>
        <p:nvSpPr>
          <p:cNvPr id="4" name="Text 2"/>
          <p:cNvSpPr txBox="1"/>
          <p:nvPr/>
        </p:nvSpPr>
        <p:spPr>
          <a:xfrm>
            <a:off x="731520" y="640080"/>
            <a:ext cx="8229600" cy="320040"/>
          </a:xfrm>
          <a:prstGeom prst="rect">
            <a:avLst/>
          </a:prstGeom>
          <a:noFill/>
          <a:ln/>
        </p:spPr>
        <p:txBody>
          <a:bodyPr wrap="square" lIns="0" tIns="0" rIns="0" bIns="0" rtlCol="0" anchor="t"/>
          <a:lstStyle/>
          <a:p>
            <a:pPr indent="0" marL="0">
              <a:buNone/>
            </a:pPr>
            <a:r>
              <a:rPr lang="en-US" sz="1400" b="1" spc="300" kern="0" dirty="0">
                <a:solidFill>
                  <a:srgbClr val="F2B51C"/>
                </a:solidFill>
                <a:latin typeface="Calibri" pitchFamily="34" charset="0"/>
                <a:ea typeface="Calibri" pitchFamily="34" charset="-122"/>
                <a:cs typeface="Calibri" pitchFamily="34" charset="-120"/>
              </a:rPr>
              <a:t>EAST AFRICA UNIVERSITY – GAROWE</a:t>
            </a:r>
            <a:endParaRPr lang="en-US" sz="1400" dirty="0"/>
          </a:p>
        </p:txBody>
      </p:sp>
      <p:sp>
        <p:nvSpPr>
          <p:cNvPr id="5" name="Text 3"/>
          <p:cNvSpPr txBox="1"/>
          <p:nvPr/>
        </p:nvSpPr>
        <p:spPr>
          <a:xfrm>
            <a:off x="731520" y="1005840"/>
            <a:ext cx="8229600" cy="320040"/>
          </a:xfrm>
          <a:prstGeom prst="rect">
            <a:avLst/>
          </a:prstGeom>
          <a:noFill/>
          <a:ln/>
        </p:spPr>
        <p:txBody>
          <a:bodyPr wrap="square" lIns="0" tIns="0" rIns="0" bIns="0" rtlCol="0" anchor="t"/>
          <a:lstStyle/>
          <a:p>
            <a:pPr indent="0" marL="0">
              <a:buNone/>
            </a:pPr>
            <a:r>
              <a:rPr lang="en-US" sz="1400" dirty="0">
                <a:solidFill>
                  <a:srgbClr val="C9D1E3"/>
                </a:solidFill>
                <a:latin typeface="Calibri" pitchFamily="34" charset="0"/>
                <a:ea typeface="Calibri" pitchFamily="34" charset="-122"/>
                <a:cs typeface="Calibri" pitchFamily="34" charset="-120"/>
              </a:rPr>
              <a:t>Faculty of Technology and Engineering · Department of Computer Science</a:t>
            </a:r>
            <a:endParaRPr lang="en-US" sz="1400" dirty="0"/>
          </a:p>
        </p:txBody>
      </p:sp>
      <p:sp>
        <p:nvSpPr>
          <p:cNvPr id="6" name="Text 4"/>
          <p:cNvSpPr txBox="1"/>
          <p:nvPr/>
        </p:nvSpPr>
        <p:spPr>
          <a:xfrm>
            <a:off x="731520" y="1828800"/>
            <a:ext cx="8229600" cy="1097280"/>
          </a:xfrm>
          <a:prstGeom prst="rect">
            <a:avLst/>
          </a:prstGeom>
          <a:noFill/>
          <a:ln/>
        </p:spPr>
        <p:txBody>
          <a:bodyPr wrap="square" lIns="0" tIns="0" rIns="0" bIns="0" rtlCol="0" anchor="t"/>
          <a:lstStyle/>
          <a:p>
            <a:pPr indent="0" marL="0">
              <a:buNone/>
            </a:pPr>
            <a:r>
              <a:rPr lang="en-US" sz="7200" b="1" dirty="0">
                <a:solidFill>
                  <a:srgbClr val="F7F5EF"/>
                </a:solidFill>
                <a:latin typeface="Calibri" pitchFamily="34" charset="0"/>
                <a:ea typeface="Calibri" pitchFamily="34" charset="-122"/>
                <a:cs typeface="Calibri" pitchFamily="34" charset="-120"/>
              </a:rPr>
              <a:t>Beeciye</a:t>
            </a:r>
            <a:endParaRPr lang="en-US" sz="7200" dirty="0"/>
          </a:p>
        </p:txBody>
      </p:sp>
      <p:sp>
        <p:nvSpPr>
          <p:cNvPr id="7" name="Text 5"/>
          <p:cNvSpPr txBox="1"/>
          <p:nvPr/>
        </p:nvSpPr>
        <p:spPr>
          <a:xfrm>
            <a:off x="731520" y="2971800"/>
            <a:ext cx="8412480" cy="914400"/>
          </a:xfrm>
          <a:prstGeom prst="rect">
            <a:avLst/>
          </a:prstGeom>
          <a:noFill/>
          <a:ln/>
        </p:spPr>
        <p:txBody>
          <a:bodyPr wrap="square" lIns="0" tIns="0" rIns="0" bIns="0" rtlCol="0" anchor="t"/>
          <a:lstStyle/>
          <a:p>
            <a:pPr indent="0" marL="0">
              <a:buNone/>
            </a:pPr>
            <a:r>
              <a:rPr lang="en-US" sz="2600" dirty="0">
                <a:solidFill>
                  <a:srgbClr val="F7F5EF"/>
                </a:solidFill>
                <a:latin typeface="Calibri" pitchFamily="34" charset="0"/>
                <a:ea typeface="Calibri" pitchFamily="34" charset="-122"/>
                <a:cs typeface="Calibri" pitchFamily="34" charset="-120"/>
              </a:rPr>
              <a:t>A Web-Based Second-Hand Market Platform for Buying and Selling Used Goods</a:t>
            </a:r>
            <a:endParaRPr lang="en-US" sz="2600" dirty="0"/>
          </a:p>
        </p:txBody>
      </p:sp>
      <p:sp>
        <p:nvSpPr>
          <p:cNvPr id="8" name="Text 6"/>
          <p:cNvSpPr txBox="1"/>
          <p:nvPr/>
        </p:nvSpPr>
        <p:spPr>
          <a:xfrm>
            <a:off x="731520" y="4023360"/>
            <a:ext cx="8229600" cy="365760"/>
          </a:xfrm>
          <a:prstGeom prst="rect">
            <a:avLst/>
          </a:prstGeom>
          <a:noFill/>
          <a:ln/>
        </p:spPr>
        <p:txBody>
          <a:bodyPr wrap="square" lIns="0" tIns="0" rIns="0" bIns="0" rtlCol="0" anchor="t"/>
          <a:lstStyle/>
          <a:p>
            <a:pPr indent="0" marL="0">
              <a:buNone/>
            </a:pPr>
            <a:r>
              <a:rPr lang="en-US" sz="1600" dirty="0">
                <a:solidFill>
                  <a:srgbClr val="F2B51C"/>
                </a:solidFill>
                <a:latin typeface="Calibri" pitchFamily="34" charset="0"/>
                <a:ea typeface="Calibri" pitchFamily="34" charset="-122"/>
                <a:cs typeface="Calibri" pitchFamily="34" charset="-120"/>
              </a:rPr>
              <a:t>Bachelor's Thesis Presentation · B.Sc. Computer Science</a:t>
            </a:r>
            <a:endParaRPr lang="en-US" sz="1600" dirty="0"/>
          </a:p>
        </p:txBody>
      </p:sp>
      <p:sp>
        <p:nvSpPr>
          <p:cNvPr id="9" name="Text 7"/>
          <p:cNvSpPr txBox="1"/>
          <p:nvPr/>
        </p:nvSpPr>
        <p:spPr>
          <a:xfrm>
            <a:off x="731520" y="5257800"/>
            <a:ext cx="3474720" cy="274320"/>
          </a:xfrm>
          <a:prstGeom prst="rect">
            <a:avLst/>
          </a:prstGeom>
          <a:noFill/>
          <a:ln/>
        </p:spPr>
        <p:txBody>
          <a:bodyPr wrap="square" lIns="0" tIns="0" rIns="0" bIns="0" rtlCol="0" anchor="t"/>
          <a:lstStyle/>
          <a:p>
            <a:pPr indent="0" marL="0">
              <a:buNone/>
            </a:pPr>
            <a:r>
              <a:rPr lang="en-US" sz="1100" spc="200" kern="0" dirty="0">
                <a:solidFill>
                  <a:srgbClr val="C9D1E3"/>
                </a:solidFill>
                <a:latin typeface="Calibri" pitchFamily="34" charset="0"/>
                <a:ea typeface="Calibri" pitchFamily="34" charset="-122"/>
                <a:cs typeface="Calibri" pitchFamily="34" charset="-120"/>
              </a:rPr>
              <a:t>PRESENTED BY</a:t>
            </a:r>
            <a:endParaRPr lang="en-US" sz="1100" dirty="0"/>
          </a:p>
        </p:txBody>
      </p:sp>
      <p:sp>
        <p:nvSpPr>
          <p:cNvPr id="10" name="Text 8"/>
          <p:cNvSpPr txBox="1"/>
          <p:nvPr/>
        </p:nvSpPr>
        <p:spPr>
          <a:xfrm>
            <a:off x="731520" y="5559552"/>
            <a:ext cx="3474720" cy="365760"/>
          </a:xfrm>
          <a:prstGeom prst="rect">
            <a:avLst/>
          </a:prstGeom>
          <a:noFill/>
          <a:ln/>
        </p:spPr>
        <p:txBody>
          <a:bodyPr wrap="square" lIns="0" tIns="0" rIns="0" bIns="0" rtlCol="0" anchor="t"/>
          <a:lstStyle/>
          <a:p>
            <a:pPr indent="0" marL="0">
              <a:buNone/>
            </a:pPr>
            <a:r>
              <a:rPr lang="en-US" sz="1600" b="1" dirty="0">
                <a:solidFill>
                  <a:srgbClr val="F7F5EF"/>
                </a:solidFill>
                <a:latin typeface="Calibri" pitchFamily="34" charset="0"/>
                <a:ea typeface="Calibri" pitchFamily="34" charset="-122"/>
                <a:cs typeface="Calibri" pitchFamily="34" charset="-120"/>
              </a:rPr>
              <a:t>[Student Full Name] · [ID]</a:t>
            </a:r>
            <a:endParaRPr lang="en-US" sz="1600" dirty="0"/>
          </a:p>
        </p:txBody>
      </p:sp>
      <p:sp>
        <p:nvSpPr>
          <p:cNvPr id="11" name="Text 9"/>
          <p:cNvSpPr txBox="1"/>
          <p:nvPr/>
        </p:nvSpPr>
        <p:spPr>
          <a:xfrm>
            <a:off x="4389120" y="5257800"/>
            <a:ext cx="3474720" cy="274320"/>
          </a:xfrm>
          <a:prstGeom prst="rect">
            <a:avLst/>
          </a:prstGeom>
          <a:noFill/>
          <a:ln/>
        </p:spPr>
        <p:txBody>
          <a:bodyPr wrap="square" lIns="0" tIns="0" rIns="0" bIns="0" rtlCol="0" anchor="t"/>
          <a:lstStyle/>
          <a:p>
            <a:pPr indent="0" marL="0">
              <a:buNone/>
            </a:pPr>
            <a:r>
              <a:rPr lang="en-US" sz="1100" spc="200" kern="0" dirty="0">
                <a:solidFill>
                  <a:srgbClr val="C9D1E3"/>
                </a:solidFill>
                <a:latin typeface="Calibri" pitchFamily="34" charset="0"/>
                <a:ea typeface="Calibri" pitchFamily="34" charset="-122"/>
                <a:cs typeface="Calibri" pitchFamily="34" charset="-120"/>
              </a:rPr>
              <a:t>SUPERVISOR</a:t>
            </a:r>
            <a:endParaRPr lang="en-US" sz="1100" dirty="0"/>
          </a:p>
        </p:txBody>
      </p:sp>
      <p:sp>
        <p:nvSpPr>
          <p:cNvPr id="12" name="Text 10"/>
          <p:cNvSpPr txBox="1"/>
          <p:nvPr/>
        </p:nvSpPr>
        <p:spPr>
          <a:xfrm>
            <a:off x="4389120" y="5559552"/>
            <a:ext cx="3474720" cy="365760"/>
          </a:xfrm>
          <a:prstGeom prst="rect">
            <a:avLst/>
          </a:prstGeom>
          <a:noFill/>
          <a:ln/>
        </p:spPr>
        <p:txBody>
          <a:bodyPr wrap="square" lIns="0" tIns="0" rIns="0" bIns="0" rtlCol="0" anchor="t"/>
          <a:lstStyle/>
          <a:p>
            <a:pPr indent="0" marL="0">
              <a:buNone/>
            </a:pPr>
            <a:r>
              <a:rPr lang="en-US" sz="1600" b="1" dirty="0">
                <a:solidFill>
                  <a:srgbClr val="F7F5EF"/>
                </a:solidFill>
                <a:latin typeface="Calibri" pitchFamily="34" charset="0"/>
                <a:ea typeface="Calibri" pitchFamily="34" charset="-122"/>
                <a:cs typeface="Calibri" pitchFamily="34" charset="-120"/>
              </a:rPr>
              <a:t>[Supervisor Full Name]</a:t>
            </a:r>
            <a:endParaRPr lang="en-US" sz="1600" dirty="0"/>
          </a:p>
        </p:txBody>
      </p:sp>
      <p:sp>
        <p:nvSpPr>
          <p:cNvPr id="13" name="Text 11"/>
          <p:cNvSpPr txBox="1"/>
          <p:nvPr/>
        </p:nvSpPr>
        <p:spPr>
          <a:xfrm>
            <a:off x="8046720" y="5257800"/>
            <a:ext cx="3474720" cy="274320"/>
          </a:xfrm>
          <a:prstGeom prst="rect">
            <a:avLst/>
          </a:prstGeom>
          <a:noFill/>
          <a:ln/>
        </p:spPr>
        <p:txBody>
          <a:bodyPr wrap="square" lIns="0" tIns="0" rIns="0" bIns="0" rtlCol="0" anchor="t"/>
          <a:lstStyle/>
          <a:p>
            <a:pPr indent="0" marL="0">
              <a:buNone/>
            </a:pPr>
            <a:r>
              <a:rPr lang="en-US" sz="1100" spc="200" kern="0" dirty="0">
                <a:solidFill>
                  <a:srgbClr val="C9D1E3"/>
                </a:solidFill>
                <a:latin typeface="Calibri" pitchFamily="34" charset="0"/>
                <a:ea typeface="Calibri" pitchFamily="34" charset="-122"/>
                <a:cs typeface="Calibri" pitchFamily="34" charset="-120"/>
              </a:rPr>
              <a:t>DATE</a:t>
            </a:r>
            <a:endParaRPr lang="en-US" sz="1100" dirty="0"/>
          </a:p>
        </p:txBody>
      </p:sp>
      <p:sp>
        <p:nvSpPr>
          <p:cNvPr id="14" name="Text 12"/>
          <p:cNvSpPr txBox="1"/>
          <p:nvPr/>
        </p:nvSpPr>
        <p:spPr>
          <a:xfrm>
            <a:off x="8046720" y="5559552"/>
            <a:ext cx="3474720" cy="365760"/>
          </a:xfrm>
          <a:prstGeom prst="rect">
            <a:avLst/>
          </a:prstGeom>
          <a:noFill/>
          <a:ln/>
        </p:spPr>
        <p:txBody>
          <a:bodyPr wrap="square" lIns="0" tIns="0" rIns="0" bIns="0" rtlCol="0" anchor="t"/>
          <a:lstStyle/>
          <a:p>
            <a:pPr indent="0" marL="0">
              <a:buNone/>
            </a:pPr>
            <a:r>
              <a:rPr lang="en-US" sz="1600" b="1" dirty="0">
                <a:solidFill>
                  <a:srgbClr val="F7F5EF"/>
                </a:solidFill>
                <a:latin typeface="Calibri" pitchFamily="34" charset="0"/>
                <a:ea typeface="Calibri" pitchFamily="34" charset="-122"/>
                <a:cs typeface="Calibri" pitchFamily="34" charset="-120"/>
              </a:rPr>
              <a:t>[Month, Year]</a:t>
            </a:r>
            <a:endParaRPr lang="en-US" sz="1600" dirty="0"/>
          </a:p>
        </p:txBody>
      </p:sp>
      <p:sp>
        <p:nvSpPr>
          <p:cNvPr id="16" name="Text 0"/>
          <p:cNvSpPr/>
          <p:nvPr>
            <p:ph idx="100" type="title" hasCustomPrompt="1"/>
          </p:nvPr>
        </p:nvSpPr>
        <p:spPr>
          <a:xfrm>
            <a:off x="548640" y="658368"/>
            <a:ext cx="11094415" cy="685800"/>
          </a:xfrm>
          <a:prstGeom prst="rect">
            <a:avLst/>
          </a:prstGeom>
          <a:noFill/>
          <a:ln/>
        </p:spPr>
        <p:txBody>
          <a:bodyPr wrap="square" lIns="0" tIns="0" rIns="0" bIns="0" rtlCol="0" anchor="t"/>
          <a:lstStyle/>
          <a:p>
            <a:pPr algn="l" indent="0" marL="0">
              <a:buNone/>
            </a:pPr>
            <a:endParaRPr lang="en-US" sz="3400" dirty="0"/>
          </a:p>
        </p:txBody>
      </p:sp>
      <p:sp>
        <p:nvSpPr>
          <p:cNvPr id="25" name="Slide Number Placeholder 0"/>
          <p:cNvSpPr>
            <a:spLocks noGrp="1"/>
          </p:cNvSpPr>
          <p:nvPr>
            <p:ph type="sldNum" sz="quarter" idx="4294967295"/>
          </p:nvPr>
        </p:nvSpPr>
        <p:spPr>
          <a:xfrm>
            <a:off x="10972800" y="6309360"/>
            <a:ext cx="670255"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A6C2"/>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200" b="1" spc="300" kern="0" dirty="0">
                <a:solidFill>
                  <a:srgbClr val="8A5F00"/>
                </a:solidFill>
                <a:latin typeface="Calibri" pitchFamily="34" charset="0"/>
                <a:ea typeface="Calibri" pitchFamily="34" charset="-122"/>
                <a:cs typeface="Calibri" pitchFamily="34" charset="-120"/>
              </a:rPr>
              <a:t>OUTLINE</a:t>
            </a:r>
            <a:endParaRPr lang="en-US" sz="12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t"/>
          <a:lstStyle/>
          <a:p>
            <a:pPr algn="l" indent="0" marL="0">
              <a:buNone/>
            </a:pPr>
            <a:r>
              <a:rPr lang="en-US" sz="3400" b="1" dirty="0">
                <a:solidFill>
                  <a:srgbClr val="13203F"/>
                </a:solidFill>
                <a:latin typeface="Calibri" pitchFamily="34" charset="0"/>
                <a:ea typeface="Calibri" pitchFamily="34" charset="-122"/>
                <a:cs typeface="Calibri" pitchFamily="34" charset="-120"/>
              </a:rPr>
              <a:t>Presentation Outline</a:t>
            </a:r>
            <a:endParaRPr lang="en-US" sz="3400" dirty="0"/>
          </a:p>
        </p:txBody>
      </p:sp>
      <p:sp>
        <p:nvSpPr>
          <p:cNvPr id="4" name="Text 2"/>
          <p:cNvSpPr txBox="1"/>
          <p:nvPr/>
        </p:nvSpPr>
        <p:spPr>
          <a:xfrm>
            <a:off x="548640" y="6309360"/>
            <a:ext cx="8229600" cy="2743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Beeciye · Second-Hand Market Platform</a:t>
            </a:r>
            <a:endParaRPr lang="en-US" sz="1100" dirty="0"/>
          </a:p>
        </p:txBody>
      </p:sp>
      <p:sp>
        <p:nvSpPr>
          <p:cNvPr id="5" name="Shape 3"/>
          <p:cNvSpPr/>
          <p:nvPr/>
        </p:nvSpPr>
        <p:spPr>
          <a:xfrm>
            <a:off x="548640" y="1737360"/>
            <a:ext cx="2567864" cy="1828800"/>
          </a:xfrm>
          <a:prstGeom prst="roundRect">
            <a:avLst>
              <a:gd name="adj" fmla="val 6000"/>
            </a:avLst>
          </a:prstGeom>
          <a:solidFill>
            <a:srgbClr val="FFFDF8"/>
          </a:solidFill>
          <a:ln w="9525">
            <a:solidFill>
              <a:srgbClr val="E4DFD2"/>
            </a:solidFill>
            <a:prstDash val="solid"/>
          </a:ln>
        </p:spPr>
      </p:sp>
      <p:sp>
        <p:nvSpPr>
          <p:cNvPr id="6" name="Text 4"/>
          <p:cNvSpPr txBox="1"/>
          <p:nvPr/>
        </p:nvSpPr>
        <p:spPr>
          <a:xfrm>
            <a:off x="822960" y="2011680"/>
            <a:ext cx="1371600" cy="502920"/>
          </a:xfrm>
          <a:prstGeom prst="rect">
            <a:avLst/>
          </a:prstGeom>
          <a:noFill/>
          <a:ln/>
        </p:spPr>
        <p:txBody>
          <a:bodyPr wrap="square" lIns="0" tIns="0" rIns="0" bIns="0" rtlCol="0" anchor="t"/>
          <a:lstStyle/>
          <a:p>
            <a:pPr indent="0" marL="0">
              <a:buNone/>
            </a:pPr>
            <a:r>
              <a:rPr lang="en-US" sz="2600" b="1" dirty="0">
                <a:solidFill>
                  <a:srgbClr val="C48A00"/>
                </a:solidFill>
                <a:latin typeface="Calibri" pitchFamily="34" charset="0"/>
                <a:ea typeface="Calibri" pitchFamily="34" charset="-122"/>
                <a:cs typeface="Calibri" pitchFamily="34" charset="-120"/>
              </a:rPr>
              <a:t>01</a:t>
            </a:r>
            <a:endParaRPr lang="en-US" sz="2600" dirty="0"/>
          </a:p>
        </p:txBody>
      </p:sp>
      <p:sp>
        <p:nvSpPr>
          <p:cNvPr id="7" name="Text 5"/>
          <p:cNvSpPr txBox="1"/>
          <p:nvPr/>
        </p:nvSpPr>
        <p:spPr>
          <a:xfrm>
            <a:off x="822960" y="2606040"/>
            <a:ext cx="2019224" cy="777240"/>
          </a:xfrm>
          <a:prstGeom prst="rect">
            <a:avLst/>
          </a:prstGeom>
          <a:noFill/>
          <a:ln/>
        </p:spPr>
        <p:txBody>
          <a:bodyPr wrap="square" lIns="0" tIns="0" rIns="0" bIns="0" rtlCol="0" anchor="t"/>
          <a:lstStyle/>
          <a:p>
            <a:pPr indent="0" marL="0">
              <a:buNone/>
            </a:pPr>
            <a:r>
              <a:rPr lang="en-US" sz="1700" b="1" dirty="0">
                <a:solidFill>
                  <a:srgbClr val="13203F"/>
                </a:solidFill>
                <a:latin typeface="Calibri" pitchFamily="34" charset="0"/>
                <a:ea typeface="Calibri" pitchFamily="34" charset="-122"/>
                <a:cs typeface="Calibri" pitchFamily="34" charset="-120"/>
              </a:rPr>
              <a:t>Introduction &amp; Problem</a:t>
            </a:r>
            <a:endParaRPr lang="en-US" sz="1700" dirty="0"/>
          </a:p>
        </p:txBody>
      </p:sp>
      <p:sp>
        <p:nvSpPr>
          <p:cNvPr id="8" name="Shape 6"/>
          <p:cNvSpPr/>
          <p:nvPr/>
        </p:nvSpPr>
        <p:spPr>
          <a:xfrm>
            <a:off x="3390824" y="1737360"/>
            <a:ext cx="2567864" cy="1828800"/>
          </a:xfrm>
          <a:prstGeom prst="roundRect">
            <a:avLst>
              <a:gd name="adj" fmla="val 6000"/>
            </a:avLst>
          </a:prstGeom>
          <a:solidFill>
            <a:srgbClr val="FFFDF8"/>
          </a:solidFill>
          <a:ln w="9525">
            <a:solidFill>
              <a:srgbClr val="E4DFD2"/>
            </a:solidFill>
            <a:prstDash val="solid"/>
          </a:ln>
        </p:spPr>
      </p:sp>
      <p:sp>
        <p:nvSpPr>
          <p:cNvPr id="9" name="Text 7"/>
          <p:cNvSpPr txBox="1"/>
          <p:nvPr/>
        </p:nvSpPr>
        <p:spPr>
          <a:xfrm>
            <a:off x="3665144" y="2011680"/>
            <a:ext cx="1371600" cy="502920"/>
          </a:xfrm>
          <a:prstGeom prst="rect">
            <a:avLst/>
          </a:prstGeom>
          <a:noFill/>
          <a:ln/>
        </p:spPr>
        <p:txBody>
          <a:bodyPr wrap="square" lIns="0" tIns="0" rIns="0" bIns="0" rtlCol="0" anchor="t"/>
          <a:lstStyle/>
          <a:p>
            <a:pPr indent="0" marL="0">
              <a:buNone/>
            </a:pPr>
            <a:r>
              <a:rPr lang="en-US" sz="2600" b="1" dirty="0">
                <a:solidFill>
                  <a:srgbClr val="C48A00"/>
                </a:solidFill>
                <a:latin typeface="Calibri" pitchFamily="34" charset="0"/>
                <a:ea typeface="Calibri" pitchFamily="34" charset="-122"/>
                <a:cs typeface="Calibri" pitchFamily="34" charset="-120"/>
              </a:rPr>
              <a:t>02</a:t>
            </a:r>
            <a:endParaRPr lang="en-US" sz="2600" dirty="0"/>
          </a:p>
        </p:txBody>
      </p:sp>
      <p:sp>
        <p:nvSpPr>
          <p:cNvPr id="10" name="Text 8"/>
          <p:cNvSpPr txBox="1"/>
          <p:nvPr/>
        </p:nvSpPr>
        <p:spPr>
          <a:xfrm>
            <a:off x="3665144" y="2606040"/>
            <a:ext cx="2019224" cy="777240"/>
          </a:xfrm>
          <a:prstGeom prst="rect">
            <a:avLst/>
          </a:prstGeom>
          <a:noFill/>
          <a:ln/>
        </p:spPr>
        <p:txBody>
          <a:bodyPr wrap="square" lIns="0" tIns="0" rIns="0" bIns="0" rtlCol="0" anchor="t"/>
          <a:lstStyle/>
          <a:p>
            <a:pPr indent="0" marL="0">
              <a:buNone/>
            </a:pPr>
            <a:r>
              <a:rPr lang="en-US" sz="1700" b="1" dirty="0">
                <a:solidFill>
                  <a:srgbClr val="13203F"/>
                </a:solidFill>
                <a:latin typeface="Calibri" pitchFamily="34" charset="0"/>
                <a:ea typeface="Calibri" pitchFamily="34" charset="-122"/>
                <a:cs typeface="Calibri" pitchFamily="34" charset="-120"/>
              </a:rPr>
              <a:t>Objectives</a:t>
            </a:r>
            <a:endParaRPr lang="en-US" sz="1700" dirty="0"/>
          </a:p>
        </p:txBody>
      </p:sp>
      <p:sp>
        <p:nvSpPr>
          <p:cNvPr id="11" name="Shape 9"/>
          <p:cNvSpPr/>
          <p:nvPr/>
        </p:nvSpPr>
        <p:spPr>
          <a:xfrm>
            <a:off x="6233008" y="1737360"/>
            <a:ext cx="2567864" cy="1828800"/>
          </a:xfrm>
          <a:prstGeom prst="roundRect">
            <a:avLst>
              <a:gd name="adj" fmla="val 6000"/>
            </a:avLst>
          </a:prstGeom>
          <a:solidFill>
            <a:srgbClr val="FFFDF8"/>
          </a:solidFill>
          <a:ln w="9525">
            <a:solidFill>
              <a:srgbClr val="E4DFD2"/>
            </a:solidFill>
            <a:prstDash val="solid"/>
          </a:ln>
        </p:spPr>
      </p:sp>
      <p:sp>
        <p:nvSpPr>
          <p:cNvPr id="12" name="Text 10"/>
          <p:cNvSpPr txBox="1"/>
          <p:nvPr/>
        </p:nvSpPr>
        <p:spPr>
          <a:xfrm>
            <a:off x="6507328" y="2011680"/>
            <a:ext cx="1371600" cy="502920"/>
          </a:xfrm>
          <a:prstGeom prst="rect">
            <a:avLst/>
          </a:prstGeom>
          <a:noFill/>
          <a:ln/>
        </p:spPr>
        <p:txBody>
          <a:bodyPr wrap="square" lIns="0" tIns="0" rIns="0" bIns="0" rtlCol="0" anchor="t"/>
          <a:lstStyle/>
          <a:p>
            <a:pPr indent="0" marL="0">
              <a:buNone/>
            </a:pPr>
            <a:r>
              <a:rPr lang="en-US" sz="2600" b="1" dirty="0">
                <a:solidFill>
                  <a:srgbClr val="C48A00"/>
                </a:solidFill>
                <a:latin typeface="Calibri" pitchFamily="34" charset="0"/>
                <a:ea typeface="Calibri" pitchFamily="34" charset="-122"/>
                <a:cs typeface="Calibri" pitchFamily="34" charset="-120"/>
              </a:rPr>
              <a:t>03</a:t>
            </a:r>
            <a:endParaRPr lang="en-US" sz="2600" dirty="0"/>
          </a:p>
        </p:txBody>
      </p:sp>
      <p:sp>
        <p:nvSpPr>
          <p:cNvPr id="13" name="Text 11"/>
          <p:cNvSpPr txBox="1"/>
          <p:nvPr/>
        </p:nvSpPr>
        <p:spPr>
          <a:xfrm>
            <a:off x="6507328" y="2606040"/>
            <a:ext cx="2019224" cy="777240"/>
          </a:xfrm>
          <a:prstGeom prst="rect">
            <a:avLst/>
          </a:prstGeom>
          <a:noFill/>
          <a:ln/>
        </p:spPr>
        <p:txBody>
          <a:bodyPr wrap="square" lIns="0" tIns="0" rIns="0" bIns="0" rtlCol="0" anchor="t"/>
          <a:lstStyle/>
          <a:p>
            <a:pPr indent="0" marL="0">
              <a:buNone/>
            </a:pPr>
            <a:r>
              <a:rPr lang="en-US" sz="1700" b="1" dirty="0">
                <a:solidFill>
                  <a:srgbClr val="13203F"/>
                </a:solidFill>
                <a:latin typeface="Calibri" pitchFamily="34" charset="0"/>
                <a:ea typeface="Calibri" pitchFamily="34" charset="-122"/>
                <a:cs typeface="Calibri" pitchFamily="34" charset="-120"/>
              </a:rPr>
              <a:t>Literature Review</a:t>
            </a:r>
            <a:endParaRPr lang="en-US" sz="1700" dirty="0"/>
          </a:p>
        </p:txBody>
      </p:sp>
      <p:sp>
        <p:nvSpPr>
          <p:cNvPr id="14" name="Shape 12"/>
          <p:cNvSpPr/>
          <p:nvPr/>
        </p:nvSpPr>
        <p:spPr>
          <a:xfrm>
            <a:off x="9075191" y="1737360"/>
            <a:ext cx="2567864" cy="1828800"/>
          </a:xfrm>
          <a:prstGeom prst="roundRect">
            <a:avLst>
              <a:gd name="adj" fmla="val 6000"/>
            </a:avLst>
          </a:prstGeom>
          <a:solidFill>
            <a:srgbClr val="FFFDF8"/>
          </a:solidFill>
          <a:ln w="9525">
            <a:solidFill>
              <a:srgbClr val="E4DFD2"/>
            </a:solidFill>
            <a:prstDash val="solid"/>
          </a:ln>
        </p:spPr>
      </p:sp>
      <p:sp>
        <p:nvSpPr>
          <p:cNvPr id="15" name="Text 13"/>
          <p:cNvSpPr txBox="1"/>
          <p:nvPr/>
        </p:nvSpPr>
        <p:spPr>
          <a:xfrm>
            <a:off x="9349511" y="2011680"/>
            <a:ext cx="1371600" cy="502920"/>
          </a:xfrm>
          <a:prstGeom prst="rect">
            <a:avLst/>
          </a:prstGeom>
          <a:noFill/>
          <a:ln/>
        </p:spPr>
        <p:txBody>
          <a:bodyPr wrap="square" lIns="0" tIns="0" rIns="0" bIns="0" rtlCol="0" anchor="t"/>
          <a:lstStyle/>
          <a:p>
            <a:pPr indent="0" marL="0">
              <a:buNone/>
            </a:pPr>
            <a:r>
              <a:rPr lang="en-US" sz="2600" b="1" dirty="0">
                <a:solidFill>
                  <a:srgbClr val="C48A00"/>
                </a:solidFill>
                <a:latin typeface="Calibri" pitchFamily="34" charset="0"/>
                <a:ea typeface="Calibri" pitchFamily="34" charset="-122"/>
                <a:cs typeface="Calibri" pitchFamily="34" charset="-120"/>
              </a:rPr>
              <a:t>04</a:t>
            </a:r>
            <a:endParaRPr lang="en-US" sz="2600" dirty="0"/>
          </a:p>
        </p:txBody>
      </p:sp>
      <p:sp>
        <p:nvSpPr>
          <p:cNvPr id="16" name="Text 14"/>
          <p:cNvSpPr txBox="1"/>
          <p:nvPr/>
        </p:nvSpPr>
        <p:spPr>
          <a:xfrm>
            <a:off x="9349511" y="2606040"/>
            <a:ext cx="2019224" cy="777240"/>
          </a:xfrm>
          <a:prstGeom prst="rect">
            <a:avLst/>
          </a:prstGeom>
          <a:noFill/>
          <a:ln/>
        </p:spPr>
        <p:txBody>
          <a:bodyPr wrap="square" lIns="0" tIns="0" rIns="0" bIns="0" rtlCol="0" anchor="t"/>
          <a:lstStyle/>
          <a:p>
            <a:pPr indent="0" marL="0">
              <a:buNone/>
            </a:pPr>
            <a:r>
              <a:rPr lang="en-US" sz="1700" b="1" dirty="0">
                <a:solidFill>
                  <a:srgbClr val="13203F"/>
                </a:solidFill>
                <a:latin typeface="Calibri" pitchFamily="34" charset="0"/>
                <a:ea typeface="Calibri" pitchFamily="34" charset="-122"/>
                <a:cs typeface="Calibri" pitchFamily="34" charset="-120"/>
              </a:rPr>
              <a:t>Methodology &amp; Tools</a:t>
            </a:r>
            <a:endParaRPr lang="en-US" sz="1700" dirty="0"/>
          </a:p>
        </p:txBody>
      </p:sp>
      <p:sp>
        <p:nvSpPr>
          <p:cNvPr id="17" name="Shape 15"/>
          <p:cNvSpPr/>
          <p:nvPr/>
        </p:nvSpPr>
        <p:spPr>
          <a:xfrm>
            <a:off x="548640" y="3840480"/>
            <a:ext cx="2567864" cy="1828800"/>
          </a:xfrm>
          <a:prstGeom prst="roundRect">
            <a:avLst>
              <a:gd name="adj" fmla="val 6000"/>
            </a:avLst>
          </a:prstGeom>
          <a:solidFill>
            <a:srgbClr val="FFFDF8"/>
          </a:solidFill>
          <a:ln w="9525">
            <a:solidFill>
              <a:srgbClr val="E4DFD2"/>
            </a:solidFill>
            <a:prstDash val="solid"/>
          </a:ln>
        </p:spPr>
      </p:sp>
      <p:sp>
        <p:nvSpPr>
          <p:cNvPr id="18" name="Text 16"/>
          <p:cNvSpPr txBox="1"/>
          <p:nvPr/>
        </p:nvSpPr>
        <p:spPr>
          <a:xfrm>
            <a:off x="822960" y="4114800"/>
            <a:ext cx="1371600" cy="502920"/>
          </a:xfrm>
          <a:prstGeom prst="rect">
            <a:avLst/>
          </a:prstGeom>
          <a:noFill/>
          <a:ln/>
        </p:spPr>
        <p:txBody>
          <a:bodyPr wrap="square" lIns="0" tIns="0" rIns="0" bIns="0" rtlCol="0" anchor="t"/>
          <a:lstStyle/>
          <a:p>
            <a:pPr indent="0" marL="0">
              <a:buNone/>
            </a:pPr>
            <a:r>
              <a:rPr lang="en-US" sz="2600" b="1" dirty="0">
                <a:solidFill>
                  <a:srgbClr val="C48A00"/>
                </a:solidFill>
                <a:latin typeface="Calibri" pitchFamily="34" charset="0"/>
                <a:ea typeface="Calibri" pitchFamily="34" charset="-122"/>
                <a:cs typeface="Calibri" pitchFamily="34" charset="-120"/>
              </a:rPr>
              <a:t>05</a:t>
            </a:r>
            <a:endParaRPr lang="en-US" sz="2600" dirty="0"/>
          </a:p>
        </p:txBody>
      </p:sp>
      <p:sp>
        <p:nvSpPr>
          <p:cNvPr id="19" name="Text 17"/>
          <p:cNvSpPr txBox="1"/>
          <p:nvPr/>
        </p:nvSpPr>
        <p:spPr>
          <a:xfrm>
            <a:off x="822960" y="4709160"/>
            <a:ext cx="2019224" cy="777240"/>
          </a:xfrm>
          <a:prstGeom prst="rect">
            <a:avLst/>
          </a:prstGeom>
          <a:noFill/>
          <a:ln/>
        </p:spPr>
        <p:txBody>
          <a:bodyPr wrap="square" lIns="0" tIns="0" rIns="0" bIns="0" rtlCol="0" anchor="t"/>
          <a:lstStyle/>
          <a:p>
            <a:pPr indent="0" marL="0">
              <a:buNone/>
            </a:pPr>
            <a:r>
              <a:rPr lang="en-US" sz="1700" b="1" dirty="0">
                <a:solidFill>
                  <a:srgbClr val="13203F"/>
                </a:solidFill>
                <a:latin typeface="Calibri" pitchFamily="34" charset="0"/>
                <a:ea typeface="Calibri" pitchFamily="34" charset="-122"/>
                <a:cs typeface="Calibri" pitchFamily="34" charset="-120"/>
              </a:rPr>
              <a:t>System Design</a:t>
            </a:r>
            <a:endParaRPr lang="en-US" sz="1700" dirty="0"/>
          </a:p>
        </p:txBody>
      </p:sp>
      <p:sp>
        <p:nvSpPr>
          <p:cNvPr id="20" name="Shape 18"/>
          <p:cNvSpPr/>
          <p:nvPr/>
        </p:nvSpPr>
        <p:spPr>
          <a:xfrm>
            <a:off x="3390824" y="3840480"/>
            <a:ext cx="2567864" cy="1828800"/>
          </a:xfrm>
          <a:prstGeom prst="roundRect">
            <a:avLst>
              <a:gd name="adj" fmla="val 6000"/>
            </a:avLst>
          </a:prstGeom>
          <a:solidFill>
            <a:srgbClr val="FFFDF8"/>
          </a:solidFill>
          <a:ln w="9525">
            <a:solidFill>
              <a:srgbClr val="E4DFD2"/>
            </a:solidFill>
            <a:prstDash val="solid"/>
          </a:ln>
        </p:spPr>
      </p:sp>
      <p:sp>
        <p:nvSpPr>
          <p:cNvPr id="21" name="Text 19"/>
          <p:cNvSpPr txBox="1"/>
          <p:nvPr/>
        </p:nvSpPr>
        <p:spPr>
          <a:xfrm>
            <a:off x="3665144" y="4114800"/>
            <a:ext cx="1371600" cy="502920"/>
          </a:xfrm>
          <a:prstGeom prst="rect">
            <a:avLst/>
          </a:prstGeom>
          <a:noFill/>
          <a:ln/>
        </p:spPr>
        <p:txBody>
          <a:bodyPr wrap="square" lIns="0" tIns="0" rIns="0" bIns="0" rtlCol="0" anchor="t"/>
          <a:lstStyle/>
          <a:p>
            <a:pPr indent="0" marL="0">
              <a:buNone/>
            </a:pPr>
            <a:r>
              <a:rPr lang="en-US" sz="2600" b="1" dirty="0">
                <a:solidFill>
                  <a:srgbClr val="C48A00"/>
                </a:solidFill>
                <a:latin typeface="Calibri" pitchFamily="34" charset="0"/>
                <a:ea typeface="Calibri" pitchFamily="34" charset="-122"/>
                <a:cs typeface="Calibri" pitchFamily="34" charset="-120"/>
              </a:rPr>
              <a:t>06</a:t>
            </a:r>
            <a:endParaRPr lang="en-US" sz="2600" dirty="0"/>
          </a:p>
        </p:txBody>
      </p:sp>
      <p:sp>
        <p:nvSpPr>
          <p:cNvPr id="22" name="Text 20"/>
          <p:cNvSpPr txBox="1"/>
          <p:nvPr/>
        </p:nvSpPr>
        <p:spPr>
          <a:xfrm>
            <a:off x="3665144" y="4709160"/>
            <a:ext cx="2019224" cy="777240"/>
          </a:xfrm>
          <a:prstGeom prst="rect">
            <a:avLst/>
          </a:prstGeom>
          <a:noFill/>
          <a:ln/>
        </p:spPr>
        <p:txBody>
          <a:bodyPr wrap="square" lIns="0" tIns="0" rIns="0" bIns="0" rtlCol="0" anchor="t"/>
          <a:lstStyle/>
          <a:p>
            <a:pPr indent="0" marL="0">
              <a:buNone/>
            </a:pPr>
            <a:r>
              <a:rPr lang="en-US" sz="1700" b="1" dirty="0">
                <a:solidFill>
                  <a:srgbClr val="13203F"/>
                </a:solidFill>
                <a:latin typeface="Calibri" pitchFamily="34" charset="0"/>
                <a:ea typeface="Calibri" pitchFamily="34" charset="-122"/>
                <a:cs typeface="Calibri" pitchFamily="34" charset="-120"/>
              </a:rPr>
              <a:t>Implementation &amp; Testing</a:t>
            </a:r>
            <a:endParaRPr lang="en-US" sz="1700" dirty="0"/>
          </a:p>
        </p:txBody>
      </p:sp>
      <p:sp>
        <p:nvSpPr>
          <p:cNvPr id="23" name="Shape 21"/>
          <p:cNvSpPr/>
          <p:nvPr/>
        </p:nvSpPr>
        <p:spPr>
          <a:xfrm>
            <a:off x="6233008" y="3840480"/>
            <a:ext cx="2567864" cy="1828800"/>
          </a:xfrm>
          <a:prstGeom prst="roundRect">
            <a:avLst>
              <a:gd name="adj" fmla="val 6000"/>
            </a:avLst>
          </a:prstGeom>
          <a:solidFill>
            <a:srgbClr val="FFFDF8"/>
          </a:solidFill>
          <a:ln w="9525">
            <a:solidFill>
              <a:srgbClr val="E4DFD2"/>
            </a:solidFill>
            <a:prstDash val="solid"/>
          </a:ln>
        </p:spPr>
      </p:sp>
      <p:sp>
        <p:nvSpPr>
          <p:cNvPr id="24" name="Text 22"/>
          <p:cNvSpPr txBox="1"/>
          <p:nvPr/>
        </p:nvSpPr>
        <p:spPr>
          <a:xfrm>
            <a:off x="6507328" y="4114800"/>
            <a:ext cx="1371600" cy="502920"/>
          </a:xfrm>
          <a:prstGeom prst="rect">
            <a:avLst/>
          </a:prstGeom>
          <a:noFill/>
          <a:ln/>
        </p:spPr>
        <p:txBody>
          <a:bodyPr wrap="square" lIns="0" tIns="0" rIns="0" bIns="0" rtlCol="0" anchor="t"/>
          <a:lstStyle/>
          <a:p>
            <a:pPr indent="0" marL="0">
              <a:buNone/>
            </a:pPr>
            <a:r>
              <a:rPr lang="en-US" sz="2600" b="1" dirty="0">
                <a:solidFill>
                  <a:srgbClr val="C48A00"/>
                </a:solidFill>
                <a:latin typeface="Calibri" pitchFamily="34" charset="0"/>
                <a:ea typeface="Calibri" pitchFamily="34" charset="-122"/>
                <a:cs typeface="Calibri" pitchFamily="34" charset="-120"/>
              </a:rPr>
              <a:t>07</a:t>
            </a:r>
            <a:endParaRPr lang="en-US" sz="2600" dirty="0"/>
          </a:p>
        </p:txBody>
      </p:sp>
      <p:sp>
        <p:nvSpPr>
          <p:cNvPr id="25" name="Text 23"/>
          <p:cNvSpPr txBox="1"/>
          <p:nvPr/>
        </p:nvSpPr>
        <p:spPr>
          <a:xfrm>
            <a:off x="6507328" y="4709160"/>
            <a:ext cx="2019224" cy="777240"/>
          </a:xfrm>
          <a:prstGeom prst="rect">
            <a:avLst/>
          </a:prstGeom>
          <a:noFill/>
          <a:ln/>
        </p:spPr>
        <p:txBody>
          <a:bodyPr wrap="square" lIns="0" tIns="0" rIns="0" bIns="0" rtlCol="0" anchor="t"/>
          <a:lstStyle/>
          <a:p>
            <a:pPr indent="0" marL="0">
              <a:buNone/>
            </a:pPr>
            <a:r>
              <a:rPr lang="en-US" sz="1700" b="1" dirty="0">
                <a:solidFill>
                  <a:srgbClr val="13203F"/>
                </a:solidFill>
                <a:latin typeface="Calibri" pitchFamily="34" charset="0"/>
                <a:ea typeface="Calibri" pitchFamily="34" charset="-122"/>
                <a:cs typeface="Calibri" pitchFamily="34" charset="-120"/>
              </a:rPr>
              <a:t>Conclusion</a:t>
            </a:r>
            <a:endParaRPr lang="en-US" sz="1700" dirty="0"/>
          </a:p>
        </p:txBody>
      </p:sp>
      <p:sp>
        <p:nvSpPr>
          <p:cNvPr id="26" name="Shape 24"/>
          <p:cNvSpPr/>
          <p:nvPr/>
        </p:nvSpPr>
        <p:spPr>
          <a:xfrm>
            <a:off x="9075191" y="3840480"/>
            <a:ext cx="2567864" cy="1828800"/>
          </a:xfrm>
          <a:prstGeom prst="roundRect">
            <a:avLst>
              <a:gd name="adj" fmla="val 6000"/>
            </a:avLst>
          </a:prstGeom>
          <a:solidFill>
            <a:srgbClr val="13203F"/>
          </a:solidFill>
          <a:ln w="9525">
            <a:solidFill>
              <a:srgbClr val="13203F"/>
            </a:solidFill>
            <a:prstDash val="solid"/>
          </a:ln>
        </p:spPr>
      </p:sp>
      <p:sp>
        <p:nvSpPr>
          <p:cNvPr id="27" name="Text 25"/>
          <p:cNvSpPr txBox="1"/>
          <p:nvPr/>
        </p:nvSpPr>
        <p:spPr>
          <a:xfrm>
            <a:off x="9349511" y="4114800"/>
            <a:ext cx="1371600" cy="502920"/>
          </a:xfrm>
          <a:prstGeom prst="rect">
            <a:avLst/>
          </a:prstGeom>
          <a:noFill/>
          <a:ln/>
        </p:spPr>
        <p:txBody>
          <a:bodyPr wrap="square" lIns="0" tIns="0" rIns="0" bIns="0" rtlCol="0" anchor="t"/>
          <a:lstStyle/>
          <a:p>
            <a:pPr indent="0" marL="0">
              <a:buNone/>
            </a:pPr>
            <a:r>
              <a:rPr lang="en-US" sz="2600" b="1" dirty="0">
                <a:solidFill>
                  <a:srgbClr val="F2B51C"/>
                </a:solidFill>
                <a:latin typeface="Calibri" pitchFamily="34" charset="0"/>
                <a:ea typeface="Calibri" pitchFamily="34" charset="-122"/>
                <a:cs typeface="Calibri" pitchFamily="34" charset="-120"/>
              </a:rPr>
              <a:t>08</a:t>
            </a:r>
            <a:endParaRPr lang="en-US" sz="2600" dirty="0"/>
          </a:p>
        </p:txBody>
      </p:sp>
      <p:sp>
        <p:nvSpPr>
          <p:cNvPr id="28" name="Text 26"/>
          <p:cNvSpPr txBox="1"/>
          <p:nvPr/>
        </p:nvSpPr>
        <p:spPr>
          <a:xfrm>
            <a:off x="9349511" y="4709160"/>
            <a:ext cx="2019224" cy="777240"/>
          </a:xfrm>
          <a:prstGeom prst="rect">
            <a:avLst/>
          </a:prstGeom>
          <a:noFill/>
          <a:ln/>
        </p:spPr>
        <p:txBody>
          <a:bodyPr wrap="square" lIns="0" tIns="0" rIns="0" bIns="0" rtlCol="0" anchor="t"/>
          <a:lstStyle/>
          <a:p>
            <a:pPr indent="0" marL="0">
              <a:buNone/>
            </a:pPr>
            <a:r>
              <a:rPr lang="en-US" sz="1700" b="1" dirty="0">
                <a:solidFill>
                  <a:srgbClr val="F7F5EF"/>
                </a:solidFill>
                <a:latin typeface="Calibri" pitchFamily="34" charset="0"/>
                <a:ea typeface="Calibri" pitchFamily="34" charset="-122"/>
                <a:cs typeface="Calibri" pitchFamily="34" charset="-120"/>
              </a:rPr>
              <a:t>Questions</a:t>
            </a:r>
            <a:endParaRPr lang="en-US" sz="1700" dirty="0"/>
          </a:p>
        </p:txBody>
      </p:sp>
      <p:sp>
        <p:nvSpPr>
          <p:cNvPr id="25" name="Slide Number Placeholder 0"/>
          <p:cNvSpPr>
            <a:spLocks noGrp="1"/>
          </p:cNvSpPr>
          <p:nvPr>
            <p:ph type="sldNum" sz="quarter" idx="4294967295"/>
          </p:nvPr>
        </p:nvSpPr>
        <p:spPr>
          <a:xfrm>
            <a:off x="10972800" y="6309360"/>
            <a:ext cx="670255"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200" b="1" spc="300" kern="0" dirty="0">
                <a:solidFill>
                  <a:srgbClr val="8A5F00"/>
                </a:solidFill>
                <a:latin typeface="Calibri" pitchFamily="34" charset="0"/>
                <a:ea typeface="Calibri" pitchFamily="34" charset="-122"/>
                <a:cs typeface="Calibri" pitchFamily="34" charset="-120"/>
              </a:rPr>
              <a:t>INTRODUCTION</a:t>
            </a:r>
            <a:endParaRPr lang="en-US" sz="12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t"/>
          <a:lstStyle/>
          <a:p>
            <a:pPr algn="l" indent="0" marL="0">
              <a:buNone/>
            </a:pPr>
            <a:r>
              <a:rPr lang="en-US" sz="3400" b="1" dirty="0">
                <a:solidFill>
                  <a:srgbClr val="13203F"/>
                </a:solidFill>
                <a:latin typeface="Calibri" pitchFamily="34" charset="0"/>
                <a:ea typeface="Calibri" pitchFamily="34" charset="-122"/>
                <a:cs typeface="Calibri" pitchFamily="34" charset="-120"/>
              </a:rPr>
              <a:t>Background of the Study</a:t>
            </a:r>
            <a:endParaRPr lang="en-US" sz="3400" dirty="0"/>
          </a:p>
        </p:txBody>
      </p:sp>
      <p:sp>
        <p:nvSpPr>
          <p:cNvPr id="4" name="Text 2"/>
          <p:cNvSpPr txBox="1"/>
          <p:nvPr/>
        </p:nvSpPr>
        <p:spPr>
          <a:xfrm>
            <a:off x="548640" y="6309360"/>
            <a:ext cx="8229600" cy="2743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Beeciye · Second-Hand Market Platform</a:t>
            </a:r>
            <a:endParaRPr lang="en-US" sz="1100" dirty="0"/>
          </a:p>
        </p:txBody>
      </p:sp>
      <p:sp>
        <p:nvSpPr>
          <p:cNvPr id="5" name="Text 3"/>
          <p:cNvSpPr txBox="1"/>
          <p:nvPr/>
        </p:nvSpPr>
        <p:spPr>
          <a:xfrm>
            <a:off x="548640" y="1645920"/>
            <a:ext cx="10058400" cy="1280160"/>
          </a:xfrm>
          <a:prstGeom prst="rect">
            <a:avLst/>
          </a:prstGeom>
          <a:noFill/>
          <a:ln/>
        </p:spPr>
        <p:txBody>
          <a:bodyPr wrap="square" lIns="0" tIns="0" rIns="0" bIns="0" rtlCol="0" anchor="t"/>
          <a:lstStyle/>
          <a:p>
            <a:pPr indent="0" marL="0">
              <a:buNone/>
            </a:pPr>
            <a:r>
              <a:rPr lang="en-US" sz="2400" dirty="0">
                <a:solidFill>
                  <a:srgbClr val="13203F"/>
                </a:solidFill>
                <a:latin typeface="Calibri" pitchFamily="34" charset="0"/>
                <a:ea typeface="Calibri" pitchFamily="34" charset="-122"/>
                <a:cs typeface="Calibri" pitchFamily="34" charset="-120"/>
              </a:rPr>
              <a:t>In Garowe, second-hand phones, laptops, furniture and clothes are still traded through </a:t>
            </a:r>
            <a:pPr indent="0" marL="0">
              <a:buNone/>
            </a:pPr>
            <a:r>
              <a:rPr lang="en-US" sz="2400" b="1" dirty="0">
                <a:solidFill>
                  <a:srgbClr val="13203F"/>
                </a:solidFill>
                <a:latin typeface="Calibri" pitchFamily="34" charset="0"/>
                <a:ea typeface="Calibri" pitchFamily="34" charset="-122"/>
                <a:cs typeface="Calibri" pitchFamily="34" charset="-120"/>
              </a:rPr>
              <a:t>Facebook groups and word of mouth</a:t>
            </a:r>
            <a:pPr indent="0" marL="0">
              <a:buNone/>
            </a:pPr>
            <a:r>
              <a:rPr lang="en-US" sz="2400" dirty="0">
                <a:solidFill>
                  <a:srgbClr val="13203F"/>
                </a:solidFill>
                <a:latin typeface="Calibri" pitchFamily="34" charset="0"/>
                <a:ea typeface="Calibri" pitchFamily="34" charset="-122"/>
                <a:cs typeface="Calibri" pitchFamily="34" charset="-120"/>
              </a:rPr>
              <a:t>, not a dedicated platform.</a:t>
            </a:r>
            <a:endParaRPr lang="en-US" sz="2400" dirty="0"/>
          </a:p>
        </p:txBody>
      </p:sp>
      <p:sp>
        <p:nvSpPr>
          <p:cNvPr id="6" name="Shape 4"/>
          <p:cNvSpPr/>
          <p:nvPr/>
        </p:nvSpPr>
        <p:spPr>
          <a:xfrm>
            <a:off x="548640" y="3383280"/>
            <a:ext cx="3454298" cy="2468880"/>
          </a:xfrm>
          <a:prstGeom prst="roundRect">
            <a:avLst>
              <a:gd name="adj" fmla="val 4444"/>
            </a:avLst>
          </a:prstGeom>
          <a:solidFill>
            <a:srgbClr val="FFFDF8"/>
          </a:solidFill>
          <a:ln w="9525">
            <a:solidFill>
              <a:srgbClr val="E4DFD2"/>
            </a:solidFill>
            <a:prstDash val="solid"/>
          </a:ln>
        </p:spPr>
      </p:sp>
      <p:sp>
        <p:nvSpPr>
          <p:cNvPr id="7" name="Shape 5"/>
          <p:cNvSpPr/>
          <p:nvPr/>
        </p:nvSpPr>
        <p:spPr>
          <a:xfrm>
            <a:off x="822960" y="3611880"/>
            <a:ext cx="457200" cy="457200"/>
          </a:xfrm>
          <a:prstGeom prst="ellipse">
            <a:avLst/>
          </a:prstGeom>
          <a:solidFill>
            <a:srgbClr val="13203F"/>
          </a:solidFill>
          <a:ln/>
        </p:spPr>
      </p:sp>
      <p:sp>
        <p:nvSpPr>
          <p:cNvPr id="8" name="Text 6"/>
          <p:cNvSpPr txBox="1"/>
          <p:nvPr/>
        </p:nvSpPr>
        <p:spPr>
          <a:xfrm>
            <a:off x="822960" y="3611880"/>
            <a:ext cx="457200" cy="457200"/>
          </a:xfrm>
          <a:prstGeom prst="rect">
            <a:avLst/>
          </a:prstGeom>
          <a:noFill/>
          <a:ln/>
        </p:spPr>
        <p:txBody>
          <a:bodyPr wrap="square" lIns="0" tIns="0" rIns="0" bIns="0" rtlCol="0" anchor="ctr"/>
          <a:lstStyle/>
          <a:p>
            <a:pPr algn="ctr" indent="0" marL="0">
              <a:buNone/>
            </a:pPr>
            <a:r>
              <a:rPr lang="en-US" sz="1400" b="1" dirty="0">
                <a:solidFill>
                  <a:srgbClr val="F2B51C"/>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822960" y="4251960"/>
            <a:ext cx="2905658" cy="411480"/>
          </a:xfrm>
          <a:prstGeom prst="rect">
            <a:avLst/>
          </a:prstGeom>
          <a:noFill/>
          <a:ln/>
        </p:spPr>
        <p:txBody>
          <a:bodyPr wrap="square" lIns="0" tIns="0" rIns="0" bIns="0" rtlCol="0" anchor="t"/>
          <a:lstStyle/>
          <a:p>
            <a:pPr indent="0" marL="0">
              <a:buNone/>
            </a:pPr>
            <a:r>
              <a:rPr lang="en-US" sz="1900" b="1" dirty="0">
                <a:solidFill>
                  <a:srgbClr val="13203F"/>
                </a:solidFill>
                <a:latin typeface="Calibri" pitchFamily="34" charset="0"/>
                <a:ea typeface="Calibri" pitchFamily="34" charset="-122"/>
                <a:cs typeface="Calibri" pitchFamily="34" charset="-120"/>
              </a:rPr>
              <a:t>Growing re-commerce</a:t>
            </a:r>
            <a:endParaRPr lang="en-US" sz="1900" dirty="0"/>
          </a:p>
        </p:txBody>
      </p:sp>
      <p:sp>
        <p:nvSpPr>
          <p:cNvPr id="10" name="Text 8"/>
          <p:cNvSpPr txBox="1"/>
          <p:nvPr/>
        </p:nvSpPr>
        <p:spPr>
          <a:xfrm>
            <a:off x="822960" y="4709160"/>
            <a:ext cx="2905658" cy="1005840"/>
          </a:xfrm>
          <a:prstGeom prst="rect">
            <a:avLst/>
          </a:prstGeom>
          <a:noFill/>
          <a:ln/>
        </p:spPr>
        <p:txBody>
          <a:bodyPr wrap="square" lIns="0" tIns="0" rIns="0" bIns="0" rtlCol="0" anchor="t"/>
          <a:lstStyle/>
          <a:p>
            <a:pPr indent="0" marL="0">
              <a:buNone/>
            </a:pPr>
            <a:r>
              <a:rPr lang="en-US" sz="1400" dirty="0">
                <a:solidFill>
                  <a:srgbClr val="3A4560"/>
                </a:solidFill>
                <a:latin typeface="Calibri" pitchFamily="34" charset="0"/>
                <a:ea typeface="Calibri" pitchFamily="34" charset="-122"/>
                <a:cs typeface="Calibri" pitchFamily="34" charset="-120"/>
              </a:rPr>
              <a:t>Platforms like eBay and Mercari show that C2C marketplaces create value and extend product life.</a:t>
            </a:r>
            <a:endParaRPr lang="en-US" sz="1400" dirty="0"/>
          </a:p>
        </p:txBody>
      </p:sp>
      <p:sp>
        <p:nvSpPr>
          <p:cNvPr id="11" name="Shape 9"/>
          <p:cNvSpPr/>
          <p:nvPr/>
        </p:nvSpPr>
        <p:spPr>
          <a:xfrm>
            <a:off x="4368698" y="3383280"/>
            <a:ext cx="3454298" cy="2468880"/>
          </a:xfrm>
          <a:prstGeom prst="roundRect">
            <a:avLst>
              <a:gd name="adj" fmla="val 4444"/>
            </a:avLst>
          </a:prstGeom>
          <a:solidFill>
            <a:srgbClr val="FFFDF8"/>
          </a:solidFill>
          <a:ln w="9525">
            <a:solidFill>
              <a:srgbClr val="E4DFD2"/>
            </a:solidFill>
            <a:prstDash val="solid"/>
          </a:ln>
        </p:spPr>
      </p:sp>
      <p:sp>
        <p:nvSpPr>
          <p:cNvPr id="12" name="Shape 10"/>
          <p:cNvSpPr/>
          <p:nvPr/>
        </p:nvSpPr>
        <p:spPr>
          <a:xfrm>
            <a:off x="4643018" y="3611880"/>
            <a:ext cx="457200" cy="457200"/>
          </a:xfrm>
          <a:prstGeom prst="ellipse">
            <a:avLst/>
          </a:prstGeom>
          <a:solidFill>
            <a:srgbClr val="13203F"/>
          </a:solidFill>
          <a:ln/>
        </p:spPr>
      </p:sp>
      <p:sp>
        <p:nvSpPr>
          <p:cNvPr id="13" name="Text 11"/>
          <p:cNvSpPr txBox="1"/>
          <p:nvPr/>
        </p:nvSpPr>
        <p:spPr>
          <a:xfrm>
            <a:off x="4643018" y="3611880"/>
            <a:ext cx="457200" cy="457200"/>
          </a:xfrm>
          <a:prstGeom prst="rect">
            <a:avLst/>
          </a:prstGeom>
          <a:noFill/>
          <a:ln/>
        </p:spPr>
        <p:txBody>
          <a:bodyPr wrap="square" lIns="0" tIns="0" rIns="0" bIns="0" rtlCol="0" anchor="ctr"/>
          <a:lstStyle/>
          <a:p>
            <a:pPr algn="ctr" indent="0" marL="0">
              <a:buNone/>
            </a:pPr>
            <a:r>
              <a:rPr lang="en-US" sz="1400" b="1" dirty="0">
                <a:solidFill>
                  <a:srgbClr val="F2B51C"/>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4643018" y="4251960"/>
            <a:ext cx="2905658" cy="411480"/>
          </a:xfrm>
          <a:prstGeom prst="rect">
            <a:avLst/>
          </a:prstGeom>
          <a:noFill/>
          <a:ln/>
        </p:spPr>
        <p:txBody>
          <a:bodyPr wrap="square" lIns="0" tIns="0" rIns="0" bIns="0" rtlCol="0" anchor="t"/>
          <a:lstStyle/>
          <a:p>
            <a:pPr indent="0" marL="0">
              <a:buNone/>
            </a:pPr>
            <a:r>
              <a:rPr lang="en-US" sz="1900" b="1" dirty="0">
                <a:solidFill>
                  <a:srgbClr val="13203F"/>
                </a:solidFill>
                <a:latin typeface="Calibri" pitchFamily="34" charset="0"/>
                <a:ea typeface="Calibri" pitchFamily="34" charset="-122"/>
                <a:cs typeface="Calibri" pitchFamily="34" charset="-120"/>
              </a:rPr>
              <a:t>Informal local trade</a:t>
            </a:r>
            <a:endParaRPr lang="en-US" sz="1900" dirty="0"/>
          </a:p>
        </p:txBody>
      </p:sp>
      <p:sp>
        <p:nvSpPr>
          <p:cNvPr id="15" name="Text 13"/>
          <p:cNvSpPr txBox="1"/>
          <p:nvPr/>
        </p:nvSpPr>
        <p:spPr>
          <a:xfrm>
            <a:off x="4643018" y="4709160"/>
            <a:ext cx="2905658" cy="1005840"/>
          </a:xfrm>
          <a:prstGeom prst="rect">
            <a:avLst/>
          </a:prstGeom>
          <a:noFill/>
          <a:ln/>
        </p:spPr>
        <p:txBody>
          <a:bodyPr wrap="square" lIns="0" tIns="0" rIns="0" bIns="0" rtlCol="0" anchor="t"/>
          <a:lstStyle/>
          <a:p>
            <a:pPr indent="0" marL="0">
              <a:buNone/>
            </a:pPr>
            <a:r>
              <a:rPr lang="en-US" sz="1400" dirty="0">
                <a:solidFill>
                  <a:srgbClr val="3A4560"/>
                </a:solidFill>
                <a:latin typeface="Calibri" pitchFamily="34" charset="0"/>
                <a:ea typeface="Calibri" pitchFamily="34" charset="-122"/>
                <a:cs typeface="Calibri" pitchFamily="34" charset="-120"/>
              </a:rPr>
              <a:t>Local listings have no categories, no search and no record of what was ordered or paid.</a:t>
            </a:r>
            <a:endParaRPr lang="en-US" sz="1400" dirty="0"/>
          </a:p>
        </p:txBody>
      </p:sp>
      <p:sp>
        <p:nvSpPr>
          <p:cNvPr id="16" name="Shape 14"/>
          <p:cNvSpPr/>
          <p:nvPr/>
        </p:nvSpPr>
        <p:spPr>
          <a:xfrm>
            <a:off x="8188757" y="3383280"/>
            <a:ext cx="3454298" cy="2468880"/>
          </a:xfrm>
          <a:prstGeom prst="roundRect">
            <a:avLst>
              <a:gd name="adj" fmla="val 4444"/>
            </a:avLst>
          </a:prstGeom>
          <a:solidFill>
            <a:srgbClr val="FFFDF8"/>
          </a:solidFill>
          <a:ln w="9525">
            <a:solidFill>
              <a:srgbClr val="E4DFD2"/>
            </a:solidFill>
            <a:prstDash val="solid"/>
          </a:ln>
        </p:spPr>
      </p:sp>
      <p:sp>
        <p:nvSpPr>
          <p:cNvPr id="17" name="Shape 15"/>
          <p:cNvSpPr/>
          <p:nvPr/>
        </p:nvSpPr>
        <p:spPr>
          <a:xfrm>
            <a:off x="8463077" y="3611880"/>
            <a:ext cx="457200" cy="457200"/>
          </a:xfrm>
          <a:prstGeom prst="ellipse">
            <a:avLst/>
          </a:prstGeom>
          <a:solidFill>
            <a:srgbClr val="13203F"/>
          </a:solidFill>
          <a:ln/>
        </p:spPr>
      </p:sp>
      <p:sp>
        <p:nvSpPr>
          <p:cNvPr id="18" name="Text 16"/>
          <p:cNvSpPr txBox="1"/>
          <p:nvPr/>
        </p:nvSpPr>
        <p:spPr>
          <a:xfrm>
            <a:off x="8463077" y="3611880"/>
            <a:ext cx="457200" cy="457200"/>
          </a:xfrm>
          <a:prstGeom prst="rect">
            <a:avLst/>
          </a:prstGeom>
          <a:noFill/>
          <a:ln/>
        </p:spPr>
        <p:txBody>
          <a:bodyPr wrap="square" lIns="0" tIns="0" rIns="0" bIns="0" rtlCol="0" anchor="ctr"/>
          <a:lstStyle/>
          <a:p>
            <a:pPr algn="ctr" indent="0" marL="0">
              <a:buNone/>
            </a:pPr>
            <a:r>
              <a:rPr lang="en-US" sz="1400" b="1" dirty="0">
                <a:solidFill>
                  <a:srgbClr val="F2B51C"/>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8463077" y="4251960"/>
            <a:ext cx="2905658" cy="411480"/>
          </a:xfrm>
          <a:prstGeom prst="rect">
            <a:avLst/>
          </a:prstGeom>
          <a:noFill/>
          <a:ln/>
        </p:spPr>
        <p:txBody>
          <a:bodyPr wrap="square" lIns="0" tIns="0" rIns="0" bIns="0" rtlCol="0" anchor="t"/>
          <a:lstStyle/>
          <a:p>
            <a:pPr indent="0" marL="0">
              <a:buNone/>
            </a:pPr>
            <a:r>
              <a:rPr lang="en-US" sz="1900" b="1" dirty="0">
                <a:solidFill>
                  <a:srgbClr val="13203F"/>
                </a:solidFill>
                <a:latin typeface="Calibri" pitchFamily="34" charset="0"/>
                <a:ea typeface="Calibri" pitchFamily="34" charset="-122"/>
                <a:cs typeface="Calibri" pitchFamily="34" charset="-120"/>
              </a:rPr>
              <a:t>The opportunity</a:t>
            </a:r>
            <a:endParaRPr lang="en-US" sz="1900" dirty="0"/>
          </a:p>
        </p:txBody>
      </p:sp>
      <p:sp>
        <p:nvSpPr>
          <p:cNvPr id="20" name="Text 18"/>
          <p:cNvSpPr txBox="1"/>
          <p:nvPr/>
        </p:nvSpPr>
        <p:spPr>
          <a:xfrm>
            <a:off x="8463077" y="4709160"/>
            <a:ext cx="2905658" cy="1005840"/>
          </a:xfrm>
          <a:prstGeom prst="rect">
            <a:avLst/>
          </a:prstGeom>
          <a:noFill/>
          <a:ln/>
        </p:spPr>
        <p:txBody>
          <a:bodyPr wrap="square" lIns="0" tIns="0" rIns="0" bIns="0" rtlCol="0" anchor="t"/>
          <a:lstStyle/>
          <a:p>
            <a:pPr indent="0" marL="0">
              <a:buNone/>
            </a:pPr>
            <a:r>
              <a:rPr lang="en-US" sz="1400" dirty="0">
                <a:solidFill>
                  <a:srgbClr val="3A4560"/>
                </a:solidFill>
                <a:latin typeface="Calibri" pitchFamily="34" charset="0"/>
                <a:ea typeface="Calibri" pitchFamily="34" charset="-122"/>
                <a:cs typeface="Calibri" pitchFamily="34" charset="-120"/>
              </a:rPr>
              <a:t>A structured, simple web platform built for the local second-hand market.</a:t>
            </a:r>
            <a:endParaRPr lang="en-US" sz="1400" dirty="0"/>
          </a:p>
        </p:txBody>
      </p:sp>
      <p:sp>
        <p:nvSpPr>
          <p:cNvPr id="25" name="Slide Number Placeholder 0"/>
          <p:cNvSpPr>
            <a:spLocks noGrp="1"/>
          </p:cNvSpPr>
          <p:nvPr>
            <p:ph type="sldNum" sz="quarter" idx="4294967295"/>
          </p:nvPr>
        </p:nvSpPr>
        <p:spPr>
          <a:xfrm>
            <a:off x="10972800" y="6309360"/>
            <a:ext cx="670255"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200" b="1" spc="300" kern="0" dirty="0">
                <a:solidFill>
                  <a:srgbClr val="8A5F00"/>
                </a:solidFill>
                <a:latin typeface="Calibri" pitchFamily="34" charset="0"/>
                <a:ea typeface="Calibri" pitchFamily="34" charset="-122"/>
                <a:cs typeface="Calibri" pitchFamily="34" charset="-120"/>
              </a:rPr>
              <a:t>PROBLEM STATEMENT</a:t>
            </a:r>
            <a:endParaRPr lang="en-US" sz="12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t"/>
          <a:lstStyle/>
          <a:p>
            <a:pPr algn="l" indent="0" marL="0">
              <a:buNone/>
            </a:pPr>
            <a:r>
              <a:rPr lang="en-US" sz="3400" b="1" dirty="0">
                <a:solidFill>
                  <a:srgbClr val="13203F"/>
                </a:solidFill>
                <a:latin typeface="Calibri" pitchFamily="34" charset="0"/>
                <a:ea typeface="Calibri" pitchFamily="34" charset="-122"/>
                <a:cs typeface="Calibri" pitchFamily="34" charset="-120"/>
              </a:rPr>
              <a:t>Four Gaps in Informal Second-Hand Trading</a:t>
            </a:r>
            <a:endParaRPr lang="en-US" sz="3400" dirty="0"/>
          </a:p>
        </p:txBody>
      </p:sp>
      <p:sp>
        <p:nvSpPr>
          <p:cNvPr id="4" name="Text 2"/>
          <p:cNvSpPr txBox="1"/>
          <p:nvPr/>
        </p:nvSpPr>
        <p:spPr>
          <a:xfrm>
            <a:off x="548640" y="6309360"/>
            <a:ext cx="8229600" cy="2743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Beeciye · Second-Hand Market Platform</a:t>
            </a:r>
            <a:endParaRPr lang="en-US" sz="1100" dirty="0"/>
          </a:p>
        </p:txBody>
      </p:sp>
      <p:sp>
        <p:nvSpPr>
          <p:cNvPr id="5" name="Shape 3"/>
          <p:cNvSpPr/>
          <p:nvPr/>
        </p:nvSpPr>
        <p:spPr>
          <a:xfrm>
            <a:off x="548640" y="1737360"/>
            <a:ext cx="5410048" cy="1920240"/>
          </a:xfrm>
          <a:prstGeom prst="roundRect">
            <a:avLst>
              <a:gd name="adj" fmla="val 5714"/>
            </a:avLst>
          </a:prstGeom>
          <a:solidFill>
            <a:srgbClr val="FFFDF8"/>
          </a:solidFill>
          <a:ln w="9525">
            <a:solidFill>
              <a:srgbClr val="E4DFD2"/>
            </a:solidFill>
            <a:prstDash val="solid"/>
          </a:ln>
        </p:spPr>
      </p:sp>
      <p:sp>
        <p:nvSpPr>
          <p:cNvPr id="6" name="Shape 4"/>
          <p:cNvSpPr/>
          <p:nvPr/>
        </p:nvSpPr>
        <p:spPr>
          <a:xfrm>
            <a:off x="868680" y="2103120"/>
            <a:ext cx="548640" cy="548640"/>
          </a:xfrm>
          <a:prstGeom prst="ellipse">
            <a:avLst/>
          </a:prstGeom>
          <a:solidFill>
            <a:srgbClr val="13203F"/>
          </a:solidFill>
          <a:ln/>
        </p:spPr>
      </p:sp>
      <p:sp>
        <p:nvSpPr>
          <p:cNvPr id="7" name="Text 5"/>
          <p:cNvSpPr txBox="1"/>
          <p:nvPr/>
        </p:nvSpPr>
        <p:spPr>
          <a:xfrm>
            <a:off x="868680" y="2103120"/>
            <a:ext cx="548640" cy="548640"/>
          </a:xfrm>
          <a:prstGeom prst="rect">
            <a:avLst/>
          </a:prstGeom>
          <a:noFill/>
          <a:ln/>
        </p:spPr>
        <p:txBody>
          <a:bodyPr wrap="square" lIns="0" tIns="0" rIns="0" bIns="0" rtlCol="0" anchor="ctr"/>
          <a:lstStyle/>
          <a:p>
            <a:pPr algn="ctr" indent="0" marL="0">
              <a:buNone/>
            </a:pPr>
            <a:r>
              <a:rPr lang="en-US" sz="1400" b="1" dirty="0">
                <a:solidFill>
                  <a:srgbClr val="F2B51C"/>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691640" y="2103120"/>
            <a:ext cx="3947008" cy="411480"/>
          </a:xfrm>
          <a:prstGeom prst="rect">
            <a:avLst/>
          </a:prstGeom>
          <a:noFill/>
          <a:ln/>
        </p:spPr>
        <p:txBody>
          <a:bodyPr wrap="square" lIns="0" tIns="0" rIns="0" bIns="0" rtlCol="0" anchor="t"/>
          <a:lstStyle/>
          <a:p>
            <a:pPr indent="0" marL="0">
              <a:buNone/>
            </a:pPr>
            <a:r>
              <a:rPr lang="en-US" sz="2000" b="1" dirty="0">
                <a:solidFill>
                  <a:srgbClr val="13203F"/>
                </a:solidFill>
                <a:latin typeface="Calibri" pitchFamily="34" charset="0"/>
                <a:ea typeface="Calibri" pitchFamily="34" charset="-122"/>
                <a:cs typeface="Calibri" pitchFamily="34" charset="-120"/>
              </a:rPr>
              <a:t>Inefficient discovery</a:t>
            </a:r>
            <a:endParaRPr lang="en-US" sz="2000" dirty="0"/>
          </a:p>
        </p:txBody>
      </p:sp>
      <p:sp>
        <p:nvSpPr>
          <p:cNvPr id="9" name="Text 7"/>
          <p:cNvSpPr txBox="1"/>
          <p:nvPr/>
        </p:nvSpPr>
        <p:spPr>
          <a:xfrm>
            <a:off x="1691640" y="2606040"/>
            <a:ext cx="3947008" cy="822960"/>
          </a:xfrm>
          <a:prstGeom prst="rect">
            <a:avLst/>
          </a:prstGeom>
          <a:noFill/>
          <a:ln/>
        </p:spPr>
        <p:txBody>
          <a:bodyPr wrap="square" lIns="0" tIns="0" rIns="0" bIns="0" rtlCol="0" anchor="t"/>
          <a:lstStyle/>
          <a:p>
            <a:pPr indent="0" marL="0">
              <a:buNone/>
            </a:pPr>
            <a:r>
              <a:rPr lang="en-US" sz="1500" dirty="0">
                <a:solidFill>
                  <a:srgbClr val="3A4560"/>
                </a:solidFill>
                <a:latin typeface="Calibri" pitchFamily="34" charset="0"/>
                <a:ea typeface="Calibri" pitchFamily="34" charset="-122"/>
                <a:cs typeface="Calibri" pitchFamily="34" charset="-120"/>
              </a:rPr>
              <a:t>Listings are scattered across profiles and posts with no categories or search.</a:t>
            </a:r>
            <a:endParaRPr lang="en-US" sz="1500" dirty="0"/>
          </a:p>
        </p:txBody>
      </p:sp>
      <p:sp>
        <p:nvSpPr>
          <p:cNvPr id="10" name="Shape 8"/>
          <p:cNvSpPr/>
          <p:nvPr/>
        </p:nvSpPr>
        <p:spPr>
          <a:xfrm>
            <a:off x="6233008" y="1737360"/>
            <a:ext cx="5410048" cy="1920240"/>
          </a:xfrm>
          <a:prstGeom prst="roundRect">
            <a:avLst>
              <a:gd name="adj" fmla="val 5714"/>
            </a:avLst>
          </a:prstGeom>
          <a:solidFill>
            <a:srgbClr val="FFFDF8"/>
          </a:solidFill>
          <a:ln w="9525">
            <a:solidFill>
              <a:srgbClr val="E4DFD2"/>
            </a:solidFill>
            <a:prstDash val="solid"/>
          </a:ln>
        </p:spPr>
      </p:sp>
      <p:sp>
        <p:nvSpPr>
          <p:cNvPr id="11" name="Shape 9"/>
          <p:cNvSpPr/>
          <p:nvPr/>
        </p:nvSpPr>
        <p:spPr>
          <a:xfrm>
            <a:off x="6553048" y="2103120"/>
            <a:ext cx="548640" cy="548640"/>
          </a:xfrm>
          <a:prstGeom prst="ellipse">
            <a:avLst/>
          </a:prstGeom>
          <a:solidFill>
            <a:srgbClr val="13203F"/>
          </a:solidFill>
          <a:ln/>
        </p:spPr>
      </p:sp>
      <p:sp>
        <p:nvSpPr>
          <p:cNvPr id="12" name="Text 10"/>
          <p:cNvSpPr txBox="1"/>
          <p:nvPr/>
        </p:nvSpPr>
        <p:spPr>
          <a:xfrm>
            <a:off x="6553048" y="2103120"/>
            <a:ext cx="548640" cy="548640"/>
          </a:xfrm>
          <a:prstGeom prst="rect">
            <a:avLst/>
          </a:prstGeom>
          <a:noFill/>
          <a:ln/>
        </p:spPr>
        <p:txBody>
          <a:bodyPr wrap="square" lIns="0" tIns="0" rIns="0" bIns="0" rtlCol="0" anchor="ctr"/>
          <a:lstStyle/>
          <a:p>
            <a:pPr algn="ctr" indent="0" marL="0">
              <a:buNone/>
            </a:pPr>
            <a:r>
              <a:rPr lang="en-US" sz="1400" b="1" dirty="0">
                <a:solidFill>
                  <a:srgbClr val="F2B51C"/>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7376008" y="2103120"/>
            <a:ext cx="3947008" cy="411480"/>
          </a:xfrm>
          <a:prstGeom prst="rect">
            <a:avLst/>
          </a:prstGeom>
          <a:noFill/>
          <a:ln/>
        </p:spPr>
        <p:txBody>
          <a:bodyPr wrap="square" lIns="0" tIns="0" rIns="0" bIns="0" rtlCol="0" anchor="t"/>
          <a:lstStyle/>
          <a:p>
            <a:pPr indent="0" marL="0">
              <a:buNone/>
            </a:pPr>
            <a:r>
              <a:rPr lang="en-US" sz="2000" b="1" dirty="0">
                <a:solidFill>
                  <a:srgbClr val="13203F"/>
                </a:solidFill>
                <a:latin typeface="Calibri" pitchFamily="34" charset="0"/>
                <a:ea typeface="Calibri" pitchFamily="34" charset="-122"/>
                <a:cs typeface="Calibri" pitchFamily="34" charset="-120"/>
              </a:rPr>
              <a:t>No order history</a:t>
            </a:r>
            <a:endParaRPr lang="en-US" sz="2000" dirty="0"/>
          </a:p>
        </p:txBody>
      </p:sp>
      <p:sp>
        <p:nvSpPr>
          <p:cNvPr id="14" name="Text 12"/>
          <p:cNvSpPr txBox="1"/>
          <p:nvPr/>
        </p:nvSpPr>
        <p:spPr>
          <a:xfrm>
            <a:off x="7376008" y="2606040"/>
            <a:ext cx="3947008" cy="822960"/>
          </a:xfrm>
          <a:prstGeom prst="rect">
            <a:avLst/>
          </a:prstGeom>
          <a:noFill/>
          <a:ln/>
        </p:spPr>
        <p:txBody>
          <a:bodyPr wrap="square" lIns="0" tIns="0" rIns="0" bIns="0" rtlCol="0" anchor="t"/>
          <a:lstStyle/>
          <a:p>
            <a:pPr indent="0" marL="0">
              <a:buNone/>
            </a:pPr>
            <a:r>
              <a:rPr lang="en-US" sz="1500" dirty="0">
                <a:solidFill>
                  <a:srgbClr val="3A4560"/>
                </a:solidFill>
                <a:latin typeface="Calibri" pitchFamily="34" charset="0"/>
                <a:ea typeface="Calibri" pitchFamily="34" charset="-122"/>
                <a:cs typeface="Calibri" pitchFamily="34" charset="-120"/>
              </a:rPr>
              <a:t>Buyers and sellers have no durable record of what was agreed or ordered.</a:t>
            </a:r>
            <a:endParaRPr lang="en-US" sz="1500" dirty="0"/>
          </a:p>
        </p:txBody>
      </p:sp>
      <p:sp>
        <p:nvSpPr>
          <p:cNvPr id="15" name="Shape 13"/>
          <p:cNvSpPr/>
          <p:nvPr/>
        </p:nvSpPr>
        <p:spPr>
          <a:xfrm>
            <a:off x="548640" y="3931920"/>
            <a:ext cx="5410048" cy="1920240"/>
          </a:xfrm>
          <a:prstGeom prst="roundRect">
            <a:avLst>
              <a:gd name="adj" fmla="val 5714"/>
            </a:avLst>
          </a:prstGeom>
          <a:solidFill>
            <a:srgbClr val="FFFDF8"/>
          </a:solidFill>
          <a:ln w="9525">
            <a:solidFill>
              <a:srgbClr val="E4DFD2"/>
            </a:solidFill>
            <a:prstDash val="solid"/>
          </a:ln>
        </p:spPr>
      </p:sp>
      <p:sp>
        <p:nvSpPr>
          <p:cNvPr id="16" name="Shape 14"/>
          <p:cNvSpPr/>
          <p:nvPr/>
        </p:nvSpPr>
        <p:spPr>
          <a:xfrm>
            <a:off x="868680" y="4297680"/>
            <a:ext cx="548640" cy="548640"/>
          </a:xfrm>
          <a:prstGeom prst="ellipse">
            <a:avLst/>
          </a:prstGeom>
          <a:solidFill>
            <a:srgbClr val="13203F"/>
          </a:solidFill>
          <a:ln/>
        </p:spPr>
      </p:sp>
      <p:sp>
        <p:nvSpPr>
          <p:cNvPr id="17" name="Text 15"/>
          <p:cNvSpPr txBox="1"/>
          <p:nvPr/>
        </p:nvSpPr>
        <p:spPr>
          <a:xfrm>
            <a:off x="868680" y="4297680"/>
            <a:ext cx="548640" cy="548640"/>
          </a:xfrm>
          <a:prstGeom prst="rect">
            <a:avLst/>
          </a:prstGeom>
          <a:noFill/>
          <a:ln/>
        </p:spPr>
        <p:txBody>
          <a:bodyPr wrap="square" lIns="0" tIns="0" rIns="0" bIns="0" rtlCol="0" anchor="ctr"/>
          <a:lstStyle/>
          <a:p>
            <a:pPr algn="ctr" indent="0" marL="0">
              <a:buNone/>
            </a:pPr>
            <a:r>
              <a:rPr lang="en-US" sz="1400" b="1" dirty="0">
                <a:solidFill>
                  <a:srgbClr val="F2B51C"/>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1691640" y="4297680"/>
            <a:ext cx="3947008" cy="411480"/>
          </a:xfrm>
          <a:prstGeom prst="rect">
            <a:avLst/>
          </a:prstGeom>
          <a:noFill/>
          <a:ln/>
        </p:spPr>
        <p:txBody>
          <a:bodyPr wrap="square" lIns="0" tIns="0" rIns="0" bIns="0" rtlCol="0" anchor="t"/>
          <a:lstStyle/>
          <a:p>
            <a:pPr indent="0" marL="0">
              <a:buNone/>
            </a:pPr>
            <a:r>
              <a:rPr lang="en-US" sz="2000" b="1" dirty="0">
                <a:solidFill>
                  <a:srgbClr val="13203F"/>
                </a:solidFill>
                <a:latin typeface="Calibri" pitchFamily="34" charset="0"/>
                <a:ea typeface="Calibri" pitchFamily="34" charset="-122"/>
                <a:cs typeface="Calibri" pitchFamily="34" charset="-120"/>
              </a:rPr>
              <a:t>Undocumented payments</a:t>
            </a:r>
            <a:endParaRPr lang="en-US" sz="2000" dirty="0"/>
          </a:p>
        </p:txBody>
      </p:sp>
      <p:sp>
        <p:nvSpPr>
          <p:cNvPr id="19" name="Text 17"/>
          <p:cNvSpPr txBox="1"/>
          <p:nvPr/>
        </p:nvSpPr>
        <p:spPr>
          <a:xfrm>
            <a:off x="1691640" y="4800600"/>
            <a:ext cx="3947008" cy="822960"/>
          </a:xfrm>
          <a:prstGeom prst="rect">
            <a:avLst/>
          </a:prstGeom>
          <a:noFill/>
          <a:ln/>
        </p:spPr>
        <p:txBody>
          <a:bodyPr wrap="square" lIns="0" tIns="0" rIns="0" bIns="0" rtlCol="0" anchor="t"/>
          <a:lstStyle/>
          <a:p>
            <a:pPr indent="0" marL="0">
              <a:buNone/>
            </a:pPr>
            <a:r>
              <a:rPr lang="en-US" sz="1500" dirty="0">
                <a:solidFill>
                  <a:srgbClr val="3A4560"/>
                </a:solidFill>
                <a:latin typeface="Calibri" pitchFamily="34" charset="0"/>
                <a:ea typeface="Calibri" pitchFamily="34" charset="-122"/>
                <a:cs typeface="Calibri" pitchFamily="34" charset="-120"/>
              </a:rPr>
              <a:t>Manual payments cause disputes, especially with partial payments.</a:t>
            </a:r>
            <a:endParaRPr lang="en-US" sz="1500" dirty="0"/>
          </a:p>
        </p:txBody>
      </p:sp>
      <p:sp>
        <p:nvSpPr>
          <p:cNvPr id="20" name="Shape 18"/>
          <p:cNvSpPr/>
          <p:nvPr/>
        </p:nvSpPr>
        <p:spPr>
          <a:xfrm>
            <a:off x="6233008" y="3931920"/>
            <a:ext cx="5410048" cy="1920240"/>
          </a:xfrm>
          <a:prstGeom prst="roundRect">
            <a:avLst>
              <a:gd name="adj" fmla="val 5714"/>
            </a:avLst>
          </a:prstGeom>
          <a:solidFill>
            <a:srgbClr val="FFFDF8"/>
          </a:solidFill>
          <a:ln w="9525">
            <a:solidFill>
              <a:srgbClr val="E4DFD2"/>
            </a:solidFill>
            <a:prstDash val="solid"/>
          </a:ln>
        </p:spPr>
      </p:sp>
      <p:sp>
        <p:nvSpPr>
          <p:cNvPr id="21" name="Shape 19"/>
          <p:cNvSpPr/>
          <p:nvPr/>
        </p:nvSpPr>
        <p:spPr>
          <a:xfrm>
            <a:off x="6553048" y="4297680"/>
            <a:ext cx="548640" cy="548640"/>
          </a:xfrm>
          <a:prstGeom prst="ellipse">
            <a:avLst/>
          </a:prstGeom>
          <a:solidFill>
            <a:srgbClr val="13203F"/>
          </a:solidFill>
          <a:ln/>
        </p:spPr>
      </p:sp>
      <p:sp>
        <p:nvSpPr>
          <p:cNvPr id="22" name="Text 20"/>
          <p:cNvSpPr txBox="1"/>
          <p:nvPr/>
        </p:nvSpPr>
        <p:spPr>
          <a:xfrm>
            <a:off x="6553048" y="4297680"/>
            <a:ext cx="548640" cy="548640"/>
          </a:xfrm>
          <a:prstGeom prst="rect">
            <a:avLst/>
          </a:prstGeom>
          <a:noFill/>
          <a:ln/>
        </p:spPr>
        <p:txBody>
          <a:bodyPr wrap="square" lIns="0" tIns="0" rIns="0" bIns="0" rtlCol="0" anchor="ctr"/>
          <a:lstStyle/>
          <a:p>
            <a:pPr algn="ctr" indent="0" marL="0">
              <a:buNone/>
            </a:pPr>
            <a:r>
              <a:rPr lang="en-US" sz="1400" b="1" dirty="0">
                <a:solidFill>
                  <a:srgbClr val="F2B51C"/>
                </a:solidFill>
                <a:latin typeface="Calibri" pitchFamily="34" charset="0"/>
                <a:ea typeface="Calibri" pitchFamily="34" charset="-122"/>
                <a:cs typeface="Calibri" pitchFamily="34" charset="-120"/>
              </a:rPr>
              <a:t>4</a:t>
            </a:r>
            <a:endParaRPr lang="en-US" sz="1400" dirty="0"/>
          </a:p>
        </p:txBody>
      </p:sp>
      <p:sp>
        <p:nvSpPr>
          <p:cNvPr id="23" name="Text 21"/>
          <p:cNvSpPr txBox="1"/>
          <p:nvPr/>
        </p:nvSpPr>
        <p:spPr>
          <a:xfrm>
            <a:off x="7376008" y="4297680"/>
            <a:ext cx="3947008" cy="411480"/>
          </a:xfrm>
          <a:prstGeom prst="rect">
            <a:avLst/>
          </a:prstGeom>
          <a:noFill/>
          <a:ln/>
        </p:spPr>
        <p:txBody>
          <a:bodyPr wrap="square" lIns="0" tIns="0" rIns="0" bIns="0" rtlCol="0" anchor="t"/>
          <a:lstStyle/>
          <a:p>
            <a:pPr indent="0" marL="0">
              <a:buNone/>
            </a:pPr>
            <a:r>
              <a:rPr lang="en-US" sz="2000" b="1" dirty="0">
                <a:solidFill>
                  <a:srgbClr val="13203F"/>
                </a:solidFill>
                <a:latin typeface="Calibri" pitchFamily="34" charset="0"/>
                <a:ea typeface="Calibri" pitchFamily="34" charset="-122"/>
                <a:cs typeface="Calibri" pitchFamily="34" charset="-120"/>
              </a:rPr>
              <a:t>No oversight</a:t>
            </a:r>
            <a:endParaRPr lang="en-US" sz="2000" dirty="0"/>
          </a:p>
        </p:txBody>
      </p:sp>
      <p:sp>
        <p:nvSpPr>
          <p:cNvPr id="24" name="Text 22"/>
          <p:cNvSpPr txBox="1"/>
          <p:nvPr/>
        </p:nvSpPr>
        <p:spPr>
          <a:xfrm>
            <a:off x="7376008" y="4800600"/>
            <a:ext cx="3947008" cy="822960"/>
          </a:xfrm>
          <a:prstGeom prst="rect">
            <a:avLst/>
          </a:prstGeom>
          <a:noFill/>
          <a:ln/>
        </p:spPr>
        <p:txBody>
          <a:bodyPr wrap="square" lIns="0" tIns="0" rIns="0" bIns="0" rtlCol="0" anchor="t"/>
          <a:lstStyle/>
          <a:p>
            <a:pPr indent="0" marL="0">
              <a:buNone/>
            </a:pPr>
            <a:r>
              <a:rPr lang="en-US" sz="1500" dirty="0">
                <a:solidFill>
                  <a:srgbClr val="3A4560"/>
                </a:solidFill>
                <a:latin typeface="Calibri" pitchFamily="34" charset="0"/>
                <a:ea typeface="Calibri" pitchFamily="34" charset="-122"/>
                <a:cs typeface="Calibri" pitchFamily="34" charset="-120"/>
              </a:rPr>
              <a:t>Nobody monitors sellers, moderates listings or steps in when problems arise.</a:t>
            </a:r>
            <a:endParaRPr lang="en-US" sz="1500" dirty="0"/>
          </a:p>
        </p:txBody>
      </p:sp>
      <p:sp>
        <p:nvSpPr>
          <p:cNvPr id="25" name="Slide Number Placeholder 0"/>
          <p:cNvSpPr>
            <a:spLocks noGrp="1"/>
          </p:cNvSpPr>
          <p:nvPr>
            <p:ph type="sldNum" sz="quarter" idx="4294967295"/>
          </p:nvPr>
        </p:nvSpPr>
        <p:spPr>
          <a:xfrm>
            <a:off x="10972800" y="6309360"/>
            <a:ext cx="670255"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200" b="1" spc="300" kern="0" dirty="0">
                <a:solidFill>
                  <a:srgbClr val="8A5F00"/>
                </a:solidFill>
                <a:latin typeface="Calibri" pitchFamily="34" charset="0"/>
                <a:ea typeface="Calibri" pitchFamily="34" charset="-122"/>
                <a:cs typeface="Calibri" pitchFamily="34" charset="-120"/>
              </a:rPr>
              <a:t>OBJECTIVES</a:t>
            </a:r>
            <a:endParaRPr lang="en-US" sz="12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t"/>
          <a:lstStyle/>
          <a:p>
            <a:pPr algn="l" indent="0" marL="0">
              <a:buNone/>
            </a:pPr>
            <a:r>
              <a:rPr lang="en-US" sz="3400" b="1" dirty="0">
                <a:solidFill>
                  <a:srgbClr val="13203F"/>
                </a:solidFill>
                <a:latin typeface="Calibri" pitchFamily="34" charset="0"/>
                <a:ea typeface="Calibri" pitchFamily="34" charset="-122"/>
                <a:cs typeface="Calibri" pitchFamily="34" charset="-120"/>
              </a:rPr>
              <a:t>Objectives of the Study</a:t>
            </a:r>
            <a:endParaRPr lang="en-US" sz="3400" dirty="0"/>
          </a:p>
        </p:txBody>
      </p:sp>
      <p:sp>
        <p:nvSpPr>
          <p:cNvPr id="4" name="Text 2"/>
          <p:cNvSpPr txBox="1"/>
          <p:nvPr/>
        </p:nvSpPr>
        <p:spPr>
          <a:xfrm>
            <a:off x="548640" y="6309360"/>
            <a:ext cx="8229600" cy="2743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Beeciye · Second-Hand Market Platform</a:t>
            </a:r>
            <a:endParaRPr lang="en-US" sz="1100" dirty="0"/>
          </a:p>
        </p:txBody>
      </p:sp>
      <p:sp>
        <p:nvSpPr>
          <p:cNvPr id="5" name="Shape 3"/>
          <p:cNvSpPr/>
          <p:nvPr/>
        </p:nvSpPr>
        <p:spPr>
          <a:xfrm>
            <a:off x="548640" y="1600200"/>
            <a:ext cx="11094415" cy="1234440"/>
          </a:xfrm>
          <a:prstGeom prst="roundRect">
            <a:avLst>
              <a:gd name="adj" fmla="val 8889"/>
            </a:avLst>
          </a:prstGeom>
          <a:solidFill>
            <a:srgbClr val="13203F"/>
          </a:solidFill>
          <a:ln w="9525">
            <a:solidFill>
              <a:srgbClr val="13203F"/>
            </a:solidFill>
            <a:prstDash val="solid"/>
          </a:ln>
        </p:spPr>
      </p:sp>
      <p:sp>
        <p:nvSpPr>
          <p:cNvPr id="6" name="Text 4"/>
          <p:cNvSpPr txBox="1"/>
          <p:nvPr/>
        </p:nvSpPr>
        <p:spPr>
          <a:xfrm>
            <a:off x="914400" y="1783080"/>
            <a:ext cx="5486400" cy="274320"/>
          </a:xfrm>
          <a:prstGeom prst="rect">
            <a:avLst/>
          </a:prstGeom>
          <a:noFill/>
          <a:ln/>
        </p:spPr>
        <p:txBody>
          <a:bodyPr wrap="square" lIns="0" tIns="0" rIns="0" bIns="0" rtlCol="0" anchor="t"/>
          <a:lstStyle/>
          <a:p>
            <a:pPr indent="0" marL="0">
              <a:buNone/>
            </a:pPr>
            <a:r>
              <a:rPr lang="en-US" sz="1200" b="1" spc="200" kern="0" dirty="0">
                <a:solidFill>
                  <a:srgbClr val="F2B51C"/>
                </a:solidFill>
                <a:latin typeface="Calibri" pitchFamily="34" charset="0"/>
                <a:ea typeface="Calibri" pitchFamily="34" charset="-122"/>
                <a:cs typeface="Calibri" pitchFamily="34" charset="-120"/>
              </a:rPr>
              <a:t>GENERAL OBJECTIVE</a:t>
            </a:r>
            <a:endParaRPr lang="en-US" sz="1200" dirty="0"/>
          </a:p>
        </p:txBody>
      </p:sp>
      <p:sp>
        <p:nvSpPr>
          <p:cNvPr id="7" name="Text 5"/>
          <p:cNvSpPr txBox="1"/>
          <p:nvPr/>
        </p:nvSpPr>
        <p:spPr>
          <a:xfrm>
            <a:off x="914400" y="2103120"/>
            <a:ext cx="10362895" cy="640080"/>
          </a:xfrm>
          <a:prstGeom prst="rect">
            <a:avLst/>
          </a:prstGeom>
          <a:noFill/>
          <a:ln/>
        </p:spPr>
        <p:txBody>
          <a:bodyPr wrap="square" lIns="0" tIns="0" rIns="0" bIns="0" rtlCol="0" anchor="t"/>
          <a:lstStyle/>
          <a:p>
            <a:pPr indent="0" marL="0">
              <a:buNone/>
            </a:pPr>
            <a:r>
              <a:rPr lang="en-US" sz="1700" dirty="0">
                <a:solidFill>
                  <a:srgbClr val="F7F5EF"/>
                </a:solidFill>
                <a:latin typeface="Calibri" pitchFamily="34" charset="0"/>
                <a:ea typeface="Calibri" pitchFamily="34" charset="-122"/>
                <a:cs typeface="Calibri" pitchFamily="34" charset="-120"/>
              </a:rPr>
              <a:t>Design, develop and test a web-based second-hand marketplace where users buy and sell in one account, with full administrator oversight.</a:t>
            </a:r>
            <a:endParaRPr lang="en-US" sz="1700" dirty="0"/>
          </a:p>
        </p:txBody>
      </p:sp>
      <p:sp>
        <p:nvSpPr>
          <p:cNvPr id="8" name="Shape 6"/>
          <p:cNvSpPr/>
          <p:nvPr/>
        </p:nvSpPr>
        <p:spPr>
          <a:xfrm>
            <a:off x="548640" y="3154680"/>
            <a:ext cx="438912" cy="438912"/>
          </a:xfrm>
          <a:prstGeom prst="ellipse">
            <a:avLst/>
          </a:prstGeom>
          <a:solidFill>
            <a:srgbClr val="13203F"/>
          </a:solidFill>
          <a:ln/>
        </p:spPr>
      </p:sp>
      <p:sp>
        <p:nvSpPr>
          <p:cNvPr id="9" name="Text 7"/>
          <p:cNvSpPr txBox="1"/>
          <p:nvPr/>
        </p:nvSpPr>
        <p:spPr>
          <a:xfrm>
            <a:off x="548640" y="3154680"/>
            <a:ext cx="438912" cy="438912"/>
          </a:xfrm>
          <a:prstGeom prst="rect">
            <a:avLst/>
          </a:prstGeom>
          <a:noFill/>
          <a:ln/>
        </p:spPr>
        <p:txBody>
          <a:bodyPr wrap="square" lIns="0" tIns="0" rIns="0" bIns="0" rtlCol="0" anchor="ctr"/>
          <a:lstStyle/>
          <a:p>
            <a:pPr algn="ctr" indent="0" marL="0">
              <a:buNone/>
            </a:pPr>
            <a:r>
              <a:rPr lang="en-US" sz="1400" b="1" dirty="0">
                <a:solidFill>
                  <a:srgbClr val="F2B51C"/>
                </a:solidFill>
                <a:latin typeface="Calibri" pitchFamily="34" charset="0"/>
                <a:ea typeface="Calibri" pitchFamily="34" charset="-122"/>
                <a:cs typeface="Calibri" pitchFamily="34" charset="-120"/>
              </a:rPr>
              <a:t>1</a:t>
            </a:r>
            <a:endParaRPr lang="en-US" sz="1400" dirty="0"/>
          </a:p>
        </p:txBody>
      </p:sp>
      <p:sp>
        <p:nvSpPr>
          <p:cNvPr id="10" name="Text 8"/>
          <p:cNvSpPr txBox="1"/>
          <p:nvPr/>
        </p:nvSpPr>
        <p:spPr>
          <a:xfrm>
            <a:off x="1188720" y="3172968"/>
            <a:ext cx="4678528" cy="777240"/>
          </a:xfrm>
          <a:prstGeom prst="rect">
            <a:avLst/>
          </a:prstGeom>
          <a:noFill/>
          <a:ln/>
        </p:spPr>
        <p:txBody>
          <a:bodyPr wrap="square" lIns="0" tIns="0" rIns="0" bIns="0" rtlCol="0" anchor="t"/>
          <a:lstStyle/>
          <a:p>
            <a:pPr indent="0" marL="0">
              <a:buNone/>
            </a:pPr>
            <a:r>
              <a:rPr lang="en-US" sz="1500" dirty="0">
                <a:solidFill>
                  <a:srgbClr val="13203F"/>
                </a:solidFill>
                <a:latin typeface="Calibri" pitchFamily="34" charset="0"/>
                <a:ea typeface="Calibri" pitchFamily="34" charset="-122"/>
                <a:cs typeface="Calibri" pitchFamily="34" charset="-120"/>
              </a:rPr>
              <a:t>Design a relational database for users, products, orders and multiple payments.</a:t>
            </a:r>
            <a:endParaRPr lang="en-US" sz="1500" dirty="0"/>
          </a:p>
        </p:txBody>
      </p:sp>
      <p:sp>
        <p:nvSpPr>
          <p:cNvPr id="11" name="Shape 9"/>
          <p:cNvSpPr/>
          <p:nvPr/>
        </p:nvSpPr>
        <p:spPr>
          <a:xfrm>
            <a:off x="6324448" y="3154680"/>
            <a:ext cx="438912" cy="438912"/>
          </a:xfrm>
          <a:prstGeom prst="ellipse">
            <a:avLst/>
          </a:prstGeom>
          <a:solidFill>
            <a:srgbClr val="13203F"/>
          </a:solidFill>
          <a:ln/>
        </p:spPr>
      </p:sp>
      <p:sp>
        <p:nvSpPr>
          <p:cNvPr id="12" name="Text 10"/>
          <p:cNvSpPr txBox="1"/>
          <p:nvPr/>
        </p:nvSpPr>
        <p:spPr>
          <a:xfrm>
            <a:off x="6324448" y="3154680"/>
            <a:ext cx="438912" cy="438912"/>
          </a:xfrm>
          <a:prstGeom prst="rect">
            <a:avLst/>
          </a:prstGeom>
          <a:noFill/>
          <a:ln/>
        </p:spPr>
        <p:txBody>
          <a:bodyPr wrap="square" lIns="0" tIns="0" rIns="0" bIns="0" rtlCol="0" anchor="ctr"/>
          <a:lstStyle/>
          <a:p>
            <a:pPr algn="ctr" indent="0" marL="0">
              <a:buNone/>
            </a:pPr>
            <a:r>
              <a:rPr lang="en-US" sz="1400" b="1" dirty="0">
                <a:solidFill>
                  <a:srgbClr val="F2B51C"/>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6964528" y="3172968"/>
            <a:ext cx="4678528" cy="777240"/>
          </a:xfrm>
          <a:prstGeom prst="rect">
            <a:avLst/>
          </a:prstGeom>
          <a:noFill/>
          <a:ln/>
        </p:spPr>
        <p:txBody>
          <a:bodyPr wrap="square" lIns="0" tIns="0" rIns="0" bIns="0" rtlCol="0" anchor="t"/>
          <a:lstStyle/>
          <a:p>
            <a:pPr indent="0" marL="0">
              <a:buNone/>
            </a:pPr>
            <a:r>
              <a:rPr lang="en-US" sz="1500" dirty="0">
                <a:solidFill>
                  <a:srgbClr val="13203F"/>
                </a:solidFill>
                <a:latin typeface="Calibri" pitchFamily="34" charset="0"/>
                <a:ea typeface="Calibri" pitchFamily="34" charset="-122"/>
                <a:cs typeface="Calibri" pitchFamily="34" charset="-120"/>
              </a:rPr>
              <a:t>Implement secure login with Administrator and User roles.</a:t>
            </a:r>
            <a:endParaRPr lang="en-US" sz="1500" dirty="0"/>
          </a:p>
        </p:txBody>
      </p:sp>
      <p:sp>
        <p:nvSpPr>
          <p:cNvPr id="14" name="Shape 12"/>
          <p:cNvSpPr/>
          <p:nvPr/>
        </p:nvSpPr>
        <p:spPr>
          <a:xfrm>
            <a:off x="548640" y="4114800"/>
            <a:ext cx="438912" cy="438912"/>
          </a:xfrm>
          <a:prstGeom prst="ellipse">
            <a:avLst/>
          </a:prstGeom>
          <a:solidFill>
            <a:srgbClr val="13203F"/>
          </a:solidFill>
          <a:ln/>
        </p:spPr>
      </p:sp>
      <p:sp>
        <p:nvSpPr>
          <p:cNvPr id="15" name="Text 13"/>
          <p:cNvSpPr txBox="1"/>
          <p:nvPr/>
        </p:nvSpPr>
        <p:spPr>
          <a:xfrm>
            <a:off x="548640" y="4114800"/>
            <a:ext cx="438912" cy="438912"/>
          </a:xfrm>
          <a:prstGeom prst="rect">
            <a:avLst/>
          </a:prstGeom>
          <a:noFill/>
          <a:ln/>
        </p:spPr>
        <p:txBody>
          <a:bodyPr wrap="square" lIns="0" tIns="0" rIns="0" bIns="0" rtlCol="0" anchor="ctr"/>
          <a:lstStyle/>
          <a:p>
            <a:pPr algn="ctr" indent="0" marL="0">
              <a:buNone/>
            </a:pPr>
            <a:r>
              <a:rPr lang="en-US" sz="1400" b="1" dirty="0">
                <a:solidFill>
                  <a:srgbClr val="F2B51C"/>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1188720" y="4133088"/>
            <a:ext cx="4678528" cy="777240"/>
          </a:xfrm>
          <a:prstGeom prst="rect">
            <a:avLst/>
          </a:prstGeom>
          <a:noFill/>
          <a:ln/>
        </p:spPr>
        <p:txBody>
          <a:bodyPr wrap="square" lIns="0" tIns="0" rIns="0" bIns="0" rtlCol="0" anchor="t"/>
          <a:lstStyle/>
          <a:p>
            <a:pPr indent="0" marL="0">
              <a:buNone/>
            </a:pPr>
            <a:r>
              <a:rPr lang="en-US" sz="1500" dirty="0">
                <a:solidFill>
                  <a:srgbClr val="13203F"/>
                </a:solidFill>
                <a:latin typeface="Calibri" pitchFamily="34" charset="0"/>
                <a:ea typeface="Calibri" pitchFamily="34" charset="-122"/>
                <a:cs typeface="Calibri" pitchFamily="34" charset="-120"/>
              </a:rPr>
              <a:t>Build product listings with categories, search and an image gallery.</a:t>
            </a:r>
            <a:endParaRPr lang="en-US" sz="1500" dirty="0"/>
          </a:p>
        </p:txBody>
      </p:sp>
      <p:sp>
        <p:nvSpPr>
          <p:cNvPr id="17" name="Shape 15"/>
          <p:cNvSpPr/>
          <p:nvPr/>
        </p:nvSpPr>
        <p:spPr>
          <a:xfrm>
            <a:off x="6324448" y="4114800"/>
            <a:ext cx="438912" cy="438912"/>
          </a:xfrm>
          <a:prstGeom prst="ellipse">
            <a:avLst/>
          </a:prstGeom>
          <a:solidFill>
            <a:srgbClr val="13203F"/>
          </a:solidFill>
          <a:ln/>
        </p:spPr>
      </p:sp>
      <p:sp>
        <p:nvSpPr>
          <p:cNvPr id="18" name="Text 16"/>
          <p:cNvSpPr txBox="1"/>
          <p:nvPr/>
        </p:nvSpPr>
        <p:spPr>
          <a:xfrm>
            <a:off x="6324448" y="4114800"/>
            <a:ext cx="438912" cy="438912"/>
          </a:xfrm>
          <a:prstGeom prst="rect">
            <a:avLst/>
          </a:prstGeom>
          <a:noFill/>
          <a:ln/>
        </p:spPr>
        <p:txBody>
          <a:bodyPr wrap="square" lIns="0" tIns="0" rIns="0" bIns="0" rtlCol="0" anchor="ctr"/>
          <a:lstStyle/>
          <a:p>
            <a:pPr algn="ctr" indent="0" marL="0">
              <a:buNone/>
            </a:pPr>
            <a:r>
              <a:rPr lang="en-US" sz="1400" b="1" dirty="0">
                <a:solidFill>
                  <a:srgbClr val="F2B51C"/>
                </a:solidFill>
                <a:latin typeface="Calibri" pitchFamily="34" charset="0"/>
                <a:ea typeface="Calibri" pitchFamily="34" charset="-122"/>
                <a:cs typeface="Calibri" pitchFamily="34" charset="-120"/>
              </a:rPr>
              <a:t>4</a:t>
            </a:r>
            <a:endParaRPr lang="en-US" sz="1400" dirty="0"/>
          </a:p>
        </p:txBody>
      </p:sp>
      <p:sp>
        <p:nvSpPr>
          <p:cNvPr id="19" name="Text 17"/>
          <p:cNvSpPr txBox="1"/>
          <p:nvPr/>
        </p:nvSpPr>
        <p:spPr>
          <a:xfrm>
            <a:off x="6964528" y="4133088"/>
            <a:ext cx="4678528" cy="777240"/>
          </a:xfrm>
          <a:prstGeom prst="rect">
            <a:avLst/>
          </a:prstGeom>
          <a:noFill/>
          <a:ln/>
        </p:spPr>
        <p:txBody>
          <a:bodyPr wrap="square" lIns="0" tIns="0" rIns="0" bIns="0" rtlCol="0" anchor="t"/>
          <a:lstStyle/>
          <a:p>
            <a:pPr indent="0" marL="0">
              <a:buNone/>
            </a:pPr>
            <a:r>
              <a:rPr lang="en-US" sz="1500" dirty="0">
                <a:solidFill>
                  <a:srgbClr val="13203F"/>
                </a:solidFill>
                <a:latin typeface="Calibri" pitchFamily="34" charset="0"/>
                <a:ea typeface="Calibri" pitchFamily="34" charset="-122"/>
                <a:cs typeface="Calibri" pitchFamily="34" charset="-120"/>
              </a:rPr>
              <a:t>Build cart, Buy Now and checkout with Cash on Delivery or Mobile Money.</a:t>
            </a:r>
            <a:endParaRPr lang="en-US" sz="1500" dirty="0"/>
          </a:p>
        </p:txBody>
      </p:sp>
      <p:sp>
        <p:nvSpPr>
          <p:cNvPr id="20" name="Shape 18"/>
          <p:cNvSpPr/>
          <p:nvPr/>
        </p:nvSpPr>
        <p:spPr>
          <a:xfrm>
            <a:off x="548640" y="5074920"/>
            <a:ext cx="438912" cy="438912"/>
          </a:xfrm>
          <a:prstGeom prst="ellipse">
            <a:avLst/>
          </a:prstGeom>
          <a:solidFill>
            <a:srgbClr val="13203F"/>
          </a:solidFill>
          <a:ln/>
        </p:spPr>
      </p:sp>
      <p:sp>
        <p:nvSpPr>
          <p:cNvPr id="21" name="Text 19"/>
          <p:cNvSpPr txBox="1"/>
          <p:nvPr/>
        </p:nvSpPr>
        <p:spPr>
          <a:xfrm>
            <a:off x="548640" y="5074920"/>
            <a:ext cx="438912" cy="438912"/>
          </a:xfrm>
          <a:prstGeom prst="rect">
            <a:avLst/>
          </a:prstGeom>
          <a:noFill/>
          <a:ln/>
        </p:spPr>
        <p:txBody>
          <a:bodyPr wrap="square" lIns="0" tIns="0" rIns="0" bIns="0" rtlCol="0" anchor="ctr"/>
          <a:lstStyle/>
          <a:p>
            <a:pPr algn="ctr" indent="0" marL="0">
              <a:buNone/>
            </a:pPr>
            <a:r>
              <a:rPr lang="en-US" sz="1400" b="1" dirty="0">
                <a:solidFill>
                  <a:srgbClr val="F2B51C"/>
                </a:solidFill>
                <a:latin typeface="Calibri" pitchFamily="34" charset="0"/>
                <a:ea typeface="Calibri" pitchFamily="34" charset="-122"/>
                <a:cs typeface="Calibri" pitchFamily="34" charset="-120"/>
              </a:rPr>
              <a:t>5</a:t>
            </a:r>
            <a:endParaRPr lang="en-US" sz="1400" dirty="0"/>
          </a:p>
        </p:txBody>
      </p:sp>
      <p:sp>
        <p:nvSpPr>
          <p:cNvPr id="22" name="Text 20"/>
          <p:cNvSpPr txBox="1"/>
          <p:nvPr/>
        </p:nvSpPr>
        <p:spPr>
          <a:xfrm>
            <a:off x="1188720" y="5093208"/>
            <a:ext cx="4678528" cy="777240"/>
          </a:xfrm>
          <a:prstGeom prst="rect">
            <a:avLst/>
          </a:prstGeom>
          <a:noFill/>
          <a:ln/>
        </p:spPr>
        <p:txBody>
          <a:bodyPr wrap="square" lIns="0" tIns="0" rIns="0" bIns="0" rtlCol="0" anchor="t"/>
          <a:lstStyle/>
          <a:p>
            <a:pPr indent="0" marL="0">
              <a:buNone/>
            </a:pPr>
            <a:r>
              <a:rPr lang="en-US" sz="1500" dirty="0">
                <a:solidFill>
                  <a:srgbClr val="13203F"/>
                </a:solidFill>
                <a:latin typeface="Calibri" pitchFamily="34" charset="0"/>
                <a:ea typeface="Calibri" pitchFamily="34" charset="-122"/>
                <a:cs typeface="Calibri" pitchFamily="34" charset="-120"/>
              </a:rPr>
              <a:t>Provide seller and administrator dashboards with reports.</a:t>
            </a:r>
            <a:endParaRPr lang="en-US" sz="1500" dirty="0"/>
          </a:p>
        </p:txBody>
      </p:sp>
      <p:sp>
        <p:nvSpPr>
          <p:cNvPr id="23" name="Shape 21"/>
          <p:cNvSpPr/>
          <p:nvPr/>
        </p:nvSpPr>
        <p:spPr>
          <a:xfrm>
            <a:off x="6324448" y="5074920"/>
            <a:ext cx="438912" cy="438912"/>
          </a:xfrm>
          <a:prstGeom prst="ellipse">
            <a:avLst/>
          </a:prstGeom>
          <a:solidFill>
            <a:srgbClr val="13203F"/>
          </a:solidFill>
          <a:ln/>
        </p:spPr>
      </p:sp>
      <p:sp>
        <p:nvSpPr>
          <p:cNvPr id="24" name="Text 22"/>
          <p:cNvSpPr txBox="1"/>
          <p:nvPr/>
        </p:nvSpPr>
        <p:spPr>
          <a:xfrm>
            <a:off x="6324448" y="5074920"/>
            <a:ext cx="438912" cy="438912"/>
          </a:xfrm>
          <a:prstGeom prst="rect">
            <a:avLst/>
          </a:prstGeom>
          <a:noFill/>
          <a:ln/>
        </p:spPr>
        <p:txBody>
          <a:bodyPr wrap="square" lIns="0" tIns="0" rIns="0" bIns="0" rtlCol="0" anchor="ctr"/>
          <a:lstStyle/>
          <a:p>
            <a:pPr algn="ctr" indent="0" marL="0">
              <a:buNone/>
            </a:pPr>
            <a:r>
              <a:rPr lang="en-US" sz="1400" b="1" dirty="0">
                <a:solidFill>
                  <a:srgbClr val="F2B51C"/>
                </a:solidFill>
                <a:latin typeface="Calibri" pitchFamily="34" charset="0"/>
                <a:ea typeface="Calibri" pitchFamily="34" charset="-122"/>
                <a:cs typeface="Calibri" pitchFamily="34" charset="-120"/>
              </a:rPr>
              <a:t>6</a:t>
            </a:r>
            <a:endParaRPr lang="en-US" sz="1400" dirty="0"/>
          </a:p>
        </p:txBody>
      </p:sp>
      <p:sp>
        <p:nvSpPr>
          <p:cNvPr id="25" name="Text 23"/>
          <p:cNvSpPr txBox="1"/>
          <p:nvPr/>
        </p:nvSpPr>
        <p:spPr>
          <a:xfrm>
            <a:off x="6964528" y="5093208"/>
            <a:ext cx="4678528" cy="777240"/>
          </a:xfrm>
          <a:prstGeom prst="rect">
            <a:avLst/>
          </a:prstGeom>
          <a:noFill/>
          <a:ln/>
        </p:spPr>
        <p:txBody>
          <a:bodyPr wrap="square" lIns="0" tIns="0" rIns="0" bIns="0" rtlCol="0" anchor="t"/>
          <a:lstStyle/>
          <a:p>
            <a:pPr indent="0" marL="0">
              <a:buNone/>
            </a:pPr>
            <a:r>
              <a:rPr lang="en-US" sz="1500" dirty="0">
                <a:solidFill>
                  <a:srgbClr val="13203F"/>
                </a:solidFill>
                <a:latin typeface="Calibri" pitchFamily="34" charset="0"/>
                <a:ea typeface="Calibri" pitchFamily="34" charset="-122"/>
                <a:cs typeface="Calibri" pitchFamily="34" charset="-120"/>
              </a:rPr>
              <a:t>Test the whole system end-to-end.</a:t>
            </a:r>
            <a:endParaRPr lang="en-US" sz="1500" dirty="0"/>
          </a:p>
        </p:txBody>
      </p:sp>
      <p:sp>
        <p:nvSpPr>
          <p:cNvPr id="25" name="Slide Number Placeholder 0"/>
          <p:cNvSpPr>
            <a:spLocks noGrp="1"/>
          </p:cNvSpPr>
          <p:nvPr>
            <p:ph type="sldNum" sz="quarter" idx="4294967295"/>
          </p:nvPr>
        </p:nvSpPr>
        <p:spPr>
          <a:xfrm>
            <a:off x="10972800" y="6309360"/>
            <a:ext cx="670255"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200" b="1" spc="300" kern="0" dirty="0">
                <a:solidFill>
                  <a:srgbClr val="8A5F00"/>
                </a:solidFill>
                <a:latin typeface="Calibri" pitchFamily="34" charset="0"/>
                <a:ea typeface="Calibri" pitchFamily="34" charset="-122"/>
                <a:cs typeface="Calibri" pitchFamily="34" charset="-120"/>
              </a:rPr>
              <a:t>LITERATURE REVIEW</a:t>
            </a:r>
            <a:endParaRPr lang="en-US" sz="12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t"/>
          <a:lstStyle/>
          <a:p>
            <a:pPr algn="l" indent="0" marL="0">
              <a:buNone/>
            </a:pPr>
            <a:r>
              <a:rPr lang="en-US" sz="3400" b="1" dirty="0">
                <a:solidFill>
                  <a:srgbClr val="13203F"/>
                </a:solidFill>
                <a:latin typeface="Calibri" pitchFamily="34" charset="0"/>
                <a:ea typeface="Calibri" pitchFamily="34" charset="-122"/>
                <a:cs typeface="Calibri" pitchFamily="34" charset="-120"/>
              </a:rPr>
              <a:t>Existing Systems Compared with Beeciye</a:t>
            </a:r>
            <a:endParaRPr lang="en-US" sz="3400" dirty="0"/>
          </a:p>
        </p:txBody>
      </p:sp>
      <p:sp>
        <p:nvSpPr>
          <p:cNvPr id="4" name="Text 2"/>
          <p:cNvSpPr txBox="1"/>
          <p:nvPr/>
        </p:nvSpPr>
        <p:spPr>
          <a:xfrm>
            <a:off x="548640" y="6309360"/>
            <a:ext cx="8229600" cy="2743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Beeciye · Second-Hand Market Platform</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5120640"/>
                <a:gridCol w="1993392"/>
                <a:gridCol w="1993392"/>
                <a:gridCol w="1986991"/>
              </a:tblGrid>
              <a:tr h="475488">
                <a:tc>
                  <a:txBody>
                    <a:bodyPr/>
                    <a:lstStyle/>
                    <a:p>
                      <a:pPr indent="0" marL="0">
                        <a:buNone/>
                      </a:pPr>
                      <a:r>
                        <a:rPr lang="en-US" sz="1500" b="1" dirty="0">
                          <a:solidFill>
                            <a:srgbClr val="F7F5EF"/>
                          </a:solidFill>
                          <a:latin typeface="Calibri" pitchFamily="34" charset="0"/>
                          <a:ea typeface="Calibri" pitchFamily="34" charset="-122"/>
                          <a:cs typeface="Calibri" pitchFamily="34" charset="-120"/>
                        </a:rPr>
                        <a:t>Feature</a:t>
                      </a:r>
                      <a:endParaRPr lang="en-US" sz="1500" dirty="0">
                        <a:latin typeface="Calibri" charset="0"/>
                        <a:ea typeface="Calibri" charset="0"/>
                        <a:cs typeface="Calibri" charset="0"/>
                      </a:endParaRPr>
                    </a:p>
                  </a:txBody>
                  <a:tcPr marL="137160" marR="137160" marT="54864" marB="54864"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13203F"/>
                    </a:solidFill>
                  </a:tcPr>
                </a:tc>
                <a:tc>
                  <a:txBody>
                    <a:bodyPr/>
                    <a:lstStyle/>
                    <a:p>
                      <a:pPr indent="0" marL="0">
                        <a:buNone/>
                      </a:pPr>
                      <a:r>
                        <a:rPr lang="en-US" sz="1500" b="1" dirty="0">
                          <a:solidFill>
                            <a:srgbClr val="F7F5EF"/>
                          </a:solidFill>
                          <a:latin typeface="Calibri" pitchFamily="34" charset="0"/>
                          <a:ea typeface="Calibri" pitchFamily="34" charset="-122"/>
                          <a:cs typeface="Calibri" pitchFamily="34" charset="-120"/>
                        </a:rPr>
                        <a:t>OLX / Jiji</a:t>
                      </a:r>
                      <a:endParaRPr lang="en-US" sz="1500" dirty="0">
                        <a:latin typeface="Calibri" charset="0"/>
                        <a:ea typeface="Calibri" charset="0"/>
                        <a:cs typeface="Calibri" charset="0"/>
                      </a:endParaRPr>
                    </a:p>
                  </a:txBody>
                  <a:tcPr marL="137160" marR="137160" marT="54864" marB="54864"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13203F"/>
                    </a:solidFill>
                  </a:tcPr>
                </a:tc>
                <a:tc>
                  <a:txBody>
                    <a:bodyPr/>
                    <a:lstStyle/>
                    <a:p>
                      <a:pPr indent="0" marL="0">
                        <a:buNone/>
                      </a:pPr>
                      <a:r>
                        <a:rPr lang="en-US" sz="1500" b="1" dirty="0">
                          <a:solidFill>
                            <a:srgbClr val="F7F5EF"/>
                          </a:solidFill>
                          <a:latin typeface="Calibri" pitchFamily="34" charset="0"/>
                          <a:ea typeface="Calibri" pitchFamily="34" charset="-122"/>
                          <a:cs typeface="Calibri" pitchFamily="34" charset="-120"/>
                        </a:rPr>
                        <a:t>Facebook</a:t>
                      </a:r>
                      <a:endParaRPr lang="en-US" sz="1500" dirty="0">
                        <a:latin typeface="Calibri" charset="0"/>
                        <a:ea typeface="Calibri" charset="0"/>
                        <a:cs typeface="Calibri" charset="0"/>
                      </a:endParaRPr>
                    </a:p>
                  </a:txBody>
                  <a:tcPr marL="137160" marR="137160" marT="54864" marB="54864"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13203F"/>
                    </a:solidFill>
                  </a:tcPr>
                </a:tc>
                <a:tc>
                  <a:txBody>
                    <a:bodyPr/>
                    <a:lstStyle/>
                    <a:p>
                      <a:pPr indent="0" marL="0">
                        <a:buNone/>
                      </a:pPr>
                      <a:r>
                        <a:rPr lang="en-US" sz="1500" b="1" dirty="0">
                          <a:solidFill>
                            <a:srgbClr val="F2B51C"/>
                          </a:solidFill>
                          <a:latin typeface="Calibri" pitchFamily="34" charset="0"/>
                          <a:ea typeface="Calibri" pitchFamily="34" charset="-122"/>
                          <a:cs typeface="Calibri" pitchFamily="34" charset="-120"/>
                        </a:rPr>
                        <a:t>Beeciye</a:t>
                      </a:r>
                      <a:endParaRPr lang="en-US" sz="1500" dirty="0">
                        <a:latin typeface="Calibri" charset="0"/>
                        <a:ea typeface="Calibri" charset="0"/>
                        <a:cs typeface="Calibri" charset="0"/>
                      </a:endParaRPr>
                    </a:p>
                  </a:txBody>
                  <a:tcPr marL="137160" marR="137160" marT="54864" marB="54864"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13203F"/>
                    </a:solidFill>
                  </a:tcPr>
                </a:tc>
              </a:tr>
              <a:tr h="475488">
                <a:tc>
                  <a:txBody>
                    <a:bodyPr/>
                    <a:lstStyle/>
                    <a:p>
                      <a:pPr indent="0" marL="0">
                        <a:buNone/>
                      </a:pPr>
                      <a:r>
                        <a:rPr lang="en-US" sz="1500" dirty="0">
                          <a:solidFill>
                            <a:srgbClr val="13203F"/>
                          </a:solidFill>
                          <a:latin typeface="Calibri" pitchFamily="34" charset="0"/>
                          <a:ea typeface="Calibri" pitchFamily="34" charset="-122"/>
                          <a:cs typeface="Calibri" pitchFamily="34" charset="-120"/>
                        </a:rPr>
                        <a:t>Category listing and search</a:t>
                      </a:r>
                      <a:endParaRPr lang="en-US" sz="1500" dirty="0">
                        <a:latin typeface="Calibri" charset="0"/>
                        <a:ea typeface="Calibri" charset="0"/>
                        <a:cs typeface="Calibri" charset="0"/>
                      </a:endParaRPr>
                    </a:p>
                  </a:txBody>
                  <a:tcPr marL="137160" marR="137160" marT="54864" marB="54864"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FFDF8"/>
                    </a:solidFill>
                  </a:tcPr>
                </a:tc>
                <a:tc>
                  <a:txBody>
                    <a:bodyPr/>
                    <a:lstStyle/>
                    <a:p>
                      <a:pPr indent="0" marL="0">
                        <a:buNone/>
                      </a:pPr>
                      <a:r>
                        <a:rPr lang="en-US" sz="1500" dirty="0">
                          <a:solidFill>
                            <a:srgbClr val="13203F"/>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37160" marR="137160" marT="54864" marB="54864"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FFDF8"/>
                    </a:solidFill>
                  </a:tcPr>
                </a:tc>
                <a:tc>
                  <a:txBody>
                    <a:bodyPr/>
                    <a:lstStyle/>
                    <a:p>
                      <a:pPr indent="0" marL="0">
                        <a:buNone/>
                      </a:pPr>
                      <a:r>
                        <a:rPr lang="en-US" sz="1500" dirty="0">
                          <a:solidFill>
                            <a:srgbClr val="13203F"/>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37160" marR="137160" marT="54864" marB="54864"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FFDF8"/>
                    </a:solidFill>
                  </a:tcPr>
                </a:tc>
                <a:tc>
                  <a:txBody>
                    <a:bodyPr/>
                    <a:lstStyle/>
                    <a:p>
                      <a:pPr indent="0" marL="0">
                        <a:buNone/>
                      </a:pPr>
                      <a:r>
                        <a:rPr lang="en-US" sz="1500" b="1" dirty="0">
                          <a:solidFill>
                            <a:srgbClr val="13203F"/>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37160" marR="137160" marT="54864" marB="54864"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FFDF8"/>
                    </a:solidFill>
                  </a:tcPr>
                </a:tc>
              </a:tr>
              <a:tr h="475488">
                <a:tc>
                  <a:txBody>
                    <a:bodyPr/>
                    <a:lstStyle/>
                    <a:p>
                      <a:pPr indent="0" marL="0">
                        <a:buNone/>
                      </a:pPr>
                      <a:r>
                        <a:rPr lang="en-US" sz="1500" dirty="0">
                          <a:solidFill>
                            <a:srgbClr val="13203F"/>
                          </a:solidFill>
                          <a:latin typeface="Calibri" pitchFamily="34" charset="0"/>
                          <a:ea typeface="Calibri" pitchFamily="34" charset="-122"/>
                          <a:cs typeface="Calibri" pitchFamily="34" charset="-120"/>
                        </a:rPr>
                        <a:t>Integrated shopping cart</a:t>
                      </a:r>
                      <a:endParaRPr lang="en-US" sz="1500" dirty="0">
                        <a:latin typeface="Calibri" charset="0"/>
                        <a:ea typeface="Calibri" charset="0"/>
                        <a:cs typeface="Calibri" charset="0"/>
                      </a:endParaRPr>
                    </a:p>
                  </a:txBody>
                  <a:tcPr marL="137160" marR="137160" marT="54864" marB="54864"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1EEE5"/>
                    </a:solidFill>
                  </a:tcPr>
                </a:tc>
                <a:tc>
                  <a:txBody>
                    <a:bodyPr/>
                    <a:lstStyle/>
                    <a:p>
                      <a:pPr indent="0" marL="0">
                        <a:buNone/>
                      </a:pPr>
                      <a:r>
                        <a:rPr lang="en-US" sz="1500" dirty="0">
                          <a:solidFill>
                            <a:srgbClr val="13203F"/>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37160" marR="137160" marT="54864" marB="54864"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1EEE5"/>
                    </a:solidFill>
                  </a:tcPr>
                </a:tc>
                <a:tc>
                  <a:txBody>
                    <a:bodyPr/>
                    <a:lstStyle/>
                    <a:p>
                      <a:pPr indent="0" marL="0">
                        <a:buNone/>
                      </a:pPr>
                      <a:r>
                        <a:rPr lang="en-US" sz="1500" dirty="0">
                          <a:solidFill>
                            <a:srgbClr val="13203F"/>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37160" marR="137160" marT="54864" marB="54864"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1EEE5"/>
                    </a:solidFill>
                  </a:tcPr>
                </a:tc>
                <a:tc>
                  <a:txBody>
                    <a:bodyPr/>
                    <a:lstStyle/>
                    <a:p>
                      <a:pPr indent="0" marL="0">
                        <a:buNone/>
                      </a:pPr>
                      <a:r>
                        <a:rPr lang="en-US" sz="1500" b="1" dirty="0">
                          <a:solidFill>
                            <a:srgbClr val="13203F"/>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37160" marR="137160" marT="54864" marB="54864"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1EEE5"/>
                    </a:solidFill>
                  </a:tcPr>
                </a:tc>
              </a:tr>
              <a:tr h="475488">
                <a:tc>
                  <a:txBody>
                    <a:bodyPr/>
                    <a:lstStyle/>
                    <a:p>
                      <a:pPr indent="0" marL="0">
                        <a:buNone/>
                      </a:pPr>
                      <a:r>
                        <a:rPr lang="en-US" sz="1500" dirty="0">
                          <a:solidFill>
                            <a:srgbClr val="13203F"/>
                          </a:solidFill>
                          <a:latin typeface="Calibri" pitchFamily="34" charset="0"/>
                          <a:ea typeface="Calibri" pitchFamily="34" charset="-122"/>
                          <a:cs typeface="Calibri" pitchFamily="34" charset="-120"/>
                        </a:rPr>
                        <a:t>In-platform checkout and order record</a:t>
                      </a:r>
                      <a:endParaRPr lang="en-US" sz="1500" dirty="0">
                        <a:latin typeface="Calibri" charset="0"/>
                        <a:ea typeface="Calibri" charset="0"/>
                        <a:cs typeface="Calibri" charset="0"/>
                      </a:endParaRPr>
                    </a:p>
                  </a:txBody>
                  <a:tcPr marL="137160" marR="137160" marT="54864" marB="54864"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FFDF8"/>
                    </a:solidFill>
                  </a:tcPr>
                </a:tc>
                <a:tc>
                  <a:txBody>
                    <a:bodyPr/>
                    <a:lstStyle/>
                    <a:p>
                      <a:pPr indent="0" marL="0">
                        <a:buNone/>
                      </a:pPr>
                      <a:r>
                        <a:rPr lang="en-US" sz="1500" dirty="0">
                          <a:solidFill>
                            <a:srgbClr val="13203F"/>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37160" marR="137160" marT="54864" marB="54864"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FFDF8"/>
                    </a:solidFill>
                  </a:tcPr>
                </a:tc>
                <a:tc>
                  <a:txBody>
                    <a:bodyPr/>
                    <a:lstStyle/>
                    <a:p>
                      <a:pPr indent="0" marL="0">
                        <a:buNone/>
                      </a:pPr>
                      <a:r>
                        <a:rPr lang="en-US" sz="1500" dirty="0">
                          <a:solidFill>
                            <a:srgbClr val="13203F"/>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37160" marR="137160" marT="54864" marB="54864"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FFDF8"/>
                    </a:solidFill>
                  </a:tcPr>
                </a:tc>
                <a:tc>
                  <a:txBody>
                    <a:bodyPr/>
                    <a:lstStyle/>
                    <a:p>
                      <a:pPr indent="0" marL="0">
                        <a:buNone/>
                      </a:pPr>
                      <a:r>
                        <a:rPr lang="en-US" sz="1500" b="1" dirty="0">
                          <a:solidFill>
                            <a:srgbClr val="13203F"/>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37160" marR="137160" marT="54864" marB="54864"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FFDF8"/>
                    </a:solidFill>
                  </a:tcPr>
                </a:tc>
              </a:tr>
              <a:tr h="475488">
                <a:tc>
                  <a:txBody>
                    <a:bodyPr/>
                    <a:lstStyle/>
                    <a:p>
                      <a:pPr indent="0" marL="0">
                        <a:buNone/>
                      </a:pPr>
                      <a:r>
                        <a:rPr lang="en-US" sz="1500" dirty="0">
                          <a:solidFill>
                            <a:srgbClr val="13203F"/>
                          </a:solidFill>
                          <a:latin typeface="Calibri" pitchFamily="34" charset="0"/>
                          <a:ea typeface="Calibri" pitchFamily="34" charset="-122"/>
                          <a:cs typeface="Calibri" pitchFamily="34" charset="-120"/>
                        </a:rPr>
                        <a:t>Multiple / partial payment tracking</a:t>
                      </a:r>
                      <a:endParaRPr lang="en-US" sz="1500" dirty="0">
                        <a:latin typeface="Calibri" charset="0"/>
                        <a:ea typeface="Calibri" charset="0"/>
                        <a:cs typeface="Calibri" charset="0"/>
                      </a:endParaRPr>
                    </a:p>
                  </a:txBody>
                  <a:tcPr marL="137160" marR="137160" marT="54864" marB="54864"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1EEE5"/>
                    </a:solidFill>
                  </a:tcPr>
                </a:tc>
                <a:tc>
                  <a:txBody>
                    <a:bodyPr/>
                    <a:lstStyle/>
                    <a:p>
                      <a:pPr indent="0" marL="0">
                        <a:buNone/>
                      </a:pPr>
                      <a:r>
                        <a:rPr lang="en-US" sz="1500" dirty="0">
                          <a:solidFill>
                            <a:srgbClr val="13203F"/>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37160" marR="137160" marT="54864" marB="54864"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1EEE5"/>
                    </a:solidFill>
                  </a:tcPr>
                </a:tc>
                <a:tc>
                  <a:txBody>
                    <a:bodyPr/>
                    <a:lstStyle/>
                    <a:p>
                      <a:pPr indent="0" marL="0">
                        <a:buNone/>
                      </a:pPr>
                      <a:r>
                        <a:rPr lang="en-US" sz="1500" dirty="0">
                          <a:solidFill>
                            <a:srgbClr val="13203F"/>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37160" marR="137160" marT="54864" marB="54864"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1EEE5"/>
                    </a:solidFill>
                  </a:tcPr>
                </a:tc>
                <a:tc>
                  <a:txBody>
                    <a:bodyPr/>
                    <a:lstStyle/>
                    <a:p>
                      <a:pPr indent="0" marL="0">
                        <a:buNone/>
                      </a:pPr>
                      <a:r>
                        <a:rPr lang="en-US" sz="1500" b="1" dirty="0">
                          <a:solidFill>
                            <a:srgbClr val="13203F"/>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37160" marR="137160" marT="54864" marB="54864"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1EEE5"/>
                    </a:solidFill>
                  </a:tcPr>
                </a:tc>
              </a:tr>
              <a:tr h="475488">
                <a:tc>
                  <a:txBody>
                    <a:bodyPr/>
                    <a:lstStyle/>
                    <a:p>
                      <a:pPr indent="0" marL="0">
                        <a:buNone/>
                      </a:pPr>
                      <a:r>
                        <a:rPr lang="en-US" sz="1500" dirty="0">
                          <a:solidFill>
                            <a:srgbClr val="13203F"/>
                          </a:solidFill>
                          <a:latin typeface="Calibri" pitchFamily="34" charset="0"/>
                          <a:ea typeface="Calibri" pitchFamily="34" charset="-122"/>
                          <a:cs typeface="Calibri" pitchFamily="34" charset="-120"/>
                        </a:rPr>
                        <a:t>Seller dashboard with sales analytics</a:t>
                      </a:r>
                      <a:endParaRPr lang="en-US" sz="1500" dirty="0">
                        <a:latin typeface="Calibri" charset="0"/>
                        <a:ea typeface="Calibri" charset="0"/>
                        <a:cs typeface="Calibri" charset="0"/>
                      </a:endParaRPr>
                    </a:p>
                  </a:txBody>
                  <a:tcPr marL="137160" marR="137160" marT="54864" marB="54864"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FFDF8"/>
                    </a:solidFill>
                  </a:tcPr>
                </a:tc>
                <a:tc>
                  <a:txBody>
                    <a:bodyPr/>
                    <a:lstStyle/>
                    <a:p>
                      <a:pPr indent="0" marL="0">
                        <a:buNone/>
                      </a:pPr>
                      <a:r>
                        <a:rPr lang="en-US" sz="1500" dirty="0">
                          <a:solidFill>
                            <a:srgbClr val="13203F"/>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37160" marR="137160" marT="54864" marB="54864"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FFDF8"/>
                    </a:solidFill>
                  </a:tcPr>
                </a:tc>
                <a:tc>
                  <a:txBody>
                    <a:bodyPr/>
                    <a:lstStyle/>
                    <a:p>
                      <a:pPr indent="0" marL="0">
                        <a:buNone/>
                      </a:pPr>
                      <a:r>
                        <a:rPr lang="en-US" sz="1500" dirty="0">
                          <a:solidFill>
                            <a:srgbClr val="13203F"/>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37160" marR="137160" marT="54864" marB="54864"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FFDF8"/>
                    </a:solidFill>
                  </a:tcPr>
                </a:tc>
                <a:tc>
                  <a:txBody>
                    <a:bodyPr/>
                    <a:lstStyle/>
                    <a:p>
                      <a:pPr indent="0" marL="0">
                        <a:buNone/>
                      </a:pPr>
                      <a:r>
                        <a:rPr lang="en-US" sz="1500" b="1" dirty="0">
                          <a:solidFill>
                            <a:srgbClr val="13203F"/>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37160" marR="137160" marT="54864" marB="54864"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FFDF8"/>
                    </a:solidFill>
                  </a:tcPr>
                </a:tc>
              </a:tr>
              <a:tr h="475488">
                <a:tc>
                  <a:txBody>
                    <a:bodyPr/>
                    <a:lstStyle/>
                    <a:p>
                      <a:pPr indent="0" marL="0">
                        <a:buNone/>
                      </a:pPr>
                      <a:r>
                        <a:rPr lang="en-US" sz="1500" dirty="0">
                          <a:solidFill>
                            <a:srgbClr val="13203F"/>
                          </a:solidFill>
                          <a:latin typeface="Calibri" pitchFamily="34" charset="0"/>
                          <a:ea typeface="Calibri" pitchFamily="34" charset="-122"/>
                          <a:cs typeface="Calibri" pitchFamily="34" charset="-120"/>
                        </a:rPr>
                        <a:t>Central administrative oversight</a:t>
                      </a:r>
                      <a:endParaRPr lang="en-US" sz="1500" dirty="0">
                        <a:latin typeface="Calibri" charset="0"/>
                        <a:ea typeface="Calibri" charset="0"/>
                        <a:cs typeface="Calibri" charset="0"/>
                      </a:endParaRPr>
                    </a:p>
                  </a:txBody>
                  <a:tcPr marL="137160" marR="137160" marT="54864" marB="54864"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1EEE5"/>
                    </a:solidFill>
                  </a:tcPr>
                </a:tc>
                <a:tc>
                  <a:txBody>
                    <a:bodyPr/>
                    <a:lstStyle/>
                    <a:p>
                      <a:pPr indent="0" marL="0">
                        <a:buNone/>
                      </a:pPr>
                      <a:r>
                        <a:rPr lang="en-US" sz="1500" dirty="0">
                          <a:solidFill>
                            <a:srgbClr val="13203F"/>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37160" marR="137160" marT="54864" marB="54864"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1EEE5"/>
                    </a:solidFill>
                  </a:tcPr>
                </a:tc>
                <a:tc>
                  <a:txBody>
                    <a:bodyPr/>
                    <a:lstStyle/>
                    <a:p>
                      <a:pPr indent="0" marL="0">
                        <a:buNone/>
                      </a:pPr>
                      <a:r>
                        <a:rPr lang="en-US" sz="1500" dirty="0">
                          <a:solidFill>
                            <a:srgbClr val="13203F"/>
                          </a:solidFill>
                          <a:latin typeface="Calibri" pitchFamily="34" charset="0"/>
                          <a:ea typeface="Calibri" pitchFamily="34" charset="-122"/>
                          <a:cs typeface="Calibri" pitchFamily="34" charset="-120"/>
                        </a:rPr>
                        <a:t>Limited</a:t>
                      </a:r>
                      <a:endParaRPr lang="en-US" sz="1500" dirty="0">
                        <a:latin typeface="Calibri" charset="0"/>
                        <a:ea typeface="Calibri" charset="0"/>
                        <a:cs typeface="Calibri" charset="0"/>
                      </a:endParaRPr>
                    </a:p>
                  </a:txBody>
                  <a:tcPr marL="137160" marR="137160" marT="54864" marB="54864"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1EEE5"/>
                    </a:solidFill>
                  </a:tcPr>
                </a:tc>
                <a:tc>
                  <a:txBody>
                    <a:bodyPr/>
                    <a:lstStyle/>
                    <a:p>
                      <a:pPr indent="0" marL="0">
                        <a:buNone/>
                      </a:pPr>
                      <a:r>
                        <a:rPr lang="en-US" sz="1500" b="1" dirty="0">
                          <a:solidFill>
                            <a:srgbClr val="13203F"/>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37160" marR="137160" marT="54864" marB="54864"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1EEE5"/>
                    </a:solidFill>
                  </a:tcPr>
                </a:tc>
              </a:tr>
            </a:tbl>
          </a:graphicData>
        </a:graphic>
      </p:graphicFrame>
      <p:sp>
        <p:nvSpPr>
          <p:cNvPr id="6" name="Text 3"/>
          <p:cNvSpPr txBox="1"/>
          <p:nvPr/>
        </p:nvSpPr>
        <p:spPr>
          <a:xfrm>
            <a:off x="548640" y="5212080"/>
            <a:ext cx="11094415" cy="457200"/>
          </a:xfrm>
          <a:prstGeom prst="rect">
            <a:avLst/>
          </a:prstGeom>
          <a:noFill/>
          <a:ln/>
        </p:spPr>
        <p:txBody>
          <a:bodyPr wrap="square" lIns="0" tIns="0" rIns="0" bIns="0" rtlCol="0" anchor="t"/>
          <a:lstStyle/>
          <a:p>
            <a:pPr indent="0" marL="0">
              <a:buNone/>
            </a:pPr>
            <a:r>
              <a:rPr lang="en-US" sz="1600" b="1" dirty="0">
                <a:solidFill>
                  <a:srgbClr val="13203F"/>
                </a:solidFill>
                <a:latin typeface="Calibri" pitchFamily="34" charset="0"/>
                <a:ea typeface="Calibri" pitchFamily="34" charset="-122"/>
                <a:cs typeface="Calibri" pitchFamily="34" charset="-120"/>
              </a:rPr>
              <a:t>Research gap: </a:t>
            </a:r>
            <a:pPr indent="0" marL="0">
              <a:buNone/>
            </a:pPr>
            <a:r>
              <a:rPr lang="en-US" sz="1600" dirty="0">
                <a:solidFill>
                  <a:srgbClr val="3A4560"/>
                </a:solidFill>
                <a:latin typeface="Calibri" pitchFamily="34" charset="0"/>
                <a:ea typeface="Calibri" pitchFamily="34" charset="-122"/>
                <a:cs typeface="Calibri" pitchFamily="34" charset="-120"/>
              </a:rPr>
              <a:t>local platforms only list items; none manage the order and payment inside the system.</a:t>
            </a:r>
            <a:endParaRPr lang="en-US" sz="1600" dirty="0"/>
          </a:p>
        </p:txBody>
      </p:sp>
      <p:sp>
        <p:nvSpPr>
          <p:cNvPr id="25" name="Slide Number Placeholder 0"/>
          <p:cNvSpPr>
            <a:spLocks noGrp="1"/>
          </p:cNvSpPr>
          <p:nvPr>
            <p:ph type="sldNum" sz="quarter" idx="4294967295"/>
          </p:nvPr>
        </p:nvSpPr>
        <p:spPr>
          <a:xfrm>
            <a:off x="10972800" y="6309360"/>
            <a:ext cx="670255"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200" b="1" spc="300" kern="0" dirty="0">
                <a:solidFill>
                  <a:srgbClr val="8A5F00"/>
                </a:solidFill>
                <a:latin typeface="Calibri" pitchFamily="34" charset="0"/>
                <a:ea typeface="Calibri" pitchFamily="34" charset="-122"/>
                <a:cs typeface="Calibri" pitchFamily="34" charset="-120"/>
              </a:rPr>
              <a:t>METHODOLOGY</a:t>
            </a:r>
            <a:endParaRPr lang="en-US" sz="12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t"/>
          <a:lstStyle/>
          <a:p>
            <a:pPr algn="l" indent="0" marL="0">
              <a:buNone/>
            </a:pPr>
            <a:r>
              <a:rPr lang="en-US" sz="3400" b="1" dirty="0">
                <a:solidFill>
                  <a:srgbClr val="13203F"/>
                </a:solidFill>
                <a:latin typeface="Calibri" pitchFamily="34" charset="0"/>
                <a:ea typeface="Calibri" pitchFamily="34" charset="-122"/>
                <a:cs typeface="Calibri" pitchFamily="34" charset="-120"/>
              </a:rPr>
              <a:t>Research Approach and Data Collection</a:t>
            </a:r>
            <a:endParaRPr lang="en-US" sz="3400" dirty="0"/>
          </a:p>
        </p:txBody>
      </p:sp>
      <p:sp>
        <p:nvSpPr>
          <p:cNvPr id="4" name="Text 2"/>
          <p:cNvSpPr txBox="1"/>
          <p:nvPr/>
        </p:nvSpPr>
        <p:spPr>
          <a:xfrm>
            <a:off x="548640" y="6309360"/>
            <a:ext cx="8229600" cy="2743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Beeciye · Second-Hand Market Platform</a:t>
            </a:r>
            <a:endParaRPr lang="en-US" sz="1100" dirty="0"/>
          </a:p>
        </p:txBody>
      </p:sp>
      <p:sp>
        <p:nvSpPr>
          <p:cNvPr id="5" name="Text 3"/>
          <p:cNvSpPr txBox="1"/>
          <p:nvPr/>
        </p:nvSpPr>
        <p:spPr>
          <a:xfrm>
            <a:off x="548640" y="1645920"/>
            <a:ext cx="10515600" cy="1005840"/>
          </a:xfrm>
          <a:prstGeom prst="rect">
            <a:avLst/>
          </a:prstGeom>
          <a:noFill/>
          <a:ln/>
        </p:spPr>
        <p:txBody>
          <a:bodyPr wrap="square" lIns="0" tIns="0" rIns="0" bIns="0" rtlCol="0" anchor="t"/>
          <a:lstStyle/>
          <a:p>
            <a:pPr indent="0" marL="0">
              <a:buNone/>
            </a:pPr>
            <a:r>
              <a:rPr lang="en-US" sz="2200" dirty="0">
                <a:solidFill>
                  <a:srgbClr val="13203F"/>
                </a:solidFill>
                <a:latin typeface="Calibri" pitchFamily="34" charset="0"/>
                <a:ea typeface="Calibri" pitchFamily="34" charset="-122"/>
                <a:cs typeface="Calibri" pitchFamily="34" charset="-120"/>
              </a:rPr>
              <a:t>A </a:t>
            </a:r>
            <a:pPr indent="0" marL="0">
              <a:buNone/>
            </a:pPr>
            <a:r>
              <a:rPr lang="en-US" sz="2200" b="1" dirty="0">
                <a:solidFill>
                  <a:srgbClr val="13203F"/>
                </a:solidFill>
                <a:latin typeface="Calibri" pitchFamily="34" charset="0"/>
                <a:ea typeface="Calibri" pitchFamily="34" charset="-122"/>
                <a:cs typeface="Calibri" pitchFamily="34" charset="-120"/>
              </a:rPr>
              <a:t>design-based</a:t>
            </a:r>
            <a:pPr indent="0" marL="0">
              <a:buNone/>
            </a:pPr>
            <a:r>
              <a:rPr lang="en-US" sz="2200" dirty="0">
                <a:solidFill>
                  <a:srgbClr val="13203F"/>
                </a:solidFill>
                <a:latin typeface="Calibri" pitchFamily="34" charset="0"/>
                <a:ea typeface="Calibri" pitchFamily="34" charset="-122"/>
                <a:cs typeface="Calibri" pitchFamily="34" charset="-120"/>
              </a:rPr>
              <a:t> study using an </a:t>
            </a:r>
            <a:pPr indent="0" marL="0">
              <a:buNone/>
            </a:pPr>
            <a:r>
              <a:rPr lang="en-US" sz="2200" b="1" dirty="0">
                <a:solidFill>
                  <a:srgbClr val="13203F"/>
                </a:solidFill>
                <a:latin typeface="Calibri" pitchFamily="34" charset="0"/>
                <a:ea typeface="Calibri" pitchFamily="34" charset="-122"/>
                <a:cs typeface="Calibri" pitchFamily="34" charset="-120"/>
              </a:rPr>
              <a:t>Agile, iterative SDLC</a:t>
            </a:r>
            <a:pPr indent="0" marL="0">
              <a:buNone/>
            </a:pPr>
            <a:r>
              <a:rPr lang="en-US" sz="2200" dirty="0">
                <a:solidFill>
                  <a:srgbClr val="13203F"/>
                </a:solidFill>
                <a:latin typeface="Calibri" pitchFamily="34" charset="0"/>
                <a:ea typeface="Calibri" pitchFamily="34" charset="-122"/>
                <a:cs typeface="Calibri" pitchFamily="34" charset="-120"/>
              </a:rPr>
              <a:t>: the system was built in rounds, each tested before the next.</a:t>
            </a:r>
            <a:endParaRPr lang="en-US" sz="2200" dirty="0"/>
          </a:p>
        </p:txBody>
      </p:sp>
      <p:sp>
        <p:nvSpPr>
          <p:cNvPr id="6" name="Shape 4"/>
          <p:cNvSpPr/>
          <p:nvPr/>
        </p:nvSpPr>
        <p:spPr>
          <a:xfrm>
            <a:off x="548640" y="3017520"/>
            <a:ext cx="2567864" cy="2743200"/>
          </a:xfrm>
          <a:prstGeom prst="roundRect">
            <a:avLst>
              <a:gd name="adj" fmla="val 4273"/>
            </a:avLst>
          </a:prstGeom>
          <a:solidFill>
            <a:srgbClr val="FFFDF8"/>
          </a:solidFill>
          <a:ln w="9525">
            <a:solidFill>
              <a:srgbClr val="E4DFD2"/>
            </a:solidFill>
            <a:prstDash val="solid"/>
          </a:ln>
        </p:spPr>
      </p:sp>
      <p:sp>
        <p:nvSpPr>
          <p:cNvPr id="7" name="Shape 5"/>
          <p:cNvSpPr/>
          <p:nvPr/>
        </p:nvSpPr>
        <p:spPr>
          <a:xfrm>
            <a:off x="822960" y="3337560"/>
            <a:ext cx="502920" cy="502920"/>
          </a:xfrm>
          <a:prstGeom prst="ellipse">
            <a:avLst/>
          </a:prstGeom>
          <a:solidFill>
            <a:srgbClr val="13203F"/>
          </a:solidFill>
          <a:ln/>
        </p:spPr>
      </p:sp>
      <p:sp>
        <p:nvSpPr>
          <p:cNvPr id="8" name="Text 6"/>
          <p:cNvSpPr txBox="1"/>
          <p:nvPr/>
        </p:nvSpPr>
        <p:spPr>
          <a:xfrm>
            <a:off x="822960" y="3337560"/>
            <a:ext cx="502920" cy="502920"/>
          </a:xfrm>
          <a:prstGeom prst="rect">
            <a:avLst/>
          </a:prstGeom>
          <a:noFill/>
          <a:ln/>
        </p:spPr>
        <p:txBody>
          <a:bodyPr wrap="square" lIns="0" tIns="0" rIns="0" bIns="0" rtlCol="0" anchor="ctr"/>
          <a:lstStyle/>
          <a:p>
            <a:pPr algn="ctr" indent="0" marL="0">
              <a:buNone/>
            </a:pPr>
            <a:r>
              <a:rPr lang="en-US" sz="1400" b="1" dirty="0">
                <a:solidFill>
                  <a:srgbClr val="F2B51C"/>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822960" y="4114800"/>
            <a:ext cx="2019224" cy="411480"/>
          </a:xfrm>
          <a:prstGeom prst="rect">
            <a:avLst/>
          </a:prstGeom>
          <a:noFill/>
          <a:ln/>
        </p:spPr>
        <p:txBody>
          <a:bodyPr wrap="square" lIns="0" tIns="0" rIns="0" bIns="0" rtlCol="0" anchor="t"/>
          <a:lstStyle/>
          <a:p>
            <a:pPr indent="0" marL="0">
              <a:buNone/>
            </a:pPr>
            <a:r>
              <a:rPr lang="en-US" sz="1800" b="1" dirty="0">
                <a:solidFill>
                  <a:srgbClr val="13203F"/>
                </a:solidFill>
                <a:latin typeface="Calibri" pitchFamily="34" charset="0"/>
                <a:ea typeface="Calibri" pitchFamily="34" charset="-122"/>
                <a:cs typeface="Calibri" pitchFamily="34" charset="-120"/>
              </a:rPr>
              <a:t>Interviews</a:t>
            </a:r>
            <a:endParaRPr lang="en-US" sz="1800" dirty="0"/>
          </a:p>
        </p:txBody>
      </p:sp>
      <p:sp>
        <p:nvSpPr>
          <p:cNvPr id="10" name="Text 8"/>
          <p:cNvSpPr txBox="1"/>
          <p:nvPr/>
        </p:nvSpPr>
        <p:spPr>
          <a:xfrm>
            <a:off x="822960" y="4572000"/>
            <a:ext cx="2019224" cy="1005840"/>
          </a:xfrm>
          <a:prstGeom prst="rect">
            <a:avLst/>
          </a:prstGeom>
          <a:noFill/>
          <a:ln/>
        </p:spPr>
        <p:txBody>
          <a:bodyPr wrap="square" lIns="0" tIns="0" rIns="0" bIns="0" rtlCol="0" anchor="t"/>
          <a:lstStyle/>
          <a:p>
            <a:pPr indent="0" marL="0">
              <a:buNone/>
            </a:pPr>
            <a:r>
              <a:rPr lang="en-US" sz="1400" dirty="0">
                <a:solidFill>
                  <a:srgbClr val="3A4560"/>
                </a:solidFill>
                <a:latin typeface="Calibri" pitchFamily="34" charset="0"/>
                <a:ea typeface="Calibri" pitchFamily="34" charset="-122"/>
                <a:cs typeface="Calibri" pitchFamily="34" charset="-120"/>
              </a:rPr>
              <a:t>Talks with local buyers and sellers.</a:t>
            </a:r>
            <a:endParaRPr lang="en-US" sz="1400" dirty="0"/>
          </a:p>
        </p:txBody>
      </p:sp>
      <p:sp>
        <p:nvSpPr>
          <p:cNvPr id="11" name="Shape 9"/>
          <p:cNvSpPr/>
          <p:nvPr/>
        </p:nvSpPr>
        <p:spPr>
          <a:xfrm>
            <a:off x="3390824" y="3017520"/>
            <a:ext cx="2567864" cy="2743200"/>
          </a:xfrm>
          <a:prstGeom prst="roundRect">
            <a:avLst>
              <a:gd name="adj" fmla="val 4273"/>
            </a:avLst>
          </a:prstGeom>
          <a:solidFill>
            <a:srgbClr val="FFFDF8"/>
          </a:solidFill>
          <a:ln w="9525">
            <a:solidFill>
              <a:srgbClr val="E4DFD2"/>
            </a:solidFill>
            <a:prstDash val="solid"/>
          </a:ln>
        </p:spPr>
      </p:sp>
      <p:sp>
        <p:nvSpPr>
          <p:cNvPr id="12" name="Shape 10"/>
          <p:cNvSpPr/>
          <p:nvPr/>
        </p:nvSpPr>
        <p:spPr>
          <a:xfrm>
            <a:off x="3665144" y="3337560"/>
            <a:ext cx="502920" cy="502920"/>
          </a:xfrm>
          <a:prstGeom prst="ellipse">
            <a:avLst/>
          </a:prstGeom>
          <a:solidFill>
            <a:srgbClr val="13203F"/>
          </a:solidFill>
          <a:ln/>
        </p:spPr>
      </p:sp>
      <p:sp>
        <p:nvSpPr>
          <p:cNvPr id="13" name="Text 11"/>
          <p:cNvSpPr txBox="1"/>
          <p:nvPr/>
        </p:nvSpPr>
        <p:spPr>
          <a:xfrm>
            <a:off x="3665144" y="3337560"/>
            <a:ext cx="502920" cy="502920"/>
          </a:xfrm>
          <a:prstGeom prst="rect">
            <a:avLst/>
          </a:prstGeom>
          <a:noFill/>
          <a:ln/>
        </p:spPr>
        <p:txBody>
          <a:bodyPr wrap="square" lIns="0" tIns="0" rIns="0" bIns="0" rtlCol="0" anchor="ctr"/>
          <a:lstStyle/>
          <a:p>
            <a:pPr algn="ctr" indent="0" marL="0">
              <a:buNone/>
            </a:pPr>
            <a:r>
              <a:rPr lang="en-US" sz="1400" b="1" dirty="0">
                <a:solidFill>
                  <a:srgbClr val="F2B51C"/>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3665144" y="4114800"/>
            <a:ext cx="2019224" cy="411480"/>
          </a:xfrm>
          <a:prstGeom prst="rect">
            <a:avLst/>
          </a:prstGeom>
          <a:noFill/>
          <a:ln/>
        </p:spPr>
        <p:txBody>
          <a:bodyPr wrap="square" lIns="0" tIns="0" rIns="0" bIns="0" rtlCol="0" anchor="t"/>
          <a:lstStyle/>
          <a:p>
            <a:pPr indent="0" marL="0">
              <a:buNone/>
            </a:pPr>
            <a:r>
              <a:rPr lang="en-US" sz="1800" b="1" dirty="0">
                <a:solidFill>
                  <a:srgbClr val="13203F"/>
                </a:solidFill>
                <a:latin typeface="Calibri" pitchFamily="34" charset="0"/>
                <a:ea typeface="Calibri" pitchFamily="34" charset="-122"/>
                <a:cs typeface="Calibri" pitchFamily="34" charset="-120"/>
              </a:rPr>
              <a:t>Observation</a:t>
            </a:r>
            <a:endParaRPr lang="en-US" sz="1800" dirty="0"/>
          </a:p>
        </p:txBody>
      </p:sp>
      <p:sp>
        <p:nvSpPr>
          <p:cNvPr id="15" name="Text 13"/>
          <p:cNvSpPr txBox="1"/>
          <p:nvPr/>
        </p:nvSpPr>
        <p:spPr>
          <a:xfrm>
            <a:off x="3665144" y="4572000"/>
            <a:ext cx="2019224" cy="1005840"/>
          </a:xfrm>
          <a:prstGeom prst="rect">
            <a:avLst/>
          </a:prstGeom>
          <a:noFill/>
          <a:ln/>
        </p:spPr>
        <p:txBody>
          <a:bodyPr wrap="square" lIns="0" tIns="0" rIns="0" bIns="0" rtlCol="0" anchor="t"/>
          <a:lstStyle/>
          <a:p>
            <a:pPr indent="0" marL="0">
              <a:buNone/>
            </a:pPr>
            <a:r>
              <a:rPr lang="en-US" sz="1400" dirty="0">
                <a:solidFill>
                  <a:srgbClr val="3A4560"/>
                </a:solidFill>
                <a:latin typeface="Calibri" pitchFamily="34" charset="0"/>
                <a:ea typeface="Calibri" pitchFamily="34" charset="-122"/>
                <a:cs typeface="Calibri" pitchFamily="34" charset="-120"/>
              </a:rPr>
              <a:t>How Facebook groups and OLX-style listings are used.</a:t>
            </a:r>
            <a:endParaRPr lang="en-US" sz="1400" dirty="0"/>
          </a:p>
        </p:txBody>
      </p:sp>
      <p:sp>
        <p:nvSpPr>
          <p:cNvPr id="16" name="Shape 14"/>
          <p:cNvSpPr/>
          <p:nvPr/>
        </p:nvSpPr>
        <p:spPr>
          <a:xfrm>
            <a:off x="6233008" y="3017520"/>
            <a:ext cx="2567864" cy="2743200"/>
          </a:xfrm>
          <a:prstGeom prst="roundRect">
            <a:avLst>
              <a:gd name="adj" fmla="val 4273"/>
            </a:avLst>
          </a:prstGeom>
          <a:solidFill>
            <a:srgbClr val="13203F"/>
          </a:solidFill>
          <a:ln w="9525">
            <a:solidFill>
              <a:srgbClr val="13203F"/>
            </a:solidFill>
            <a:prstDash val="solid"/>
          </a:ln>
        </p:spPr>
      </p:sp>
      <p:sp>
        <p:nvSpPr>
          <p:cNvPr id="17" name="Text 15"/>
          <p:cNvSpPr txBox="1"/>
          <p:nvPr/>
        </p:nvSpPr>
        <p:spPr>
          <a:xfrm>
            <a:off x="6507328" y="3291840"/>
            <a:ext cx="1828800" cy="685800"/>
          </a:xfrm>
          <a:prstGeom prst="rect">
            <a:avLst/>
          </a:prstGeom>
          <a:noFill/>
          <a:ln/>
        </p:spPr>
        <p:txBody>
          <a:bodyPr wrap="square" lIns="0" tIns="0" rIns="0" bIns="0" rtlCol="0" anchor="t"/>
          <a:lstStyle/>
          <a:p>
            <a:pPr indent="0" marL="0">
              <a:buNone/>
            </a:pPr>
            <a:r>
              <a:rPr lang="en-US" sz="4000" b="1" dirty="0">
                <a:solidFill>
                  <a:srgbClr val="F2B51C"/>
                </a:solidFill>
                <a:latin typeface="Calibri" pitchFamily="34" charset="0"/>
                <a:ea typeface="Calibri" pitchFamily="34" charset="-122"/>
                <a:cs typeface="Calibri" pitchFamily="34" charset="-120"/>
              </a:rPr>
              <a:t>30</a:t>
            </a:r>
            <a:endParaRPr lang="en-US" sz="4000" dirty="0"/>
          </a:p>
        </p:txBody>
      </p:sp>
      <p:sp>
        <p:nvSpPr>
          <p:cNvPr id="18" name="Text 16"/>
          <p:cNvSpPr txBox="1"/>
          <p:nvPr/>
        </p:nvSpPr>
        <p:spPr>
          <a:xfrm>
            <a:off x="6507328" y="4114800"/>
            <a:ext cx="2019224" cy="411480"/>
          </a:xfrm>
          <a:prstGeom prst="rect">
            <a:avLst/>
          </a:prstGeom>
          <a:noFill/>
          <a:ln/>
        </p:spPr>
        <p:txBody>
          <a:bodyPr wrap="square" lIns="0" tIns="0" rIns="0" bIns="0" rtlCol="0" anchor="t"/>
          <a:lstStyle/>
          <a:p>
            <a:pPr indent="0" marL="0">
              <a:buNone/>
            </a:pPr>
            <a:r>
              <a:rPr lang="en-US" sz="1800" b="1" dirty="0">
                <a:solidFill>
                  <a:srgbClr val="F7F5EF"/>
                </a:solidFill>
                <a:latin typeface="Calibri" pitchFamily="34" charset="0"/>
                <a:ea typeface="Calibri" pitchFamily="34" charset="-122"/>
                <a:cs typeface="Calibri" pitchFamily="34" charset="-120"/>
              </a:rPr>
              <a:t>Questionnaire</a:t>
            </a:r>
            <a:endParaRPr lang="en-US" sz="1800" dirty="0"/>
          </a:p>
        </p:txBody>
      </p:sp>
      <p:sp>
        <p:nvSpPr>
          <p:cNvPr id="19" name="Text 17"/>
          <p:cNvSpPr txBox="1"/>
          <p:nvPr/>
        </p:nvSpPr>
        <p:spPr>
          <a:xfrm>
            <a:off x="6507328" y="4572000"/>
            <a:ext cx="2019224" cy="1005840"/>
          </a:xfrm>
          <a:prstGeom prst="rect">
            <a:avLst/>
          </a:prstGeom>
          <a:noFill/>
          <a:ln/>
        </p:spPr>
        <p:txBody>
          <a:bodyPr wrap="square" lIns="0" tIns="0" rIns="0" bIns="0" rtlCol="0" anchor="t"/>
          <a:lstStyle/>
          <a:p>
            <a:pPr indent="0" marL="0">
              <a:buNone/>
            </a:pPr>
            <a:r>
              <a:rPr lang="en-US" sz="1400" dirty="0">
                <a:solidFill>
                  <a:srgbClr val="C9D1E3"/>
                </a:solidFill>
                <a:latin typeface="Calibri" pitchFamily="34" charset="0"/>
                <a:ea typeface="Calibri" pitchFamily="34" charset="-122"/>
                <a:cs typeface="Calibri" pitchFamily="34" charset="-120"/>
              </a:rPr>
              <a:t>Respondents in Garowe, with Likert-scale items.</a:t>
            </a:r>
            <a:endParaRPr lang="en-US" sz="1400" dirty="0"/>
          </a:p>
        </p:txBody>
      </p:sp>
      <p:sp>
        <p:nvSpPr>
          <p:cNvPr id="20" name="Shape 18"/>
          <p:cNvSpPr/>
          <p:nvPr/>
        </p:nvSpPr>
        <p:spPr>
          <a:xfrm>
            <a:off x="9075191" y="3017520"/>
            <a:ext cx="2567864" cy="2743200"/>
          </a:xfrm>
          <a:prstGeom prst="roundRect">
            <a:avLst>
              <a:gd name="adj" fmla="val 4273"/>
            </a:avLst>
          </a:prstGeom>
          <a:solidFill>
            <a:srgbClr val="FFFDF8"/>
          </a:solidFill>
          <a:ln w="9525">
            <a:solidFill>
              <a:srgbClr val="E4DFD2"/>
            </a:solidFill>
            <a:prstDash val="solid"/>
          </a:ln>
        </p:spPr>
      </p:sp>
      <p:sp>
        <p:nvSpPr>
          <p:cNvPr id="21" name="Shape 19"/>
          <p:cNvSpPr/>
          <p:nvPr/>
        </p:nvSpPr>
        <p:spPr>
          <a:xfrm>
            <a:off x="9349511" y="3337560"/>
            <a:ext cx="502920" cy="502920"/>
          </a:xfrm>
          <a:prstGeom prst="ellipse">
            <a:avLst/>
          </a:prstGeom>
          <a:solidFill>
            <a:srgbClr val="13203F"/>
          </a:solidFill>
          <a:ln/>
        </p:spPr>
      </p:sp>
      <p:sp>
        <p:nvSpPr>
          <p:cNvPr id="22" name="Text 20"/>
          <p:cNvSpPr txBox="1"/>
          <p:nvPr/>
        </p:nvSpPr>
        <p:spPr>
          <a:xfrm>
            <a:off x="9349511" y="3337560"/>
            <a:ext cx="502920" cy="502920"/>
          </a:xfrm>
          <a:prstGeom prst="rect">
            <a:avLst/>
          </a:prstGeom>
          <a:noFill/>
          <a:ln/>
        </p:spPr>
        <p:txBody>
          <a:bodyPr wrap="square" lIns="0" tIns="0" rIns="0" bIns="0" rtlCol="0" anchor="ctr"/>
          <a:lstStyle/>
          <a:p>
            <a:pPr algn="ctr" indent="0" marL="0">
              <a:buNone/>
            </a:pPr>
            <a:r>
              <a:rPr lang="en-US" sz="1400" b="1" dirty="0">
                <a:solidFill>
                  <a:srgbClr val="F2B51C"/>
                </a:solidFill>
                <a:latin typeface="Calibri" pitchFamily="34" charset="0"/>
                <a:ea typeface="Calibri" pitchFamily="34" charset="-122"/>
                <a:cs typeface="Calibri" pitchFamily="34" charset="-120"/>
              </a:rPr>
              <a:t>4</a:t>
            </a:r>
            <a:endParaRPr lang="en-US" sz="1400" dirty="0"/>
          </a:p>
        </p:txBody>
      </p:sp>
      <p:sp>
        <p:nvSpPr>
          <p:cNvPr id="23" name="Text 21"/>
          <p:cNvSpPr txBox="1"/>
          <p:nvPr/>
        </p:nvSpPr>
        <p:spPr>
          <a:xfrm>
            <a:off x="9349511" y="4114800"/>
            <a:ext cx="2019224" cy="411480"/>
          </a:xfrm>
          <a:prstGeom prst="rect">
            <a:avLst/>
          </a:prstGeom>
          <a:noFill/>
          <a:ln/>
        </p:spPr>
        <p:txBody>
          <a:bodyPr wrap="square" lIns="0" tIns="0" rIns="0" bIns="0" rtlCol="0" anchor="t"/>
          <a:lstStyle/>
          <a:p>
            <a:pPr indent="0" marL="0">
              <a:buNone/>
            </a:pPr>
            <a:r>
              <a:rPr lang="en-US" sz="1800" b="1" dirty="0">
                <a:solidFill>
                  <a:srgbClr val="13203F"/>
                </a:solidFill>
                <a:latin typeface="Calibri" pitchFamily="34" charset="0"/>
                <a:ea typeface="Calibri" pitchFamily="34" charset="-122"/>
                <a:cs typeface="Calibri" pitchFamily="34" charset="-120"/>
              </a:rPr>
              <a:t>System review</a:t>
            </a:r>
            <a:endParaRPr lang="en-US" sz="1800" dirty="0"/>
          </a:p>
        </p:txBody>
      </p:sp>
      <p:sp>
        <p:nvSpPr>
          <p:cNvPr id="24" name="Text 22"/>
          <p:cNvSpPr txBox="1"/>
          <p:nvPr/>
        </p:nvSpPr>
        <p:spPr>
          <a:xfrm>
            <a:off x="9349511" y="4572000"/>
            <a:ext cx="2019224" cy="1005840"/>
          </a:xfrm>
          <a:prstGeom prst="rect">
            <a:avLst/>
          </a:prstGeom>
          <a:noFill/>
          <a:ln/>
        </p:spPr>
        <p:txBody>
          <a:bodyPr wrap="square" lIns="0" tIns="0" rIns="0" bIns="0" rtlCol="0" anchor="t"/>
          <a:lstStyle/>
          <a:p>
            <a:pPr indent="0" marL="0">
              <a:buNone/>
            </a:pPr>
            <a:r>
              <a:rPr lang="en-US" sz="1400" dirty="0">
                <a:solidFill>
                  <a:srgbClr val="3A4560"/>
                </a:solidFill>
                <a:latin typeface="Calibri" pitchFamily="34" charset="0"/>
                <a:ea typeface="Calibri" pitchFamily="34" charset="-122"/>
                <a:cs typeface="Calibri" pitchFamily="34" charset="-120"/>
              </a:rPr>
              <a:t>Comparison of existing platforms.</a:t>
            </a:r>
            <a:endParaRPr lang="en-US" sz="1400" dirty="0"/>
          </a:p>
        </p:txBody>
      </p:sp>
      <p:sp>
        <p:nvSpPr>
          <p:cNvPr id="25" name="Slide Number Placeholder 0"/>
          <p:cNvSpPr>
            <a:spLocks noGrp="1"/>
          </p:cNvSpPr>
          <p:nvPr>
            <p:ph type="sldNum" sz="quarter" idx="4294967295"/>
          </p:nvPr>
        </p:nvSpPr>
        <p:spPr>
          <a:xfrm>
            <a:off x="10972800" y="6309360"/>
            <a:ext cx="670255"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200" b="1" spc="300" kern="0" dirty="0">
                <a:solidFill>
                  <a:srgbClr val="8A5F00"/>
                </a:solidFill>
                <a:latin typeface="Calibri" pitchFamily="34" charset="0"/>
                <a:ea typeface="Calibri" pitchFamily="34" charset="-122"/>
                <a:cs typeface="Calibri" pitchFamily="34" charset="-120"/>
              </a:rPr>
              <a:t>METHODOLOGY</a:t>
            </a:r>
            <a:endParaRPr lang="en-US" sz="12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t"/>
          <a:lstStyle/>
          <a:p>
            <a:pPr algn="l" indent="0" marL="0">
              <a:buNone/>
            </a:pPr>
            <a:r>
              <a:rPr lang="en-US" sz="3400" b="1" dirty="0">
                <a:solidFill>
                  <a:srgbClr val="13203F"/>
                </a:solidFill>
                <a:latin typeface="Calibri" pitchFamily="34" charset="0"/>
                <a:ea typeface="Calibri" pitchFamily="34" charset="-122"/>
                <a:cs typeface="Calibri" pitchFamily="34" charset="-120"/>
              </a:rPr>
              <a:t>Eleven Development Rounds</a:t>
            </a:r>
            <a:endParaRPr lang="en-US" sz="3400" dirty="0"/>
          </a:p>
        </p:txBody>
      </p:sp>
      <p:sp>
        <p:nvSpPr>
          <p:cNvPr id="4" name="Text 2"/>
          <p:cNvSpPr txBox="1"/>
          <p:nvPr/>
        </p:nvSpPr>
        <p:spPr>
          <a:xfrm>
            <a:off x="548640" y="6309360"/>
            <a:ext cx="8229600" cy="2743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Beeciye · Second-Hand Market Platform</a:t>
            </a:r>
            <a:endParaRPr lang="en-US" sz="1100" dirty="0"/>
          </a:p>
        </p:txBody>
      </p:sp>
      <p:sp>
        <p:nvSpPr>
          <p:cNvPr id="5" name="Shape 3"/>
          <p:cNvSpPr/>
          <p:nvPr/>
        </p:nvSpPr>
        <p:spPr>
          <a:xfrm>
            <a:off x="548640" y="1691640"/>
            <a:ext cx="2567864" cy="1234440"/>
          </a:xfrm>
          <a:prstGeom prst="roundRect">
            <a:avLst>
              <a:gd name="adj" fmla="val 8889"/>
            </a:avLst>
          </a:prstGeom>
          <a:solidFill>
            <a:srgbClr val="FFFDF8"/>
          </a:solidFill>
          <a:ln w="9525">
            <a:solidFill>
              <a:srgbClr val="E4DFD2"/>
            </a:solidFill>
            <a:prstDash val="solid"/>
          </a:ln>
        </p:spPr>
      </p:sp>
      <p:sp>
        <p:nvSpPr>
          <p:cNvPr id="6" name="Text 4"/>
          <p:cNvSpPr txBox="1"/>
          <p:nvPr/>
        </p:nvSpPr>
        <p:spPr>
          <a:xfrm>
            <a:off x="777240" y="1874520"/>
            <a:ext cx="2110664" cy="274320"/>
          </a:xfrm>
          <a:prstGeom prst="rect">
            <a:avLst/>
          </a:prstGeom>
          <a:noFill/>
          <a:ln/>
        </p:spPr>
        <p:txBody>
          <a:bodyPr wrap="square" lIns="0" tIns="0" rIns="0" bIns="0" rtlCol="0" anchor="t"/>
          <a:lstStyle/>
          <a:p>
            <a:pPr indent="0" marL="0">
              <a:buNone/>
            </a:pPr>
            <a:r>
              <a:rPr lang="en-US" sz="1200" b="1" spc="100" kern="0" dirty="0">
                <a:solidFill>
                  <a:srgbClr val="8A5F00"/>
                </a:solidFill>
                <a:latin typeface="Calibri" pitchFamily="34" charset="0"/>
                <a:ea typeface="Calibri" pitchFamily="34" charset="-122"/>
                <a:cs typeface="Calibri" pitchFamily="34" charset="-120"/>
              </a:rPr>
              <a:t>ROUND 1</a:t>
            </a:r>
            <a:endParaRPr lang="en-US" sz="1200" dirty="0"/>
          </a:p>
        </p:txBody>
      </p:sp>
      <p:sp>
        <p:nvSpPr>
          <p:cNvPr id="7" name="Text 5"/>
          <p:cNvSpPr txBox="1"/>
          <p:nvPr/>
        </p:nvSpPr>
        <p:spPr>
          <a:xfrm>
            <a:off x="777240" y="2194560"/>
            <a:ext cx="2110664" cy="640080"/>
          </a:xfrm>
          <a:prstGeom prst="rect">
            <a:avLst/>
          </a:prstGeom>
          <a:noFill/>
          <a:ln/>
        </p:spPr>
        <p:txBody>
          <a:bodyPr wrap="square" lIns="0" tIns="0" rIns="0" bIns="0" rtlCol="0" anchor="t"/>
          <a:lstStyle/>
          <a:p>
            <a:pPr indent="0" marL="0">
              <a:buNone/>
            </a:pPr>
            <a:r>
              <a:rPr lang="en-US" sz="1500" dirty="0">
                <a:solidFill>
                  <a:srgbClr val="13203F"/>
                </a:solidFill>
                <a:latin typeface="Calibri" pitchFamily="34" charset="0"/>
                <a:ea typeface="Calibri" pitchFamily="34" charset="-122"/>
                <a:cs typeface="Calibri" pitchFamily="34" charset="-120"/>
              </a:rPr>
              <a:t>Core scaffold and data models</a:t>
            </a:r>
            <a:endParaRPr lang="en-US" sz="1500" dirty="0"/>
          </a:p>
        </p:txBody>
      </p:sp>
      <p:sp>
        <p:nvSpPr>
          <p:cNvPr id="8" name="Shape 6"/>
          <p:cNvSpPr/>
          <p:nvPr/>
        </p:nvSpPr>
        <p:spPr>
          <a:xfrm>
            <a:off x="3390824" y="1691640"/>
            <a:ext cx="2567864" cy="1234440"/>
          </a:xfrm>
          <a:prstGeom prst="roundRect">
            <a:avLst>
              <a:gd name="adj" fmla="val 8889"/>
            </a:avLst>
          </a:prstGeom>
          <a:solidFill>
            <a:srgbClr val="FFFDF8"/>
          </a:solidFill>
          <a:ln w="9525">
            <a:solidFill>
              <a:srgbClr val="E4DFD2"/>
            </a:solidFill>
            <a:prstDash val="solid"/>
          </a:ln>
        </p:spPr>
      </p:sp>
      <p:sp>
        <p:nvSpPr>
          <p:cNvPr id="9" name="Text 7"/>
          <p:cNvSpPr txBox="1"/>
          <p:nvPr/>
        </p:nvSpPr>
        <p:spPr>
          <a:xfrm>
            <a:off x="3619424" y="1874520"/>
            <a:ext cx="2110664" cy="274320"/>
          </a:xfrm>
          <a:prstGeom prst="rect">
            <a:avLst/>
          </a:prstGeom>
          <a:noFill/>
          <a:ln/>
        </p:spPr>
        <p:txBody>
          <a:bodyPr wrap="square" lIns="0" tIns="0" rIns="0" bIns="0" rtlCol="0" anchor="t"/>
          <a:lstStyle/>
          <a:p>
            <a:pPr indent="0" marL="0">
              <a:buNone/>
            </a:pPr>
            <a:r>
              <a:rPr lang="en-US" sz="1200" b="1" spc="100" kern="0" dirty="0">
                <a:solidFill>
                  <a:srgbClr val="8A5F00"/>
                </a:solidFill>
                <a:latin typeface="Calibri" pitchFamily="34" charset="0"/>
                <a:ea typeface="Calibri" pitchFamily="34" charset="-122"/>
                <a:cs typeface="Calibri" pitchFamily="34" charset="-120"/>
              </a:rPr>
              <a:t>ROUND 2</a:t>
            </a:r>
            <a:endParaRPr lang="en-US" sz="1200" dirty="0"/>
          </a:p>
        </p:txBody>
      </p:sp>
      <p:sp>
        <p:nvSpPr>
          <p:cNvPr id="10" name="Text 8"/>
          <p:cNvSpPr txBox="1"/>
          <p:nvPr/>
        </p:nvSpPr>
        <p:spPr>
          <a:xfrm>
            <a:off x="3619424" y="2194560"/>
            <a:ext cx="2110664" cy="640080"/>
          </a:xfrm>
          <a:prstGeom prst="rect">
            <a:avLst/>
          </a:prstGeom>
          <a:noFill/>
          <a:ln/>
        </p:spPr>
        <p:txBody>
          <a:bodyPr wrap="square" lIns="0" tIns="0" rIns="0" bIns="0" rtlCol="0" anchor="t"/>
          <a:lstStyle/>
          <a:p>
            <a:pPr indent="0" marL="0">
              <a:buNone/>
            </a:pPr>
            <a:r>
              <a:rPr lang="en-US" sz="1500" dirty="0">
                <a:solidFill>
                  <a:srgbClr val="13203F"/>
                </a:solidFill>
                <a:latin typeface="Calibri" pitchFamily="34" charset="0"/>
                <a:ea typeface="Calibri" pitchFamily="34" charset="-122"/>
                <a:cs typeface="Calibri" pitchFamily="34" charset="-120"/>
              </a:rPr>
              <a:t>Login, products, cart, checkout</a:t>
            </a:r>
            <a:endParaRPr lang="en-US" sz="1500" dirty="0"/>
          </a:p>
        </p:txBody>
      </p:sp>
      <p:sp>
        <p:nvSpPr>
          <p:cNvPr id="11" name="Shape 9"/>
          <p:cNvSpPr/>
          <p:nvPr/>
        </p:nvSpPr>
        <p:spPr>
          <a:xfrm>
            <a:off x="6233008" y="1691640"/>
            <a:ext cx="2567864" cy="1234440"/>
          </a:xfrm>
          <a:prstGeom prst="roundRect">
            <a:avLst>
              <a:gd name="adj" fmla="val 8889"/>
            </a:avLst>
          </a:prstGeom>
          <a:solidFill>
            <a:srgbClr val="FFFDF8"/>
          </a:solidFill>
          <a:ln w="9525">
            <a:solidFill>
              <a:srgbClr val="E4DFD2"/>
            </a:solidFill>
            <a:prstDash val="solid"/>
          </a:ln>
        </p:spPr>
      </p:sp>
      <p:sp>
        <p:nvSpPr>
          <p:cNvPr id="12" name="Text 10"/>
          <p:cNvSpPr txBox="1"/>
          <p:nvPr/>
        </p:nvSpPr>
        <p:spPr>
          <a:xfrm>
            <a:off x="6461608" y="1874520"/>
            <a:ext cx="2110664" cy="274320"/>
          </a:xfrm>
          <a:prstGeom prst="rect">
            <a:avLst/>
          </a:prstGeom>
          <a:noFill/>
          <a:ln/>
        </p:spPr>
        <p:txBody>
          <a:bodyPr wrap="square" lIns="0" tIns="0" rIns="0" bIns="0" rtlCol="0" anchor="t"/>
          <a:lstStyle/>
          <a:p>
            <a:pPr indent="0" marL="0">
              <a:buNone/>
            </a:pPr>
            <a:r>
              <a:rPr lang="en-US" sz="1200" b="1" spc="100" kern="0" dirty="0">
                <a:solidFill>
                  <a:srgbClr val="8A5F00"/>
                </a:solidFill>
                <a:latin typeface="Calibri" pitchFamily="34" charset="0"/>
                <a:ea typeface="Calibri" pitchFamily="34" charset="-122"/>
                <a:cs typeface="Calibri" pitchFamily="34" charset="-120"/>
              </a:rPr>
              <a:t>ROUND 3</a:t>
            </a:r>
            <a:endParaRPr lang="en-US" sz="1200" dirty="0"/>
          </a:p>
        </p:txBody>
      </p:sp>
      <p:sp>
        <p:nvSpPr>
          <p:cNvPr id="13" name="Text 11"/>
          <p:cNvSpPr txBox="1"/>
          <p:nvPr/>
        </p:nvSpPr>
        <p:spPr>
          <a:xfrm>
            <a:off x="6461608" y="2194560"/>
            <a:ext cx="2110664" cy="640080"/>
          </a:xfrm>
          <a:prstGeom prst="rect">
            <a:avLst/>
          </a:prstGeom>
          <a:noFill/>
          <a:ln/>
        </p:spPr>
        <p:txBody>
          <a:bodyPr wrap="square" lIns="0" tIns="0" rIns="0" bIns="0" rtlCol="0" anchor="t"/>
          <a:lstStyle/>
          <a:p>
            <a:pPr indent="0" marL="0">
              <a:buNone/>
            </a:pPr>
            <a:r>
              <a:rPr lang="en-US" sz="1500" dirty="0">
                <a:solidFill>
                  <a:srgbClr val="13203F"/>
                </a:solidFill>
                <a:latin typeface="Calibri" pitchFamily="34" charset="0"/>
                <a:ea typeface="Calibri" pitchFamily="34" charset="-122"/>
                <a:cs typeface="Calibri" pitchFamily="34" charset="-120"/>
              </a:rPr>
              <a:t>Navy-and-gold redesign</a:t>
            </a:r>
            <a:endParaRPr lang="en-US" sz="1500" dirty="0"/>
          </a:p>
        </p:txBody>
      </p:sp>
      <p:sp>
        <p:nvSpPr>
          <p:cNvPr id="14" name="Shape 12"/>
          <p:cNvSpPr/>
          <p:nvPr/>
        </p:nvSpPr>
        <p:spPr>
          <a:xfrm>
            <a:off x="9075191" y="1691640"/>
            <a:ext cx="2567864" cy="1234440"/>
          </a:xfrm>
          <a:prstGeom prst="roundRect">
            <a:avLst>
              <a:gd name="adj" fmla="val 8889"/>
            </a:avLst>
          </a:prstGeom>
          <a:solidFill>
            <a:srgbClr val="FFFDF8"/>
          </a:solidFill>
          <a:ln w="9525">
            <a:solidFill>
              <a:srgbClr val="E4DFD2"/>
            </a:solidFill>
            <a:prstDash val="solid"/>
          </a:ln>
        </p:spPr>
      </p:sp>
      <p:sp>
        <p:nvSpPr>
          <p:cNvPr id="15" name="Text 13"/>
          <p:cNvSpPr txBox="1"/>
          <p:nvPr/>
        </p:nvSpPr>
        <p:spPr>
          <a:xfrm>
            <a:off x="9303791" y="1874520"/>
            <a:ext cx="2110664" cy="274320"/>
          </a:xfrm>
          <a:prstGeom prst="rect">
            <a:avLst/>
          </a:prstGeom>
          <a:noFill/>
          <a:ln/>
        </p:spPr>
        <p:txBody>
          <a:bodyPr wrap="square" lIns="0" tIns="0" rIns="0" bIns="0" rtlCol="0" anchor="t"/>
          <a:lstStyle/>
          <a:p>
            <a:pPr indent="0" marL="0">
              <a:buNone/>
            </a:pPr>
            <a:r>
              <a:rPr lang="en-US" sz="1200" b="1" spc="100" kern="0" dirty="0">
                <a:solidFill>
                  <a:srgbClr val="8A5F00"/>
                </a:solidFill>
                <a:latin typeface="Calibri" pitchFamily="34" charset="0"/>
                <a:ea typeface="Calibri" pitchFamily="34" charset="-122"/>
                <a:cs typeface="Calibri" pitchFamily="34" charset="-120"/>
              </a:rPr>
              <a:t>ROUND 4</a:t>
            </a:r>
            <a:endParaRPr lang="en-US" sz="1200" dirty="0"/>
          </a:p>
        </p:txBody>
      </p:sp>
      <p:sp>
        <p:nvSpPr>
          <p:cNvPr id="16" name="Text 14"/>
          <p:cNvSpPr txBox="1"/>
          <p:nvPr/>
        </p:nvSpPr>
        <p:spPr>
          <a:xfrm>
            <a:off x="9303791" y="2194560"/>
            <a:ext cx="2110664" cy="640080"/>
          </a:xfrm>
          <a:prstGeom prst="rect">
            <a:avLst/>
          </a:prstGeom>
          <a:noFill/>
          <a:ln/>
        </p:spPr>
        <p:txBody>
          <a:bodyPr wrap="square" lIns="0" tIns="0" rIns="0" bIns="0" rtlCol="0" anchor="t"/>
          <a:lstStyle/>
          <a:p>
            <a:pPr indent="0" marL="0">
              <a:buNone/>
            </a:pPr>
            <a:r>
              <a:rPr lang="en-US" sz="1500" dirty="0">
                <a:solidFill>
                  <a:srgbClr val="13203F"/>
                </a:solidFill>
                <a:latin typeface="Calibri" pitchFamily="34" charset="0"/>
                <a:ea typeface="Calibri" pitchFamily="34" charset="-122"/>
                <a:cs typeface="Calibri" pitchFamily="34" charset="-120"/>
              </a:rPr>
              <a:t>Seller and buyer merged into one User role</a:t>
            </a:r>
            <a:endParaRPr lang="en-US" sz="1500" dirty="0"/>
          </a:p>
        </p:txBody>
      </p:sp>
      <p:sp>
        <p:nvSpPr>
          <p:cNvPr id="17" name="Shape 15"/>
          <p:cNvSpPr/>
          <p:nvPr/>
        </p:nvSpPr>
        <p:spPr>
          <a:xfrm>
            <a:off x="548640" y="3154680"/>
            <a:ext cx="2567864" cy="1234440"/>
          </a:xfrm>
          <a:prstGeom prst="roundRect">
            <a:avLst>
              <a:gd name="adj" fmla="val 8889"/>
            </a:avLst>
          </a:prstGeom>
          <a:solidFill>
            <a:srgbClr val="FFFDF8"/>
          </a:solidFill>
          <a:ln w="9525">
            <a:solidFill>
              <a:srgbClr val="E4DFD2"/>
            </a:solidFill>
            <a:prstDash val="solid"/>
          </a:ln>
        </p:spPr>
      </p:sp>
      <p:sp>
        <p:nvSpPr>
          <p:cNvPr id="18" name="Text 16"/>
          <p:cNvSpPr txBox="1"/>
          <p:nvPr/>
        </p:nvSpPr>
        <p:spPr>
          <a:xfrm>
            <a:off x="777240" y="3337560"/>
            <a:ext cx="2110664" cy="274320"/>
          </a:xfrm>
          <a:prstGeom prst="rect">
            <a:avLst/>
          </a:prstGeom>
          <a:noFill/>
          <a:ln/>
        </p:spPr>
        <p:txBody>
          <a:bodyPr wrap="square" lIns="0" tIns="0" rIns="0" bIns="0" rtlCol="0" anchor="t"/>
          <a:lstStyle/>
          <a:p>
            <a:pPr indent="0" marL="0">
              <a:buNone/>
            </a:pPr>
            <a:r>
              <a:rPr lang="en-US" sz="1200" b="1" spc="100" kern="0" dirty="0">
                <a:solidFill>
                  <a:srgbClr val="8A5F00"/>
                </a:solidFill>
                <a:latin typeface="Calibri" pitchFamily="34" charset="0"/>
                <a:ea typeface="Calibri" pitchFamily="34" charset="-122"/>
                <a:cs typeface="Calibri" pitchFamily="34" charset="-120"/>
              </a:rPr>
              <a:t>ROUND 5</a:t>
            </a:r>
            <a:endParaRPr lang="en-US" sz="1200" dirty="0"/>
          </a:p>
        </p:txBody>
      </p:sp>
      <p:sp>
        <p:nvSpPr>
          <p:cNvPr id="19" name="Text 17"/>
          <p:cNvSpPr txBox="1"/>
          <p:nvPr/>
        </p:nvSpPr>
        <p:spPr>
          <a:xfrm>
            <a:off x="777240" y="3657600"/>
            <a:ext cx="2110664" cy="640080"/>
          </a:xfrm>
          <a:prstGeom prst="rect">
            <a:avLst/>
          </a:prstGeom>
          <a:noFill/>
          <a:ln/>
        </p:spPr>
        <p:txBody>
          <a:bodyPr wrap="square" lIns="0" tIns="0" rIns="0" bIns="0" rtlCol="0" anchor="t"/>
          <a:lstStyle/>
          <a:p>
            <a:pPr indent="0" marL="0">
              <a:buNone/>
            </a:pPr>
            <a:r>
              <a:rPr lang="en-US" sz="1500" dirty="0">
                <a:solidFill>
                  <a:srgbClr val="13203F"/>
                </a:solidFill>
                <a:latin typeface="Calibri" pitchFamily="34" charset="0"/>
                <a:ea typeface="Calibri" pitchFamily="34" charset="-122"/>
                <a:cs typeface="Calibri" pitchFamily="34" charset="-120"/>
              </a:rPr>
              <a:t>Multi-image gallery, admin forms</a:t>
            </a:r>
            <a:endParaRPr lang="en-US" sz="1500" dirty="0"/>
          </a:p>
        </p:txBody>
      </p:sp>
      <p:sp>
        <p:nvSpPr>
          <p:cNvPr id="20" name="Shape 18"/>
          <p:cNvSpPr/>
          <p:nvPr/>
        </p:nvSpPr>
        <p:spPr>
          <a:xfrm>
            <a:off x="3390824" y="3154680"/>
            <a:ext cx="2567864" cy="1234440"/>
          </a:xfrm>
          <a:prstGeom prst="roundRect">
            <a:avLst>
              <a:gd name="adj" fmla="val 8889"/>
            </a:avLst>
          </a:prstGeom>
          <a:solidFill>
            <a:srgbClr val="13203F"/>
          </a:solidFill>
          <a:ln w="9525">
            <a:solidFill>
              <a:srgbClr val="13203F"/>
            </a:solidFill>
            <a:prstDash val="solid"/>
          </a:ln>
        </p:spPr>
      </p:sp>
      <p:sp>
        <p:nvSpPr>
          <p:cNvPr id="21" name="Text 19"/>
          <p:cNvSpPr txBox="1"/>
          <p:nvPr/>
        </p:nvSpPr>
        <p:spPr>
          <a:xfrm>
            <a:off x="3619424" y="3337560"/>
            <a:ext cx="2110664" cy="274320"/>
          </a:xfrm>
          <a:prstGeom prst="rect">
            <a:avLst/>
          </a:prstGeom>
          <a:noFill/>
          <a:ln/>
        </p:spPr>
        <p:txBody>
          <a:bodyPr wrap="square" lIns="0" tIns="0" rIns="0" bIns="0" rtlCol="0" anchor="t"/>
          <a:lstStyle/>
          <a:p>
            <a:pPr indent="0" marL="0">
              <a:buNone/>
            </a:pPr>
            <a:r>
              <a:rPr lang="en-US" sz="1200" b="1" spc="100" kern="0" dirty="0">
                <a:solidFill>
                  <a:srgbClr val="F2B51C"/>
                </a:solidFill>
                <a:latin typeface="Calibri" pitchFamily="34" charset="0"/>
                <a:ea typeface="Calibri" pitchFamily="34" charset="-122"/>
                <a:cs typeface="Calibri" pitchFamily="34" charset="-120"/>
              </a:rPr>
              <a:t>ROUND 6</a:t>
            </a:r>
            <a:endParaRPr lang="en-US" sz="1200" dirty="0"/>
          </a:p>
        </p:txBody>
      </p:sp>
      <p:sp>
        <p:nvSpPr>
          <p:cNvPr id="22" name="Text 20"/>
          <p:cNvSpPr txBox="1"/>
          <p:nvPr/>
        </p:nvSpPr>
        <p:spPr>
          <a:xfrm>
            <a:off x="3619424" y="3657600"/>
            <a:ext cx="2110664" cy="640080"/>
          </a:xfrm>
          <a:prstGeom prst="rect">
            <a:avLst/>
          </a:prstGeom>
          <a:noFill/>
          <a:ln/>
        </p:spPr>
        <p:txBody>
          <a:bodyPr wrap="square" lIns="0" tIns="0" rIns="0" bIns="0" rtlCol="0" anchor="t"/>
          <a:lstStyle/>
          <a:p>
            <a:pPr indent="0" marL="0">
              <a:buNone/>
            </a:pPr>
            <a:r>
              <a:rPr lang="en-US" sz="1500" dirty="0">
                <a:solidFill>
                  <a:srgbClr val="F7F5EF"/>
                </a:solidFill>
                <a:latin typeface="Calibri" pitchFamily="34" charset="0"/>
                <a:ea typeface="Calibri" pitchFamily="34" charset="-122"/>
                <a:cs typeface="Calibri" pitchFamily="34" charset="-120"/>
              </a:rPr>
              <a:t>Order-to-Payment fixed to one-to-many</a:t>
            </a:r>
            <a:endParaRPr lang="en-US" sz="1500" dirty="0"/>
          </a:p>
        </p:txBody>
      </p:sp>
      <p:sp>
        <p:nvSpPr>
          <p:cNvPr id="23" name="Shape 21"/>
          <p:cNvSpPr/>
          <p:nvPr/>
        </p:nvSpPr>
        <p:spPr>
          <a:xfrm>
            <a:off x="6233008" y="3154680"/>
            <a:ext cx="2567864" cy="1234440"/>
          </a:xfrm>
          <a:prstGeom prst="roundRect">
            <a:avLst>
              <a:gd name="adj" fmla="val 8889"/>
            </a:avLst>
          </a:prstGeom>
          <a:solidFill>
            <a:srgbClr val="FFFDF8"/>
          </a:solidFill>
          <a:ln w="9525">
            <a:solidFill>
              <a:srgbClr val="E4DFD2"/>
            </a:solidFill>
            <a:prstDash val="solid"/>
          </a:ln>
        </p:spPr>
      </p:sp>
      <p:sp>
        <p:nvSpPr>
          <p:cNvPr id="24" name="Text 22"/>
          <p:cNvSpPr txBox="1"/>
          <p:nvPr/>
        </p:nvSpPr>
        <p:spPr>
          <a:xfrm>
            <a:off x="6461608" y="3337560"/>
            <a:ext cx="2110664" cy="274320"/>
          </a:xfrm>
          <a:prstGeom prst="rect">
            <a:avLst/>
          </a:prstGeom>
          <a:noFill/>
          <a:ln/>
        </p:spPr>
        <p:txBody>
          <a:bodyPr wrap="square" lIns="0" tIns="0" rIns="0" bIns="0" rtlCol="0" anchor="t"/>
          <a:lstStyle/>
          <a:p>
            <a:pPr indent="0" marL="0">
              <a:buNone/>
            </a:pPr>
            <a:r>
              <a:rPr lang="en-US" sz="1200" b="1" spc="100" kern="0" dirty="0">
                <a:solidFill>
                  <a:srgbClr val="8A5F00"/>
                </a:solidFill>
                <a:latin typeface="Calibri" pitchFamily="34" charset="0"/>
                <a:ea typeface="Calibri" pitchFamily="34" charset="-122"/>
                <a:cs typeface="Calibri" pitchFamily="34" charset="-120"/>
              </a:rPr>
              <a:t>ROUND 7</a:t>
            </a:r>
            <a:endParaRPr lang="en-US" sz="1200" dirty="0"/>
          </a:p>
        </p:txBody>
      </p:sp>
      <p:sp>
        <p:nvSpPr>
          <p:cNvPr id="25" name="Text 23"/>
          <p:cNvSpPr txBox="1"/>
          <p:nvPr/>
        </p:nvSpPr>
        <p:spPr>
          <a:xfrm>
            <a:off x="6461608" y="3657600"/>
            <a:ext cx="2110664" cy="640080"/>
          </a:xfrm>
          <a:prstGeom prst="rect">
            <a:avLst/>
          </a:prstGeom>
          <a:noFill/>
          <a:ln/>
        </p:spPr>
        <p:txBody>
          <a:bodyPr wrap="square" lIns="0" tIns="0" rIns="0" bIns="0" rtlCol="0" anchor="t"/>
          <a:lstStyle/>
          <a:p>
            <a:pPr indent="0" marL="0">
              <a:buNone/>
            </a:pPr>
            <a:r>
              <a:rPr lang="en-US" sz="1500" dirty="0">
                <a:solidFill>
                  <a:srgbClr val="13203F"/>
                </a:solidFill>
                <a:latin typeface="Calibri" pitchFamily="34" charset="0"/>
                <a:ea typeface="Calibri" pitchFamily="34" charset="-122"/>
                <a:cs typeface="Calibri" pitchFamily="34" charset="-120"/>
              </a:rPr>
              <a:t>Full end-to-end verification</a:t>
            </a:r>
            <a:endParaRPr lang="en-US" sz="1500" dirty="0"/>
          </a:p>
        </p:txBody>
      </p:sp>
      <p:sp>
        <p:nvSpPr>
          <p:cNvPr id="26" name="Shape 24"/>
          <p:cNvSpPr/>
          <p:nvPr/>
        </p:nvSpPr>
        <p:spPr>
          <a:xfrm>
            <a:off x="9075191" y="3154680"/>
            <a:ext cx="2567864" cy="1234440"/>
          </a:xfrm>
          <a:prstGeom prst="roundRect">
            <a:avLst>
              <a:gd name="adj" fmla="val 8889"/>
            </a:avLst>
          </a:prstGeom>
          <a:solidFill>
            <a:srgbClr val="FFFDF8"/>
          </a:solidFill>
          <a:ln w="9525">
            <a:solidFill>
              <a:srgbClr val="E4DFD2"/>
            </a:solidFill>
            <a:prstDash val="solid"/>
          </a:ln>
        </p:spPr>
      </p:sp>
      <p:sp>
        <p:nvSpPr>
          <p:cNvPr id="27" name="Text 25"/>
          <p:cNvSpPr txBox="1"/>
          <p:nvPr/>
        </p:nvSpPr>
        <p:spPr>
          <a:xfrm>
            <a:off x="9303791" y="3337560"/>
            <a:ext cx="2110664" cy="274320"/>
          </a:xfrm>
          <a:prstGeom prst="rect">
            <a:avLst/>
          </a:prstGeom>
          <a:noFill/>
          <a:ln/>
        </p:spPr>
        <p:txBody>
          <a:bodyPr wrap="square" lIns="0" tIns="0" rIns="0" bIns="0" rtlCol="0" anchor="t"/>
          <a:lstStyle/>
          <a:p>
            <a:pPr indent="0" marL="0">
              <a:buNone/>
            </a:pPr>
            <a:r>
              <a:rPr lang="en-US" sz="1200" b="1" spc="100" kern="0" dirty="0">
                <a:solidFill>
                  <a:srgbClr val="8A5F00"/>
                </a:solidFill>
                <a:latin typeface="Calibri" pitchFamily="34" charset="0"/>
                <a:ea typeface="Calibri" pitchFamily="34" charset="-122"/>
                <a:cs typeface="Calibri" pitchFamily="34" charset="-120"/>
              </a:rPr>
              <a:t>ROUND 8</a:t>
            </a:r>
            <a:endParaRPr lang="en-US" sz="1200" dirty="0"/>
          </a:p>
        </p:txBody>
      </p:sp>
      <p:sp>
        <p:nvSpPr>
          <p:cNvPr id="28" name="Text 26"/>
          <p:cNvSpPr txBox="1"/>
          <p:nvPr/>
        </p:nvSpPr>
        <p:spPr>
          <a:xfrm>
            <a:off x="9303791" y="3657600"/>
            <a:ext cx="2110664" cy="640080"/>
          </a:xfrm>
          <a:prstGeom prst="rect">
            <a:avLst/>
          </a:prstGeom>
          <a:noFill/>
          <a:ln/>
        </p:spPr>
        <p:txBody>
          <a:bodyPr wrap="square" lIns="0" tIns="0" rIns="0" bIns="0" rtlCol="0" anchor="t"/>
          <a:lstStyle/>
          <a:p>
            <a:pPr indent="0" marL="0">
              <a:buNone/>
            </a:pPr>
            <a:r>
              <a:rPr lang="en-US" sz="1500" dirty="0">
                <a:solidFill>
                  <a:srgbClr val="13203F"/>
                </a:solidFill>
                <a:latin typeface="Calibri" pitchFamily="34" charset="0"/>
                <a:ea typeface="Calibri" pitchFamily="34" charset="-122"/>
                <a:cs typeface="Calibri" pitchFamily="34" charset="-120"/>
              </a:rPr>
              <a:t>Guest listing without an account</a:t>
            </a:r>
            <a:endParaRPr lang="en-US" sz="1500" dirty="0"/>
          </a:p>
        </p:txBody>
      </p:sp>
      <p:sp>
        <p:nvSpPr>
          <p:cNvPr id="29" name="Shape 27"/>
          <p:cNvSpPr/>
          <p:nvPr/>
        </p:nvSpPr>
        <p:spPr>
          <a:xfrm>
            <a:off x="548640" y="4617720"/>
            <a:ext cx="2567864" cy="1234440"/>
          </a:xfrm>
          <a:prstGeom prst="roundRect">
            <a:avLst>
              <a:gd name="adj" fmla="val 8889"/>
            </a:avLst>
          </a:prstGeom>
          <a:solidFill>
            <a:srgbClr val="FFFDF8"/>
          </a:solidFill>
          <a:ln w="9525">
            <a:solidFill>
              <a:srgbClr val="E4DFD2"/>
            </a:solidFill>
            <a:prstDash val="solid"/>
          </a:ln>
        </p:spPr>
      </p:sp>
      <p:sp>
        <p:nvSpPr>
          <p:cNvPr id="30" name="Text 28"/>
          <p:cNvSpPr txBox="1"/>
          <p:nvPr/>
        </p:nvSpPr>
        <p:spPr>
          <a:xfrm>
            <a:off x="777240" y="4800600"/>
            <a:ext cx="2110664" cy="274320"/>
          </a:xfrm>
          <a:prstGeom prst="rect">
            <a:avLst/>
          </a:prstGeom>
          <a:noFill/>
          <a:ln/>
        </p:spPr>
        <p:txBody>
          <a:bodyPr wrap="square" lIns="0" tIns="0" rIns="0" bIns="0" rtlCol="0" anchor="t"/>
          <a:lstStyle/>
          <a:p>
            <a:pPr indent="0" marL="0">
              <a:buNone/>
            </a:pPr>
            <a:r>
              <a:rPr lang="en-US" sz="1200" b="1" spc="100" kern="0" dirty="0">
                <a:solidFill>
                  <a:srgbClr val="8A5F00"/>
                </a:solidFill>
                <a:latin typeface="Calibri" pitchFamily="34" charset="0"/>
                <a:ea typeface="Calibri" pitchFamily="34" charset="-122"/>
                <a:cs typeface="Calibri" pitchFamily="34" charset="-120"/>
              </a:rPr>
              <a:t>ROUND 9</a:t>
            </a:r>
            <a:endParaRPr lang="en-US" sz="1200" dirty="0"/>
          </a:p>
        </p:txBody>
      </p:sp>
      <p:sp>
        <p:nvSpPr>
          <p:cNvPr id="31" name="Text 29"/>
          <p:cNvSpPr txBox="1"/>
          <p:nvPr/>
        </p:nvSpPr>
        <p:spPr>
          <a:xfrm>
            <a:off x="777240" y="5120640"/>
            <a:ext cx="2110664" cy="640080"/>
          </a:xfrm>
          <a:prstGeom prst="rect">
            <a:avLst/>
          </a:prstGeom>
          <a:noFill/>
          <a:ln/>
        </p:spPr>
        <p:txBody>
          <a:bodyPr wrap="square" lIns="0" tIns="0" rIns="0" bIns="0" rtlCol="0" anchor="t"/>
          <a:lstStyle/>
          <a:p>
            <a:pPr indent="0" marL="0">
              <a:buNone/>
            </a:pPr>
            <a:r>
              <a:rPr lang="en-US" sz="1500" dirty="0">
                <a:solidFill>
                  <a:srgbClr val="13203F"/>
                </a:solidFill>
                <a:latin typeface="Calibri" pitchFamily="34" charset="0"/>
                <a:ea typeface="Calibri" pitchFamily="34" charset="-122"/>
                <a:cs typeface="Calibri" pitchFamily="34" charset="-120"/>
              </a:rPr>
              <a:t>Buy Now, sold-out hiding, soft delete</a:t>
            </a:r>
            <a:endParaRPr lang="en-US" sz="1500" dirty="0"/>
          </a:p>
        </p:txBody>
      </p:sp>
      <p:sp>
        <p:nvSpPr>
          <p:cNvPr id="32" name="Shape 30"/>
          <p:cNvSpPr/>
          <p:nvPr/>
        </p:nvSpPr>
        <p:spPr>
          <a:xfrm>
            <a:off x="3390824" y="4617720"/>
            <a:ext cx="2567864" cy="1234440"/>
          </a:xfrm>
          <a:prstGeom prst="roundRect">
            <a:avLst>
              <a:gd name="adj" fmla="val 8889"/>
            </a:avLst>
          </a:prstGeom>
          <a:solidFill>
            <a:srgbClr val="FFFDF8"/>
          </a:solidFill>
          <a:ln w="9525">
            <a:solidFill>
              <a:srgbClr val="E4DFD2"/>
            </a:solidFill>
            <a:prstDash val="solid"/>
          </a:ln>
        </p:spPr>
      </p:sp>
      <p:sp>
        <p:nvSpPr>
          <p:cNvPr id="33" name="Text 31"/>
          <p:cNvSpPr txBox="1"/>
          <p:nvPr/>
        </p:nvSpPr>
        <p:spPr>
          <a:xfrm>
            <a:off x="3619424" y="4800600"/>
            <a:ext cx="2110664" cy="274320"/>
          </a:xfrm>
          <a:prstGeom prst="rect">
            <a:avLst/>
          </a:prstGeom>
          <a:noFill/>
          <a:ln/>
        </p:spPr>
        <p:txBody>
          <a:bodyPr wrap="square" lIns="0" tIns="0" rIns="0" bIns="0" rtlCol="0" anchor="t"/>
          <a:lstStyle/>
          <a:p>
            <a:pPr indent="0" marL="0">
              <a:buNone/>
            </a:pPr>
            <a:r>
              <a:rPr lang="en-US" sz="1200" b="1" spc="100" kern="0" dirty="0">
                <a:solidFill>
                  <a:srgbClr val="8A5F00"/>
                </a:solidFill>
                <a:latin typeface="Calibri" pitchFamily="34" charset="0"/>
                <a:ea typeface="Calibri" pitchFamily="34" charset="-122"/>
                <a:cs typeface="Calibri" pitchFamily="34" charset="-120"/>
              </a:rPr>
              <a:t>ROUND 10</a:t>
            </a:r>
            <a:endParaRPr lang="en-US" sz="1200" dirty="0"/>
          </a:p>
        </p:txBody>
      </p:sp>
      <p:sp>
        <p:nvSpPr>
          <p:cNvPr id="34" name="Text 32"/>
          <p:cNvSpPr txBox="1"/>
          <p:nvPr/>
        </p:nvSpPr>
        <p:spPr>
          <a:xfrm>
            <a:off x="3619424" y="5120640"/>
            <a:ext cx="2110664" cy="640080"/>
          </a:xfrm>
          <a:prstGeom prst="rect">
            <a:avLst/>
          </a:prstGeom>
          <a:noFill/>
          <a:ln/>
        </p:spPr>
        <p:txBody>
          <a:bodyPr wrap="square" lIns="0" tIns="0" rIns="0" bIns="0" rtlCol="0" anchor="t"/>
          <a:lstStyle/>
          <a:p>
            <a:pPr indent="0" marL="0">
              <a:buNone/>
            </a:pPr>
            <a:r>
              <a:rPr lang="en-US" sz="1500" dirty="0">
                <a:solidFill>
                  <a:srgbClr val="13203F"/>
                </a:solidFill>
                <a:latin typeface="Calibri" pitchFamily="34" charset="0"/>
                <a:ea typeface="Calibri" pitchFamily="34" charset="-122"/>
                <a:cs typeface="Calibri" pitchFamily="34" charset="-120"/>
              </a:rPr>
              <a:t>Dynamic per-unit pricing</a:t>
            </a:r>
            <a:endParaRPr lang="en-US" sz="1500" dirty="0"/>
          </a:p>
        </p:txBody>
      </p:sp>
      <p:sp>
        <p:nvSpPr>
          <p:cNvPr id="35" name="Shape 33"/>
          <p:cNvSpPr/>
          <p:nvPr/>
        </p:nvSpPr>
        <p:spPr>
          <a:xfrm>
            <a:off x="6233008" y="4617720"/>
            <a:ext cx="2567864" cy="1234440"/>
          </a:xfrm>
          <a:prstGeom prst="roundRect">
            <a:avLst>
              <a:gd name="adj" fmla="val 8889"/>
            </a:avLst>
          </a:prstGeom>
          <a:solidFill>
            <a:srgbClr val="FFFDF8"/>
          </a:solidFill>
          <a:ln w="9525">
            <a:solidFill>
              <a:srgbClr val="E4DFD2"/>
            </a:solidFill>
            <a:prstDash val="solid"/>
          </a:ln>
        </p:spPr>
      </p:sp>
      <p:sp>
        <p:nvSpPr>
          <p:cNvPr id="36" name="Text 34"/>
          <p:cNvSpPr txBox="1"/>
          <p:nvPr/>
        </p:nvSpPr>
        <p:spPr>
          <a:xfrm>
            <a:off x="6461608" y="4800600"/>
            <a:ext cx="2110664" cy="274320"/>
          </a:xfrm>
          <a:prstGeom prst="rect">
            <a:avLst/>
          </a:prstGeom>
          <a:noFill/>
          <a:ln/>
        </p:spPr>
        <p:txBody>
          <a:bodyPr wrap="square" lIns="0" tIns="0" rIns="0" bIns="0" rtlCol="0" anchor="t"/>
          <a:lstStyle/>
          <a:p>
            <a:pPr indent="0" marL="0">
              <a:buNone/>
            </a:pPr>
            <a:r>
              <a:rPr lang="en-US" sz="1200" b="1" spc="100" kern="0" dirty="0">
                <a:solidFill>
                  <a:srgbClr val="8A5F00"/>
                </a:solidFill>
                <a:latin typeface="Calibri" pitchFamily="34" charset="0"/>
                <a:ea typeface="Calibri" pitchFamily="34" charset="-122"/>
                <a:cs typeface="Calibri" pitchFamily="34" charset="-120"/>
              </a:rPr>
              <a:t>ROUND 11</a:t>
            </a:r>
            <a:endParaRPr lang="en-US" sz="1200" dirty="0"/>
          </a:p>
        </p:txBody>
      </p:sp>
      <p:sp>
        <p:nvSpPr>
          <p:cNvPr id="37" name="Text 35"/>
          <p:cNvSpPr txBox="1"/>
          <p:nvPr/>
        </p:nvSpPr>
        <p:spPr>
          <a:xfrm>
            <a:off x="6461608" y="5120640"/>
            <a:ext cx="2110664" cy="640080"/>
          </a:xfrm>
          <a:prstGeom prst="rect">
            <a:avLst/>
          </a:prstGeom>
          <a:noFill/>
          <a:ln/>
        </p:spPr>
        <p:txBody>
          <a:bodyPr wrap="square" lIns="0" tIns="0" rIns="0" bIns="0" rtlCol="0" anchor="t"/>
          <a:lstStyle/>
          <a:p>
            <a:pPr indent="0" marL="0">
              <a:buNone/>
            </a:pPr>
            <a:r>
              <a:rPr lang="en-US" sz="1500" dirty="0">
                <a:solidFill>
                  <a:srgbClr val="13203F"/>
                </a:solidFill>
                <a:latin typeface="Calibri" pitchFamily="34" charset="0"/>
                <a:ea typeface="Calibri" pitchFamily="34" charset="-122"/>
                <a:cs typeface="Calibri" pitchFamily="34" charset="-120"/>
              </a:rPr>
              <a:t>Profile picture upload</a:t>
            </a:r>
            <a:endParaRPr lang="en-US" sz="1500" dirty="0"/>
          </a:p>
        </p:txBody>
      </p:sp>
      <p:sp>
        <p:nvSpPr>
          <p:cNvPr id="25" name="Slide Number Placeholder 0"/>
          <p:cNvSpPr>
            <a:spLocks noGrp="1"/>
          </p:cNvSpPr>
          <p:nvPr>
            <p:ph type="sldNum" sz="quarter" idx="4294967295"/>
          </p:nvPr>
        </p:nvSpPr>
        <p:spPr>
          <a:xfrm>
            <a:off x="10972800" y="6309360"/>
            <a:ext cx="670255"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200" b="1" spc="300" kern="0" dirty="0">
                <a:solidFill>
                  <a:srgbClr val="8A5F00"/>
                </a:solidFill>
                <a:latin typeface="Calibri" pitchFamily="34" charset="0"/>
                <a:ea typeface="Calibri" pitchFamily="34" charset="-122"/>
                <a:cs typeface="Calibri" pitchFamily="34" charset="-120"/>
              </a:rPr>
              <a:t>TOOLS</a:t>
            </a:r>
            <a:endParaRPr lang="en-US" sz="12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t"/>
          <a:lstStyle/>
          <a:p>
            <a:pPr algn="l" indent="0" marL="0">
              <a:buNone/>
            </a:pPr>
            <a:r>
              <a:rPr lang="en-US" sz="3400" b="1" dirty="0">
                <a:solidFill>
                  <a:srgbClr val="13203F"/>
                </a:solidFill>
                <a:latin typeface="Calibri" pitchFamily="34" charset="0"/>
                <a:ea typeface="Calibri" pitchFamily="34" charset="-122"/>
                <a:cs typeface="Calibri" pitchFamily="34" charset="-120"/>
              </a:rPr>
              <a:t>Tools and Technologies</a:t>
            </a:r>
            <a:endParaRPr lang="en-US" sz="3400" dirty="0"/>
          </a:p>
        </p:txBody>
      </p:sp>
      <p:sp>
        <p:nvSpPr>
          <p:cNvPr id="4" name="Text 2"/>
          <p:cNvSpPr txBox="1"/>
          <p:nvPr/>
        </p:nvSpPr>
        <p:spPr>
          <a:xfrm>
            <a:off x="548640" y="6309360"/>
            <a:ext cx="8229600" cy="2743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Beeciye · Second-Hand Market Platform</a:t>
            </a:r>
            <a:endParaRPr lang="en-US" sz="1100" dirty="0"/>
          </a:p>
        </p:txBody>
      </p:sp>
      <p:sp>
        <p:nvSpPr>
          <p:cNvPr id="5" name="Shape 3"/>
          <p:cNvSpPr/>
          <p:nvPr/>
        </p:nvSpPr>
        <p:spPr>
          <a:xfrm>
            <a:off x="548640" y="1737360"/>
            <a:ext cx="3515258" cy="1920240"/>
          </a:xfrm>
          <a:prstGeom prst="roundRect">
            <a:avLst>
              <a:gd name="adj" fmla="val 5714"/>
            </a:avLst>
          </a:prstGeom>
          <a:solidFill>
            <a:srgbClr val="FFFDF8"/>
          </a:solidFill>
          <a:ln w="9525">
            <a:solidFill>
              <a:srgbClr val="E4DFD2"/>
            </a:solidFill>
            <a:prstDash val="solid"/>
          </a:ln>
        </p:spPr>
      </p:sp>
      <p:sp>
        <p:nvSpPr>
          <p:cNvPr id="6" name="Shape 4"/>
          <p:cNvSpPr/>
          <p:nvPr/>
        </p:nvSpPr>
        <p:spPr>
          <a:xfrm>
            <a:off x="868680" y="2057400"/>
            <a:ext cx="640080" cy="640080"/>
          </a:xfrm>
          <a:prstGeom prst="ellipse">
            <a:avLst/>
          </a:prstGeom>
          <a:solidFill>
            <a:srgbClr val="13203F"/>
          </a:solidFill>
          <a:ln/>
        </p:spPr>
      </p:sp>
      <p:sp>
        <p:nvSpPr>
          <p:cNvPr id="7" name="Text 5"/>
          <p:cNvSpPr txBox="1"/>
          <p:nvPr/>
        </p:nvSpPr>
        <p:spPr>
          <a:xfrm>
            <a:off x="868680" y="2057400"/>
            <a:ext cx="640080" cy="640080"/>
          </a:xfrm>
          <a:prstGeom prst="rect">
            <a:avLst/>
          </a:prstGeom>
          <a:noFill/>
          <a:ln/>
        </p:spPr>
        <p:txBody>
          <a:bodyPr wrap="square" lIns="0" tIns="0" rIns="0" bIns="0" rtlCol="0" anchor="ctr"/>
          <a:lstStyle/>
          <a:p>
            <a:pPr algn="ctr" indent="0" marL="0">
              <a:buNone/>
            </a:pPr>
            <a:r>
              <a:rPr lang="en-US" sz="1400" b="1" dirty="0">
                <a:solidFill>
                  <a:srgbClr val="F2B51C"/>
                </a:solidFill>
                <a:latin typeface="Calibri" pitchFamily="34" charset="0"/>
                <a:ea typeface="Calibri" pitchFamily="34" charset="-122"/>
                <a:cs typeface="Calibri" pitchFamily="34" charset="-120"/>
              </a:rPr>
              <a:t>C#</a:t>
            </a:r>
            <a:endParaRPr lang="en-US" sz="1400" dirty="0"/>
          </a:p>
        </p:txBody>
      </p:sp>
      <p:sp>
        <p:nvSpPr>
          <p:cNvPr id="8" name="Text 6"/>
          <p:cNvSpPr txBox="1"/>
          <p:nvPr/>
        </p:nvSpPr>
        <p:spPr>
          <a:xfrm>
            <a:off x="868680" y="2834640"/>
            <a:ext cx="2875178" cy="365760"/>
          </a:xfrm>
          <a:prstGeom prst="rect">
            <a:avLst/>
          </a:prstGeom>
          <a:noFill/>
          <a:ln/>
        </p:spPr>
        <p:txBody>
          <a:bodyPr wrap="square" lIns="0" tIns="0" rIns="0" bIns="0" rtlCol="0" anchor="t"/>
          <a:lstStyle/>
          <a:p>
            <a:pPr indent="0" marL="0">
              <a:buNone/>
            </a:pPr>
            <a:r>
              <a:rPr lang="en-US" sz="1900" b="1" dirty="0">
                <a:solidFill>
                  <a:srgbClr val="13203F"/>
                </a:solidFill>
                <a:latin typeface="Calibri" pitchFamily="34" charset="0"/>
                <a:ea typeface="Calibri" pitchFamily="34" charset="-122"/>
                <a:cs typeface="Calibri" pitchFamily="34" charset="-120"/>
              </a:rPr>
              <a:t>C# 13 · .NET 9</a:t>
            </a:r>
            <a:endParaRPr lang="en-US" sz="1900" dirty="0"/>
          </a:p>
        </p:txBody>
      </p:sp>
      <p:sp>
        <p:nvSpPr>
          <p:cNvPr id="9" name="Text 7"/>
          <p:cNvSpPr txBox="1"/>
          <p:nvPr/>
        </p:nvSpPr>
        <p:spPr>
          <a:xfrm>
            <a:off x="868680" y="3200400"/>
            <a:ext cx="2875178" cy="365760"/>
          </a:xfrm>
          <a:prstGeom prst="rect">
            <a:avLst/>
          </a:prstGeom>
          <a:noFill/>
          <a:ln/>
        </p:spPr>
        <p:txBody>
          <a:bodyPr wrap="square" lIns="0" tIns="0" rIns="0" bIns="0" rtlCol="0" anchor="t"/>
          <a:lstStyle/>
          <a:p>
            <a:pPr indent="0" marL="0">
              <a:buNone/>
            </a:pPr>
            <a:r>
              <a:rPr lang="en-US" sz="1400" dirty="0">
                <a:solidFill>
                  <a:srgbClr val="3A4560"/>
                </a:solidFill>
                <a:latin typeface="Calibri" pitchFamily="34" charset="0"/>
                <a:ea typeface="Calibri" pitchFamily="34" charset="-122"/>
                <a:cs typeface="Calibri" pitchFamily="34" charset="-120"/>
              </a:rPr>
              <a:t>Programming language and runtime</a:t>
            </a:r>
            <a:endParaRPr lang="en-US" sz="1400" dirty="0"/>
          </a:p>
        </p:txBody>
      </p:sp>
      <p:sp>
        <p:nvSpPr>
          <p:cNvPr id="10" name="Shape 8"/>
          <p:cNvSpPr/>
          <p:nvPr/>
        </p:nvSpPr>
        <p:spPr>
          <a:xfrm>
            <a:off x="4338218" y="1737360"/>
            <a:ext cx="3515258" cy="1920240"/>
          </a:xfrm>
          <a:prstGeom prst="roundRect">
            <a:avLst>
              <a:gd name="adj" fmla="val 5714"/>
            </a:avLst>
          </a:prstGeom>
          <a:solidFill>
            <a:srgbClr val="FFFDF8"/>
          </a:solidFill>
          <a:ln w="9525">
            <a:solidFill>
              <a:srgbClr val="E4DFD2"/>
            </a:solidFill>
            <a:prstDash val="solid"/>
          </a:ln>
        </p:spPr>
      </p:sp>
      <p:sp>
        <p:nvSpPr>
          <p:cNvPr id="11" name="Shape 9"/>
          <p:cNvSpPr/>
          <p:nvPr/>
        </p:nvSpPr>
        <p:spPr>
          <a:xfrm>
            <a:off x="4658258" y="2057400"/>
            <a:ext cx="640080" cy="640080"/>
          </a:xfrm>
          <a:prstGeom prst="ellipse">
            <a:avLst/>
          </a:prstGeom>
          <a:solidFill>
            <a:srgbClr val="13203F"/>
          </a:solidFill>
          <a:ln/>
        </p:spPr>
      </p:sp>
      <p:sp>
        <p:nvSpPr>
          <p:cNvPr id="12" name="Text 10"/>
          <p:cNvSpPr txBox="1"/>
          <p:nvPr/>
        </p:nvSpPr>
        <p:spPr>
          <a:xfrm>
            <a:off x="4658258" y="2057400"/>
            <a:ext cx="640080" cy="640080"/>
          </a:xfrm>
          <a:prstGeom prst="rect">
            <a:avLst/>
          </a:prstGeom>
          <a:noFill/>
          <a:ln/>
        </p:spPr>
        <p:txBody>
          <a:bodyPr wrap="square" lIns="0" tIns="0" rIns="0" bIns="0" rtlCol="0" anchor="ctr"/>
          <a:lstStyle/>
          <a:p>
            <a:pPr algn="ctr" indent="0" marL="0">
              <a:buNone/>
            </a:pPr>
            <a:r>
              <a:rPr lang="en-US" sz="1000" b="1" dirty="0">
                <a:solidFill>
                  <a:srgbClr val="F2B51C"/>
                </a:solidFill>
                <a:latin typeface="Calibri" pitchFamily="34" charset="0"/>
                <a:ea typeface="Calibri" pitchFamily="34" charset="-122"/>
                <a:cs typeface="Calibri" pitchFamily="34" charset="-120"/>
              </a:rPr>
              <a:t>MVC</a:t>
            </a:r>
            <a:endParaRPr lang="en-US" sz="1000" dirty="0"/>
          </a:p>
        </p:txBody>
      </p:sp>
      <p:sp>
        <p:nvSpPr>
          <p:cNvPr id="13" name="Text 11"/>
          <p:cNvSpPr txBox="1"/>
          <p:nvPr/>
        </p:nvSpPr>
        <p:spPr>
          <a:xfrm>
            <a:off x="4658258" y="2834640"/>
            <a:ext cx="2875178" cy="365760"/>
          </a:xfrm>
          <a:prstGeom prst="rect">
            <a:avLst/>
          </a:prstGeom>
          <a:noFill/>
          <a:ln/>
        </p:spPr>
        <p:txBody>
          <a:bodyPr wrap="square" lIns="0" tIns="0" rIns="0" bIns="0" rtlCol="0" anchor="t"/>
          <a:lstStyle/>
          <a:p>
            <a:pPr indent="0" marL="0">
              <a:buNone/>
            </a:pPr>
            <a:r>
              <a:rPr lang="en-US" sz="1900" b="1" dirty="0">
                <a:solidFill>
                  <a:srgbClr val="13203F"/>
                </a:solidFill>
                <a:latin typeface="Calibri" pitchFamily="34" charset="0"/>
                <a:ea typeface="Calibri" pitchFamily="34" charset="-122"/>
                <a:cs typeface="Calibri" pitchFamily="34" charset="-120"/>
              </a:rPr>
              <a:t>ASP.NET Core 9 MVC</a:t>
            </a:r>
            <a:endParaRPr lang="en-US" sz="1900" dirty="0"/>
          </a:p>
        </p:txBody>
      </p:sp>
      <p:sp>
        <p:nvSpPr>
          <p:cNvPr id="14" name="Text 12"/>
          <p:cNvSpPr txBox="1"/>
          <p:nvPr/>
        </p:nvSpPr>
        <p:spPr>
          <a:xfrm>
            <a:off x="4658258" y="3200400"/>
            <a:ext cx="2875178" cy="365760"/>
          </a:xfrm>
          <a:prstGeom prst="rect">
            <a:avLst/>
          </a:prstGeom>
          <a:noFill/>
          <a:ln/>
        </p:spPr>
        <p:txBody>
          <a:bodyPr wrap="square" lIns="0" tIns="0" rIns="0" bIns="0" rtlCol="0" anchor="t"/>
          <a:lstStyle/>
          <a:p>
            <a:pPr indent="0" marL="0">
              <a:buNone/>
            </a:pPr>
            <a:r>
              <a:rPr lang="en-US" sz="1400" dirty="0">
                <a:solidFill>
                  <a:srgbClr val="3A4560"/>
                </a:solidFill>
                <a:latin typeface="Calibri" pitchFamily="34" charset="0"/>
                <a:ea typeface="Calibri" pitchFamily="34" charset="-122"/>
                <a:cs typeface="Calibri" pitchFamily="34" charset="-120"/>
              </a:rPr>
              <a:t>Model-View-Controller web framework</a:t>
            </a:r>
            <a:endParaRPr lang="en-US" sz="1400" dirty="0"/>
          </a:p>
        </p:txBody>
      </p:sp>
      <p:sp>
        <p:nvSpPr>
          <p:cNvPr id="15" name="Shape 13"/>
          <p:cNvSpPr/>
          <p:nvPr/>
        </p:nvSpPr>
        <p:spPr>
          <a:xfrm>
            <a:off x="8127797" y="1737360"/>
            <a:ext cx="3515258" cy="1920240"/>
          </a:xfrm>
          <a:prstGeom prst="roundRect">
            <a:avLst>
              <a:gd name="adj" fmla="val 5714"/>
            </a:avLst>
          </a:prstGeom>
          <a:solidFill>
            <a:srgbClr val="FFFDF8"/>
          </a:solidFill>
          <a:ln w="9525">
            <a:solidFill>
              <a:srgbClr val="E4DFD2"/>
            </a:solidFill>
            <a:prstDash val="solid"/>
          </a:ln>
        </p:spPr>
      </p:sp>
      <p:sp>
        <p:nvSpPr>
          <p:cNvPr id="16" name="Shape 14"/>
          <p:cNvSpPr/>
          <p:nvPr/>
        </p:nvSpPr>
        <p:spPr>
          <a:xfrm>
            <a:off x="8447837" y="2057400"/>
            <a:ext cx="640080" cy="640080"/>
          </a:xfrm>
          <a:prstGeom prst="ellipse">
            <a:avLst/>
          </a:prstGeom>
          <a:solidFill>
            <a:srgbClr val="13203F"/>
          </a:solidFill>
          <a:ln/>
        </p:spPr>
      </p:sp>
      <p:sp>
        <p:nvSpPr>
          <p:cNvPr id="17" name="Text 15"/>
          <p:cNvSpPr txBox="1"/>
          <p:nvPr/>
        </p:nvSpPr>
        <p:spPr>
          <a:xfrm>
            <a:off x="8447837" y="2057400"/>
            <a:ext cx="640080" cy="640080"/>
          </a:xfrm>
          <a:prstGeom prst="rect">
            <a:avLst/>
          </a:prstGeom>
          <a:noFill/>
          <a:ln/>
        </p:spPr>
        <p:txBody>
          <a:bodyPr wrap="square" lIns="0" tIns="0" rIns="0" bIns="0" rtlCol="0" anchor="ctr"/>
          <a:lstStyle/>
          <a:p>
            <a:pPr algn="ctr" indent="0" marL="0">
              <a:buNone/>
            </a:pPr>
            <a:r>
              <a:rPr lang="en-US" sz="1400" b="1" dirty="0">
                <a:solidFill>
                  <a:srgbClr val="F2B51C"/>
                </a:solidFill>
                <a:latin typeface="Calibri" pitchFamily="34" charset="0"/>
                <a:ea typeface="Calibri" pitchFamily="34" charset="-122"/>
                <a:cs typeface="Calibri" pitchFamily="34" charset="-120"/>
              </a:rPr>
              <a:t>EF</a:t>
            </a:r>
            <a:endParaRPr lang="en-US" sz="1400" dirty="0"/>
          </a:p>
        </p:txBody>
      </p:sp>
      <p:sp>
        <p:nvSpPr>
          <p:cNvPr id="18" name="Text 16"/>
          <p:cNvSpPr txBox="1"/>
          <p:nvPr/>
        </p:nvSpPr>
        <p:spPr>
          <a:xfrm>
            <a:off x="8447837" y="2834640"/>
            <a:ext cx="2875178" cy="365760"/>
          </a:xfrm>
          <a:prstGeom prst="rect">
            <a:avLst/>
          </a:prstGeom>
          <a:noFill/>
          <a:ln/>
        </p:spPr>
        <p:txBody>
          <a:bodyPr wrap="square" lIns="0" tIns="0" rIns="0" bIns="0" rtlCol="0" anchor="t"/>
          <a:lstStyle/>
          <a:p>
            <a:pPr indent="0" marL="0">
              <a:buNone/>
            </a:pPr>
            <a:r>
              <a:rPr lang="en-US" sz="1900" b="1" dirty="0">
                <a:solidFill>
                  <a:srgbClr val="13203F"/>
                </a:solidFill>
                <a:latin typeface="Calibri" pitchFamily="34" charset="0"/>
                <a:ea typeface="Calibri" pitchFamily="34" charset="-122"/>
                <a:cs typeface="Calibri" pitchFamily="34" charset="-120"/>
              </a:rPr>
              <a:t>EF Core 9</a:t>
            </a:r>
            <a:endParaRPr lang="en-US" sz="1900" dirty="0"/>
          </a:p>
        </p:txBody>
      </p:sp>
      <p:sp>
        <p:nvSpPr>
          <p:cNvPr id="19" name="Text 17"/>
          <p:cNvSpPr txBox="1"/>
          <p:nvPr/>
        </p:nvSpPr>
        <p:spPr>
          <a:xfrm>
            <a:off x="8447837" y="3200400"/>
            <a:ext cx="2875178" cy="365760"/>
          </a:xfrm>
          <a:prstGeom prst="rect">
            <a:avLst/>
          </a:prstGeom>
          <a:noFill/>
          <a:ln/>
        </p:spPr>
        <p:txBody>
          <a:bodyPr wrap="square" lIns="0" tIns="0" rIns="0" bIns="0" rtlCol="0" anchor="t"/>
          <a:lstStyle/>
          <a:p>
            <a:pPr indent="0" marL="0">
              <a:buNone/>
            </a:pPr>
            <a:r>
              <a:rPr lang="en-US" sz="1400" dirty="0">
                <a:solidFill>
                  <a:srgbClr val="3A4560"/>
                </a:solidFill>
                <a:latin typeface="Calibri" pitchFamily="34" charset="0"/>
                <a:ea typeface="Calibri" pitchFamily="34" charset="-122"/>
                <a:cs typeface="Calibri" pitchFamily="34" charset="-120"/>
              </a:rPr>
              <a:t>Code-first ORM with migrations</a:t>
            </a:r>
            <a:endParaRPr lang="en-US" sz="1400" dirty="0"/>
          </a:p>
        </p:txBody>
      </p:sp>
      <p:sp>
        <p:nvSpPr>
          <p:cNvPr id="20" name="Shape 18"/>
          <p:cNvSpPr/>
          <p:nvPr/>
        </p:nvSpPr>
        <p:spPr>
          <a:xfrm>
            <a:off x="548640" y="3931920"/>
            <a:ext cx="3515258" cy="1920240"/>
          </a:xfrm>
          <a:prstGeom prst="roundRect">
            <a:avLst>
              <a:gd name="adj" fmla="val 5714"/>
            </a:avLst>
          </a:prstGeom>
          <a:solidFill>
            <a:srgbClr val="FFFDF8"/>
          </a:solidFill>
          <a:ln w="9525">
            <a:solidFill>
              <a:srgbClr val="E4DFD2"/>
            </a:solidFill>
            <a:prstDash val="solid"/>
          </a:ln>
        </p:spPr>
      </p:sp>
      <p:sp>
        <p:nvSpPr>
          <p:cNvPr id="21" name="Shape 19"/>
          <p:cNvSpPr/>
          <p:nvPr/>
        </p:nvSpPr>
        <p:spPr>
          <a:xfrm>
            <a:off x="868680" y="4251960"/>
            <a:ext cx="640080" cy="640080"/>
          </a:xfrm>
          <a:prstGeom prst="ellipse">
            <a:avLst/>
          </a:prstGeom>
          <a:solidFill>
            <a:srgbClr val="13203F"/>
          </a:solidFill>
          <a:ln/>
        </p:spPr>
      </p:sp>
      <p:sp>
        <p:nvSpPr>
          <p:cNvPr id="22" name="Text 20"/>
          <p:cNvSpPr txBox="1"/>
          <p:nvPr/>
        </p:nvSpPr>
        <p:spPr>
          <a:xfrm>
            <a:off x="868680" y="4251960"/>
            <a:ext cx="640080" cy="640080"/>
          </a:xfrm>
          <a:prstGeom prst="rect">
            <a:avLst/>
          </a:prstGeom>
          <a:noFill/>
          <a:ln/>
        </p:spPr>
        <p:txBody>
          <a:bodyPr wrap="square" lIns="0" tIns="0" rIns="0" bIns="0" rtlCol="0" anchor="ctr"/>
          <a:lstStyle/>
          <a:p>
            <a:pPr algn="ctr" indent="0" marL="0">
              <a:buNone/>
            </a:pPr>
            <a:r>
              <a:rPr lang="en-US" sz="1000" b="1" dirty="0">
                <a:solidFill>
                  <a:srgbClr val="F2B51C"/>
                </a:solidFill>
                <a:latin typeface="Calibri" pitchFamily="34" charset="0"/>
                <a:ea typeface="Calibri" pitchFamily="34" charset="-122"/>
                <a:cs typeface="Calibri" pitchFamily="34" charset="-120"/>
              </a:rPr>
              <a:t>SQL</a:t>
            </a:r>
            <a:endParaRPr lang="en-US" sz="1000" dirty="0"/>
          </a:p>
        </p:txBody>
      </p:sp>
      <p:sp>
        <p:nvSpPr>
          <p:cNvPr id="23" name="Text 21"/>
          <p:cNvSpPr txBox="1"/>
          <p:nvPr/>
        </p:nvSpPr>
        <p:spPr>
          <a:xfrm>
            <a:off x="868680" y="5029200"/>
            <a:ext cx="2875178" cy="365760"/>
          </a:xfrm>
          <a:prstGeom prst="rect">
            <a:avLst/>
          </a:prstGeom>
          <a:noFill/>
          <a:ln/>
        </p:spPr>
        <p:txBody>
          <a:bodyPr wrap="square" lIns="0" tIns="0" rIns="0" bIns="0" rtlCol="0" anchor="t"/>
          <a:lstStyle/>
          <a:p>
            <a:pPr indent="0" marL="0">
              <a:buNone/>
            </a:pPr>
            <a:r>
              <a:rPr lang="en-US" sz="1900" b="1" dirty="0">
                <a:solidFill>
                  <a:srgbClr val="13203F"/>
                </a:solidFill>
                <a:latin typeface="Calibri" pitchFamily="34" charset="0"/>
                <a:ea typeface="Calibri" pitchFamily="34" charset="-122"/>
                <a:cs typeface="Calibri" pitchFamily="34" charset="-120"/>
              </a:rPr>
              <a:t>SQL Server</a:t>
            </a:r>
            <a:endParaRPr lang="en-US" sz="1900" dirty="0"/>
          </a:p>
        </p:txBody>
      </p:sp>
      <p:sp>
        <p:nvSpPr>
          <p:cNvPr id="24" name="Text 22"/>
          <p:cNvSpPr txBox="1"/>
          <p:nvPr/>
        </p:nvSpPr>
        <p:spPr>
          <a:xfrm>
            <a:off x="868680" y="5394960"/>
            <a:ext cx="2875178" cy="365760"/>
          </a:xfrm>
          <a:prstGeom prst="rect">
            <a:avLst/>
          </a:prstGeom>
          <a:noFill/>
          <a:ln/>
        </p:spPr>
        <p:txBody>
          <a:bodyPr wrap="square" lIns="0" tIns="0" rIns="0" bIns="0" rtlCol="0" anchor="t"/>
          <a:lstStyle/>
          <a:p>
            <a:pPr indent="0" marL="0">
              <a:buNone/>
            </a:pPr>
            <a:r>
              <a:rPr lang="en-US" sz="1400" dirty="0">
                <a:solidFill>
                  <a:srgbClr val="3A4560"/>
                </a:solidFill>
                <a:latin typeface="Calibri" pitchFamily="34" charset="0"/>
                <a:ea typeface="Calibri" pitchFamily="34" charset="-122"/>
                <a:cs typeface="Calibri" pitchFamily="34" charset="-120"/>
              </a:rPr>
              <a:t>Relational database engine</a:t>
            </a:r>
            <a:endParaRPr lang="en-US" sz="1400" dirty="0"/>
          </a:p>
        </p:txBody>
      </p:sp>
      <p:sp>
        <p:nvSpPr>
          <p:cNvPr id="25" name="Shape 23"/>
          <p:cNvSpPr/>
          <p:nvPr/>
        </p:nvSpPr>
        <p:spPr>
          <a:xfrm>
            <a:off x="4338218" y="3931920"/>
            <a:ext cx="3515258" cy="1920240"/>
          </a:xfrm>
          <a:prstGeom prst="roundRect">
            <a:avLst>
              <a:gd name="adj" fmla="val 5714"/>
            </a:avLst>
          </a:prstGeom>
          <a:solidFill>
            <a:srgbClr val="FFFDF8"/>
          </a:solidFill>
          <a:ln w="9525">
            <a:solidFill>
              <a:srgbClr val="E4DFD2"/>
            </a:solidFill>
            <a:prstDash val="solid"/>
          </a:ln>
        </p:spPr>
      </p:sp>
      <p:sp>
        <p:nvSpPr>
          <p:cNvPr id="26" name="Shape 24"/>
          <p:cNvSpPr/>
          <p:nvPr/>
        </p:nvSpPr>
        <p:spPr>
          <a:xfrm>
            <a:off x="4658258" y="4251960"/>
            <a:ext cx="640080" cy="640080"/>
          </a:xfrm>
          <a:prstGeom prst="ellipse">
            <a:avLst/>
          </a:prstGeom>
          <a:solidFill>
            <a:srgbClr val="13203F"/>
          </a:solidFill>
          <a:ln/>
        </p:spPr>
      </p:sp>
      <p:sp>
        <p:nvSpPr>
          <p:cNvPr id="27" name="Text 25"/>
          <p:cNvSpPr txBox="1"/>
          <p:nvPr/>
        </p:nvSpPr>
        <p:spPr>
          <a:xfrm>
            <a:off x="4658258" y="4251960"/>
            <a:ext cx="640080" cy="640080"/>
          </a:xfrm>
          <a:prstGeom prst="rect">
            <a:avLst/>
          </a:prstGeom>
          <a:noFill/>
          <a:ln/>
        </p:spPr>
        <p:txBody>
          <a:bodyPr wrap="square" lIns="0" tIns="0" rIns="0" bIns="0" rtlCol="0" anchor="ctr"/>
          <a:lstStyle/>
          <a:p>
            <a:pPr algn="ctr" indent="0" marL="0">
              <a:buNone/>
            </a:pPr>
            <a:r>
              <a:rPr lang="en-US" sz="1400" b="1" dirty="0">
                <a:solidFill>
                  <a:srgbClr val="F2B51C"/>
                </a:solidFill>
                <a:latin typeface="Calibri" pitchFamily="34" charset="0"/>
                <a:ea typeface="Calibri" pitchFamily="34" charset="-122"/>
                <a:cs typeface="Calibri" pitchFamily="34" charset="-120"/>
              </a:rPr>
              <a:t>ID</a:t>
            </a:r>
            <a:endParaRPr lang="en-US" sz="1400" dirty="0"/>
          </a:p>
        </p:txBody>
      </p:sp>
      <p:sp>
        <p:nvSpPr>
          <p:cNvPr id="28" name="Text 26"/>
          <p:cNvSpPr txBox="1"/>
          <p:nvPr/>
        </p:nvSpPr>
        <p:spPr>
          <a:xfrm>
            <a:off x="4658258" y="5029200"/>
            <a:ext cx="2875178" cy="365760"/>
          </a:xfrm>
          <a:prstGeom prst="rect">
            <a:avLst/>
          </a:prstGeom>
          <a:noFill/>
          <a:ln/>
        </p:spPr>
        <p:txBody>
          <a:bodyPr wrap="square" lIns="0" tIns="0" rIns="0" bIns="0" rtlCol="0" anchor="t"/>
          <a:lstStyle/>
          <a:p>
            <a:pPr indent="0" marL="0">
              <a:buNone/>
            </a:pPr>
            <a:r>
              <a:rPr lang="en-US" sz="1900" b="1" dirty="0">
                <a:solidFill>
                  <a:srgbClr val="13203F"/>
                </a:solidFill>
                <a:latin typeface="Calibri" pitchFamily="34" charset="0"/>
                <a:ea typeface="Calibri" pitchFamily="34" charset="-122"/>
                <a:cs typeface="Calibri" pitchFamily="34" charset="-120"/>
              </a:rPr>
              <a:t>ASP.NET Identity</a:t>
            </a:r>
            <a:endParaRPr lang="en-US" sz="1900" dirty="0"/>
          </a:p>
        </p:txBody>
      </p:sp>
      <p:sp>
        <p:nvSpPr>
          <p:cNvPr id="29" name="Text 27"/>
          <p:cNvSpPr txBox="1"/>
          <p:nvPr/>
        </p:nvSpPr>
        <p:spPr>
          <a:xfrm>
            <a:off x="4658258" y="5394960"/>
            <a:ext cx="2875178" cy="365760"/>
          </a:xfrm>
          <a:prstGeom prst="rect">
            <a:avLst/>
          </a:prstGeom>
          <a:noFill/>
          <a:ln/>
        </p:spPr>
        <p:txBody>
          <a:bodyPr wrap="square" lIns="0" tIns="0" rIns="0" bIns="0" rtlCol="0" anchor="t"/>
          <a:lstStyle/>
          <a:p>
            <a:pPr indent="0" marL="0">
              <a:buNone/>
            </a:pPr>
            <a:r>
              <a:rPr lang="en-US" sz="1400" dirty="0">
                <a:solidFill>
                  <a:srgbClr val="3A4560"/>
                </a:solidFill>
                <a:latin typeface="Calibri" pitchFamily="34" charset="0"/>
                <a:ea typeface="Calibri" pitchFamily="34" charset="-122"/>
                <a:cs typeface="Calibri" pitchFamily="34" charset="-120"/>
              </a:rPr>
              <a:t>Login, password hashing and roles</a:t>
            </a:r>
            <a:endParaRPr lang="en-US" sz="1400" dirty="0"/>
          </a:p>
        </p:txBody>
      </p:sp>
      <p:sp>
        <p:nvSpPr>
          <p:cNvPr id="30" name="Shape 28"/>
          <p:cNvSpPr/>
          <p:nvPr/>
        </p:nvSpPr>
        <p:spPr>
          <a:xfrm>
            <a:off x="8127797" y="3931920"/>
            <a:ext cx="3515258" cy="1920240"/>
          </a:xfrm>
          <a:prstGeom prst="roundRect">
            <a:avLst>
              <a:gd name="adj" fmla="val 5714"/>
            </a:avLst>
          </a:prstGeom>
          <a:solidFill>
            <a:srgbClr val="FFFDF8"/>
          </a:solidFill>
          <a:ln w="9525">
            <a:solidFill>
              <a:srgbClr val="E4DFD2"/>
            </a:solidFill>
            <a:prstDash val="solid"/>
          </a:ln>
        </p:spPr>
      </p:sp>
      <p:sp>
        <p:nvSpPr>
          <p:cNvPr id="31" name="Shape 29"/>
          <p:cNvSpPr/>
          <p:nvPr/>
        </p:nvSpPr>
        <p:spPr>
          <a:xfrm>
            <a:off x="8447837" y="4251960"/>
            <a:ext cx="640080" cy="640080"/>
          </a:xfrm>
          <a:prstGeom prst="ellipse">
            <a:avLst/>
          </a:prstGeom>
          <a:solidFill>
            <a:srgbClr val="13203F"/>
          </a:solidFill>
          <a:ln/>
        </p:spPr>
      </p:sp>
      <p:sp>
        <p:nvSpPr>
          <p:cNvPr id="32" name="Text 30"/>
          <p:cNvSpPr txBox="1"/>
          <p:nvPr/>
        </p:nvSpPr>
        <p:spPr>
          <a:xfrm>
            <a:off x="8447837" y="4251960"/>
            <a:ext cx="640080" cy="640080"/>
          </a:xfrm>
          <a:prstGeom prst="rect">
            <a:avLst/>
          </a:prstGeom>
          <a:noFill/>
          <a:ln/>
        </p:spPr>
        <p:txBody>
          <a:bodyPr wrap="square" lIns="0" tIns="0" rIns="0" bIns="0" rtlCol="0" anchor="ctr"/>
          <a:lstStyle/>
          <a:p>
            <a:pPr algn="ctr" indent="0" marL="0">
              <a:buNone/>
            </a:pPr>
            <a:r>
              <a:rPr lang="en-US" sz="1400" b="1" dirty="0">
                <a:solidFill>
                  <a:srgbClr val="F2B51C"/>
                </a:solidFill>
                <a:latin typeface="Calibri" pitchFamily="34" charset="0"/>
                <a:ea typeface="Calibri" pitchFamily="34" charset="-122"/>
                <a:cs typeface="Calibri" pitchFamily="34" charset="-120"/>
              </a:rPr>
              <a:t>UI</a:t>
            </a:r>
            <a:endParaRPr lang="en-US" sz="1400" dirty="0"/>
          </a:p>
        </p:txBody>
      </p:sp>
      <p:sp>
        <p:nvSpPr>
          <p:cNvPr id="33" name="Text 31"/>
          <p:cNvSpPr txBox="1"/>
          <p:nvPr/>
        </p:nvSpPr>
        <p:spPr>
          <a:xfrm>
            <a:off x="8447837" y="5029200"/>
            <a:ext cx="2875178" cy="365760"/>
          </a:xfrm>
          <a:prstGeom prst="rect">
            <a:avLst/>
          </a:prstGeom>
          <a:noFill/>
          <a:ln/>
        </p:spPr>
        <p:txBody>
          <a:bodyPr wrap="square" lIns="0" tIns="0" rIns="0" bIns="0" rtlCol="0" anchor="t"/>
          <a:lstStyle/>
          <a:p>
            <a:pPr indent="0" marL="0">
              <a:buNone/>
            </a:pPr>
            <a:r>
              <a:rPr lang="en-US" sz="1900" b="1" dirty="0">
                <a:solidFill>
                  <a:srgbClr val="13203F"/>
                </a:solidFill>
                <a:latin typeface="Calibri" pitchFamily="34" charset="0"/>
                <a:ea typeface="Calibri" pitchFamily="34" charset="-122"/>
                <a:cs typeface="Calibri" pitchFamily="34" charset="-120"/>
              </a:rPr>
              <a:t>Razor · Bootstrap 5</a:t>
            </a:r>
            <a:endParaRPr lang="en-US" sz="1900" dirty="0"/>
          </a:p>
        </p:txBody>
      </p:sp>
      <p:sp>
        <p:nvSpPr>
          <p:cNvPr id="34" name="Text 32"/>
          <p:cNvSpPr txBox="1"/>
          <p:nvPr/>
        </p:nvSpPr>
        <p:spPr>
          <a:xfrm>
            <a:off x="8447837" y="5394960"/>
            <a:ext cx="2875178" cy="365760"/>
          </a:xfrm>
          <a:prstGeom prst="rect">
            <a:avLst/>
          </a:prstGeom>
          <a:noFill/>
          <a:ln/>
        </p:spPr>
        <p:txBody>
          <a:bodyPr wrap="square" lIns="0" tIns="0" rIns="0" bIns="0" rtlCol="0" anchor="t"/>
          <a:lstStyle/>
          <a:p>
            <a:pPr indent="0" marL="0">
              <a:buNone/>
            </a:pPr>
            <a:r>
              <a:rPr lang="en-US" sz="1400" dirty="0">
                <a:solidFill>
                  <a:srgbClr val="3A4560"/>
                </a:solidFill>
                <a:latin typeface="Calibri" pitchFamily="34" charset="0"/>
                <a:ea typeface="Calibri" pitchFamily="34" charset="-122"/>
                <a:cs typeface="Calibri" pitchFamily="34" charset="-120"/>
              </a:rPr>
              <a:t>Interface, plus Chart.js for reports</a:t>
            </a:r>
            <a:endParaRPr lang="en-US" sz="1400" dirty="0"/>
          </a:p>
        </p:txBody>
      </p:sp>
      <p:sp>
        <p:nvSpPr>
          <p:cNvPr id="25" name="Slide Number Placeholder 0"/>
          <p:cNvSpPr>
            <a:spLocks noGrp="1"/>
          </p:cNvSpPr>
          <p:nvPr>
            <p:ph type="sldNum" sz="quarter" idx="4294967295"/>
          </p:nvPr>
        </p:nvSpPr>
        <p:spPr>
          <a:xfrm>
            <a:off x="10972800" y="6309360"/>
            <a:ext cx="670255"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200" b="1" spc="300" kern="0" dirty="0">
                <a:solidFill>
                  <a:srgbClr val="8A5F00"/>
                </a:solidFill>
                <a:latin typeface="Calibri" pitchFamily="34" charset="0"/>
                <a:ea typeface="Calibri" pitchFamily="34" charset="-122"/>
                <a:cs typeface="Calibri" pitchFamily="34" charset="-120"/>
              </a:rPr>
              <a:t>SYSTEM DESIGN</a:t>
            </a:r>
            <a:endParaRPr lang="en-US" sz="12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t"/>
          <a:lstStyle/>
          <a:p>
            <a:pPr algn="l" indent="0" marL="0">
              <a:buNone/>
            </a:pPr>
            <a:r>
              <a:rPr lang="en-US" sz="3400" b="1" dirty="0">
                <a:solidFill>
                  <a:srgbClr val="13203F"/>
                </a:solidFill>
                <a:latin typeface="Calibri" pitchFamily="34" charset="0"/>
                <a:ea typeface="Calibri" pitchFamily="34" charset="-122"/>
                <a:cs typeface="Calibri" pitchFamily="34" charset="-120"/>
              </a:rPr>
              <a:t>System Architecture</a:t>
            </a:r>
            <a:endParaRPr lang="en-US" sz="3400" dirty="0"/>
          </a:p>
        </p:txBody>
      </p:sp>
      <p:sp>
        <p:nvSpPr>
          <p:cNvPr id="4" name="Text 2"/>
          <p:cNvSpPr txBox="1"/>
          <p:nvPr/>
        </p:nvSpPr>
        <p:spPr>
          <a:xfrm>
            <a:off x="548640" y="6309360"/>
            <a:ext cx="8229600" cy="2743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Figure 4.1 · Three-tier architecture</a:t>
            </a:r>
            <a:endParaRPr lang="en-US" sz="1100" dirty="0"/>
          </a:p>
        </p:txBody>
      </p:sp>
      <p:sp>
        <p:nvSpPr>
          <p:cNvPr id="5" name="Shape 3"/>
          <p:cNvSpPr/>
          <p:nvPr/>
        </p:nvSpPr>
        <p:spPr>
          <a:xfrm>
            <a:off x="548640" y="1600200"/>
            <a:ext cx="6309360" cy="4480560"/>
          </a:xfrm>
          <a:prstGeom prst="roundRect">
            <a:avLst>
              <a:gd name="adj" fmla="val 2041"/>
            </a:avLst>
          </a:prstGeom>
          <a:solidFill>
            <a:srgbClr val="FFFFFF"/>
          </a:solidFill>
          <a:ln w="9525">
            <a:solidFill>
              <a:srgbClr val="E4DFD2"/>
            </a:solidFill>
            <a:prstDash val="solid"/>
          </a:ln>
        </p:spPr>
      </p:sp>
      <p:pic>
        <p:nvPicPr>
          <p:cNvPr id="6" name="Image 0" descr="Three-tier architecture diagram: browser client, ASP.NET Core MVC web layer, controllers and Identity, Entity Framework Core data access, SQL Server database">    </p:cNvPr>
          <p:cNvPicPr>
            <a:picLocks noChangeAspect="1"/>
          </p:cNvPicPr>
          <p:nvPr/>
        </p:nvPicPr>
        <p:blipFill>
          <a:blip r:embed="rId1"/>
          <a:stretch>
            <a:fillRect/>
          </a:stretch>
        </p:blipFill>
        <p:spPr>
          <a:xfrm>
            <a:off x="730457" y="1709928"/>
            <a:ext cx="5945727" cy="4261104"/>
          </a:xfrm>
          <a:prstGeom prst="rect">
            <a:avLst/>
          </a:prstGeom>
        </p:spPr>
      </p:pic>
      <p:sp>
        <p:nvSpPr>
          <p:cNvPr id="7" name="Text 4"/>
          <p:cNvSpPr txBox="1"/>
          <p:nvPr/>
        </p:nvSpPr>
        <p:spPr>
          <a:xfrm>
            <a:off x="7269480" y="1828800"/>
            <a:ext cx="4370832" cy="822960"/>
          </a:xfrm>
          <a:prstGeom prst="rect">
            <a:avLst/>
          </a:prstGeom>
          <a:noFill/>
          <a:ln/>
        </p:spPr>
        <p:txBody>
          <a:bodyPr wrap="square" lIns="0" tIns="0" rIns="0" bIns="0" rtlCol="0" anchor="t"/>
          <a:lstStyle/>
          <a:p>
            <a:pPr indent="0" marL="0">
              <a:buNone/>
            </a:pPr>
            <a:r>
              <a:rPr lang="en-US" sz="2000" b="1" dirty="0">
                <a:solidFill>
                  <a:srgbClr val="13203F"/>
                </a:solidFill>
                <a:latin typeface="Calibri" pitchFamily="34" charset="0"/>
                <a:ea typeface="Calibri" pitchFamily="34" charset="-122"/>
                <a:cs typeface="Calibri" pitchFamily="34" charset="-120"/>
              </a:rPr>
              <a:t>Three tiers following the MVC pattern.</a:t>
            </a:r>
            <a:endParaRPr lang="en-US" sz="2000" dirty="0"/>
          </a:p>
        </p:txBody>
      </p:sp>
      <p:sp>
        <p:nvSpPr>
          <p:cNvPr id="8" name="Shape 5"/>
          <p:cNvSpPr/>
          <p:nvPr/>
        </p:nvSpPr>
        <p:spPr>
          <a:xfrm>
            <a:off x="7269480" y="2743200"/>
            <a:ext cx="411480" cy="411480"/>
          </a:xfrm>
          <a:prstGeom prst="ellipse">
            <a:avLst/>
          </a:prstGeom>
          <a:solidFill>
            <a:srgbClr val="13203F"/>
          </a:solidFill>
          <a:ln/>
        </p:spPr>
      </p:sp>
      <p:sp>
        <p:nvSpPr>
          <p:cNvPr id="9" name="Text 6"/>
          <p:cNvSpPr txBox="1"/>
          <p:nvPr/>
        </p:nvSpPr>
        <p:spPr>
          <a:xfrm>
            <a:off x="7269480" y="2743200"/>
            <a:ext cx="411480" cy="411480"/>
          </a:xfrm>
          <a:prstGeom prst="rect">
            <a:avLst/>
          </a:prstGeom>
          <a:noFill/>
          <a:ln/>
        </p:spPr>
        <p:txBody>
          <a:bodyPr wrap="square" lIns="0" tIns="0" rIns="0" bIns="0" rtlCol="0" anchor="ctr"/>
          <a:lstStyle/>
          <a:p>
            <a:pPr algn="ctr" indent="0" marL="0">
              <a:buNone/>
            </a:pPr>
            <a:r>
              <a:rPr lang="en-US" sz="1400" b="1" dirty="0">
                <a:solidFill>
                  <a:srgbClr val="F2B51C"/>
                </a:solidFill>
                <a:latin typeface="Calibri" pitchFamily="34" charset="0"/>
                <a:ea typeface="Calibri" pitchFamily="34" charset="-122"/>
                <a:cs typeface="Calibri" pitchFamily="34" charset="-120"/>
              </a:rPr>
              <a:t>1</a:t>
            </a:r>
            <a:endParaRPr lang="en-US" sz="1400" dirty="0"/>
          </a:p>
        </p:txBody>
      </p:sp>
      <p:sp>
        <p:nvSpPr>
          <p:cNvPr id="10" name="Text 7"/>
          <p:cNvSpPr txBox="1"/>
          <p:nvPr/>
        </p:nvSpPr>
        <p:spPr>
          <a:xfrm>
            <a:off x="7863840" y="2724912"/>
            <a:ext cx="3776472" cy="365760"/>
          </a:xfrm>
          <a:prstGeom prst="rect">
            <a:avLst/>
          </a:prstGeom>
          <a:noFill/>
          <a:ln/>
        </p:spPr>
        <p:txBody>
          <a:bodyPr wrap="square" lIns="0" tIns="0" rIns="0" bIns="0" rtlCol="0" anchor="t"/>
          <a:lstStyle/>
          <a:p>
            <a:pPr indent="0" marL="0">
              <a:buNone/>
            </a:pPr>
            <a:r>
              <a:rPr lang="en-US" sz="1700" b="1" dirty="0">
                <a:solidFill>
                  <a:srgbClr val="13203F"/>
                </a:solidFill>
                <a:latin typeface="Calibri" pitchFamily="34" charset="0"/>
                <a:ea typeface="Calibri" pitchFamily="34" charset="-122"/>
                <a:cs typeface="Calibri" pitchFamily="34" charset="-120"/>
              </a:rPr>
              <a:t>Presentation</a:t>
            </a:r>
            <a:endParaRPr lang="en-US" sz="1700" dirty="0"/>
          </a:p>
        </p:txBody>
      </p:sp>
      <p:sp>
        <p:nvSpPr>
          <p:cNvPr id="11" name="Text 8"/>
          <p:cNvSpPr txBox="1"/>
          <p:nvPr/>
        </p:nvSpPr>
        <p:spPr>
          <a:xfrm>
            <a:off x="7863840" y="3090672"/>
            <a:ext cx="3776472" cy="594360"/>
          </a:xfrm>
          <a:prstGeom prst="rect">
            <a:avLst/>
          </a:prstGeom>
          <a:noFill/>
          <a:ln/>
        </p:spPr>
        <p:txBody>
          <a:bodyPr wrap="square" lIns="0" tIns="0" rIns="0" bIns="0" rtlCol="0" anchor="t"/>
          <a:lstStyle/>
          <a:p>
            <a:pPr indent="0" marL="0">
              <a:buNone/>
            </a:pPr>
            <a:r>
              <a:rPr lang="en-US" sz="1400" dirty="0">
                <a:solidFill>
                  <a:srgbClr val="3A4560"/>
                </a:solidFill>
                <a:latin typeface="Calibri" pitchFamily="34" charset="0"/>
                <a:ea typeface="Calibri" pitchFamily="34" charset="-122"/>
                <a:cs typeface="Calibri" pitchFamily="34" charset="-120"/>
              </a:rPr>
              <a:t>Browser with Razor views, Bootstrap and Chart.js</a:t>
            </a:r>
            <a:endParaRPr lang="en-US" sz="1400" dirty="0"/>
          </a:p>
        </p:txBody>
      </p:sp>
      <p:sp>
        <p:nvSpPr>
          <p:cNvPr id="12" name="Shape 9"/>
          <p:cNvSpPr/>
          <p:nvPr/>
        </p:nvSpPr>
        <p:spPr>
          <a:xfrm>
            <a:off x="7269480" y="3794760"/>
            <a:ext cx="411480" cy="411480"/>
          </a:xfrm>
          <a:prstGeom prst="ellipse">
            <a:avLst/>
          </a:prstGeom>
          <a:solidFill>
            <a:srgbClr val="13203F"/>
          </a:solidFill>
          <a:ln/>
        </p:spPr>
      </p:sp>
      <p:sp>
        <p:nvSpPr>
          <p:cNvPr id="13" name="Text 10"/>
          <p:cNvSpPr txBox="1"/>
          <p:nvPr/>
        </p:nvSpPr>
        <p:spPr>
          <a:xfrm>
            <a:off x="7269480" y="3794760"/>
            <a:ext cx="411480" cy="411480"/>
          </a:xfrm>
          <a:prstGeom prst="rect">
            <a:avLst/>
          </a:prstGeom>
          <a:noFill/>
          <a:ln/>
        </p:spPr>
        <p:txBody>
          <a:bodyPr wrap="square" lIns="0" tIns="0" rIns="0" bIns="0" rtlCol="0" anchor="ctr"/>
          <a:lstStyle/>
          <a:p>
            <a:pPr algn="ctr" indent="0" marL="0">
              <a:buNone/>
            </a:pPr>
            <a:r>
              <a:rPr lang="en-US" sz="1400" b="1" dirty="0">
                <a:solidFill>
                  <a:srgbClr val="F2B51C"/>
                </a:solidFill>
                <a:latin typeface="Calibri" pitchFamily="34" charset="0"/>
                <a:ea typeface="Calibri" pitchFamily="34" charset="-122"/>
                <a:cs typeface="Calibri" pitchFamily="34" charset="-120"/>
              </a:rPr>
              <a:t>2</a:t>
            </a:r>
            <a:endParaRPr lang="en-US" sz="1400" dirty="0"/>
          </a:p>
        </p:txBody>
      </p:sp>
      <p:sp>
        <p:nvSpPr>
          <p:cNvPr id="14" name="Text 11"/>
          <p:cNvSpPr txBox="1"/>
          <p:nvPr/>
        </p:nvSpPr>
        <p:spPr>
          <a:xfrm>
            <a:off x="7863840" y="3776472"/>
            <a:ext cx="3776472" cy="365760"/>
          </a:xfrm>
          <a:prstGeom prst="rect">
            <a:avLst/>
          </a:prstGeom>
          <a:noFill/>
          <a:ln/>
        </p:spPr>
        <p:txBody>
          <a:bodyPr wrap="square" lIns="0" tIns="0" rIns="0" bIns="0" rtlCol="0" anchor="t"/>
          <a:lstStyle/>
          <a:p>
            <a:pPr indent="0" marL="0">
              <a:buNone/>
            </a:pPr>
            <a:r>
              <a:rPr lang="en-US" sz="1700" b="1" dirty="0">
                <a:solidFill>
                  <a:srgbClr val="13203F"/>
                </a:solidFill>
                <a:latin typeface="Calibri" pitchFamily="34" charset="0"/>
                <a:ea typeface="Calibri" pitchFamily="34" charset="-122"/>
                <a:cs typeface="Calibri" pitchFamily="34" charset="-120"/>
              </a:rPr>
              <a:t>Application</a:t>
            </a:r>
            <a:endParaRPr lang="en-US" sz="1700" dirty="0"/>
          </a:p>
        </p:txBody>
      </p:sp>
      <p:sp>
        <p:nvSpPr>
          <p:cNvPr id="15" name="Text 12"/>
          <p:cNvSpPr txBox="1"/>
          <p:nvPr/>
        </p:nvSpPr>
        <p:spPr>
          <a:xfrm>
            <a:off x="7863840" y="4142232"/>
            <a:ext cx="3776472" cy="594360"/>
          </a:xfrm>
          <a:prstGeom prst="rect">
            <a:avLst/>
          </a:prstGeom>
          <a:noFill/>
          <a:ln/>
        </p:spPr>
        <p:txBody>
          <a:bodyPr wrap="square" lIns="0" tIns="0" rIns="0" bIns="0" rtlCol="0" anchor="t"/>
          <a:lstStyle/>
          <a:p>
            <a:pPr indent="0" marL="0">
              <a:buNone/>
            </a:pPr>
            <a:r>
              <a:rPr lang="en-US" sz="1400" dirty="0">
                <a:solidFill>
                  <a:srgbClr val="3A4560"/>
                </a:solidFill>
                <a:latin typeface="Calibri" pitchFamily="34" charset="0"/>
                <a:ea typeface="Calibri" pitchFamily="34" charset="-122"/>
                <a:cs typeface="Calibri" pitchFamily="34" charset="-120"/>
              </a:rPr>
              <a:t>Seven controllers plus ASP.NET Core Identity</a:t>
            </a:r>
            <a:endParaRPr lang="en-US" sz="1400" dirty="0"/>
          </a:p>
        </p:txBody>
      </p:sp>
      <p:sp>
        <p:nvSpPr>
          <p:cNvPr id="16" name="Shape 13"/>
          <p:cNvSpPr/>
          <p:nvPr/>
        </p:nvSpPr>
        <p:spPr>
          <a:xfrm>
            <a:off x="7269480" y="4846320"/>
            <a:ext cx="411480" cy="411480"/>
          </a:xfrm>
          <a:prstGeom prst="ellipse">
            <a:avLst/>
          </a:prstGeom>
          <a:solidFill>
            <a:srgbClr val="13203F"/>
          </a:solidFill>
          <a:ln/>
        </p:spPr>
      </p:sp>
      <p:sp>
        <p:nvSpPr>
          <p:cNvPr id="17" name="Text 14"/>
          <p:cNvSpPr txBox="1"/>
          <p:nvPr/>
        </p:nvSpPr>
        <p:spPr>
          <a:xfrm>
            <a:off x="7269480" y="4846320"/>
            <a:ext cx="411480" cy="411480"/>
          </a:xfrm>
          <a:prstGeom prst="rect">
            <a:avLst/>
          </a:prstGeom>
          <a:noFill/>
          <a:ln/>
        </p:spPr>
        <p:txBody>
          <a:bodyPr wrap="square" lIns="0" tIns="0" rIns="0" bIns="0" rtlCol="0" anchor="ctr"/>
          <a:lstStyle/>
          <a:p>
            <a:pPr algn="ctr" indent="0" marL="0">
              <a:buNone/>
            </a:pPr>
            <a:r>
              <a:rPr lang="en-US" sz="1400" b="1" dirty="0">
                <a:solidFill>
                  <a:srgbClr val="F2B51C"/>
                </a:solidFill>
                <a:latin typeface="Calibri" pitchFamily="34" charset="0"/>
                <a:ea typeface="Calibri" pitchFamily="34" charset="-122"/>
                <a:cs typeface="Calibri" pitchFamily="34" charset="-120"/>
              </a:rPr>
              <a:t>3</a:t>
            </a:r>
            <a:endParaRPr lang="en-US" sz="1400" dirty="0"/>
          </a:p>
        </p:txBody>
      </p:sp>
      <p:sp>
        <p:nvSpPr>
          <p:cNvPr id="18" name="Text 15"/>
          <p:cNvSpPr txBox="1"/>
          <p:nvPr/>
        </p:nvSpPr>
        <p:spPr>
          <a:xfrm>
            <a:off x="7863840" y="4828032"/>
            <a:ext cx="3776472" cy="365760"/>
          </a:xfrm>
          <a:prstGeom prst="rect">
            <a:avLst/>
          </a:prstGeom>
          <a:noFill/>
          <a:ln/>
        </p:spPr>
        <p:txBody>
          <a:bodyPr wrap="square" lIns="0" tIns="0" rIns="0" bIns="0" rtlCol="0" anchor="t"/>
          <a:lstStyle/>
          <a:p>
            <a:pPr indent="0" marL="0">
              <a:buNone/>
            </a:pPr>
            <a:r>
              <a:rPr lang="en-US" sz="1700" b="1" dirty="0">
                <a:solidFill>
                  <a:srgbClr val="13203F"/>
                </a:solidFill>
                <a:latin typeface="Calibri" pitchFamily="34" charset="0"/>
                <a:ea typeface="Calibri" pitchFamily="34" charset="-122"/>
                <a:cs typeface="Calibri" pitchFamily="34" charset="-120"/>
              </a:rPr>
              <a:t>Data</a:t>
            </a:r>
            <a:endParaRPr lang="en-US" sz="1700" dirty="0"/>
          </a:p>
        </p:txBody>
      </p:sp>
      <p:sp>
        <p:nvSpPr>
          <p:cNvPr id="19" name="Text 16"/>
          <p:cNvSpPr txBox="1"/>
          <p:nvPr/>
        </p:nvSpPr>
        <p:spPr>
          <a:xfrm>
            <a:off x="7863840" y="5193792"/>
            <a:ext cx="3776472" cy="594360"/>
          </a:xfrm>
          <a:prstGeom prst="rect">
            <a:avLst/>
          </a:prstGeom>
          <a:noFill/>
          <a:ln/>
        </p:spPr>
        <p:txBody>
          <a:bodyPr wrap="square" lIns="0" tIns="0" rIns="0" bIns="0" rtlCol="0" anchor="t"/>
          <a:lstStyle/>
          <a:p>
            <a:pPr indent="0" marL="0">
              <a:buNone/>
            </a:pPr>
            <a:r>
              <a:rPr lang="en-US" sz="1400" dirty="0">
                <a:solidFill>
                  <a:srgbClr val="3A4560"/>
                </a:solidFill>
                <a:latin typeface="Calibri" pitchFamily="34" charset="0"/>
                <a:ea typeface="Calibri" pitchFamily="34" charset="-122"/>
                <a:cs typeface="Calibri" pitchFamily="34" charset="-120"/>
              </a:rPr>
              <a:t>EF Core over Microsoft SQL Server</a:t>
            </a:r>
            <a:endParaRPr lang="en-US" sz="1400" dirty="0"/>
          </a:p>
        </p:txBody>
      </p:sp>
      <p:sp>
        <p:nvSpPr>
          <p:cNvPr id="25" name="Slide Number Placeholder 0"/>
          <p:cNvSpPr>
            <a:spLocks noGrp="1"/>
          </p:cNvSpPr>
          <p:nvPr>
            <p:ph type="sldNum" sz="quarter" idx="4294967295"/>
          </p:nvPr>
        </p:nvSpPr>
        <p:spPr>
          <a:xfrm>
            <a:off x="10972800" y="6309360"/>
            <a:ext cx="670255"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200" b="1" spc="300" kern="0" dirty="0">
                <a:solidFill>
                  <a:srgbClr val="8A5F00"/>
                </a:solidFill>
                <a:latin typeface="Calibri" pitchFamily="34" charset="0"/>
                <a:ea typeface="Calibri" pitchFamily="34" charset="-122"/>
                <a:cs typeface="Calibri" pitchFamily="34" charset="-120"/>
              </a:rPr>
              <a:t>SYSTEM DESIGN</a:t>
            </a:r>
            <a:endParaRPr lang="en-US" sz="12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t"/>
          <a:lstStyle/>
          <a:p>
            <a:pPr algn="l" indent="0" marL="0">
              <a:buNone/>
            </a:pPr>
            <a:r>
              <a:rPr lang="en-US" sz="3400" b="1" dirty="0">
                <a:solidFill>
                  <a:srgbClr val="13203F"/>
                </a:solidFill>
                <a:latin typeface="Calibri" pitchFamily="34" charset="0"/>
                <a:ea typeface="Calibri" pitchFamily="34" charset="-122"/>
                <a:cs typeface="Calibri" pitchFamily="34" charset="-120"/>
              </a:rPr>
              <a:t>Database Design</a:t>
            </a:r>
            <a:endParaRPr lang="en-US" sz="3400" dirty="0"/>
          </a:p>
        </p:txBody>
      </p:sp>
      <p:sp>
        <p:nvSpPr>
          <p:cNvPr id="4" name="Text 2"/>
          <p:cNvSpPr txBox="1"/>
          <p:nvPr/>
        </p:nvSpPr>
        <p:spPr>
          <a:xfrm>
            <a:off x="548640" y="6309360"/>
            <a:ext cx="8229600" cy="2743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Figure 4.2 · Entity Relationship Diagram</a:t>
            </a:r>
            <a:endParaRPr lang="en-US" sz="1100" dirty="0"/>
          </a:p>
        </p:txBody>
      </p:sp>
      <p:sp>
        <p:nvSpPr>
          <p:cNvPr id="5" name="Shape 3"/>
          <p:cNvSpPr/>
          <p:nvPr/>
        </p:nvSpPr>
        <p:spPr>
          <a:xfrm>
            <a:off x="548640" y="1600200"/>
            <a:ext cx="8046720" cy="4480560"/>
          </a:xfrm>
          <a:prstGeom prst="roundRect">
            <a:avLst>
              <a:gd name="adj" fmla="val 2041"/>
            </a:avLst>
          </a:prstGeom>
          <a:solidFill>
            <a:srgbClr val="FFFFFF"/>
          </a:solidFill>
          <a:ln w="9525">
            <a:solidFill>
              <a:srgbClr val="E4DFD2"/>
            </a:solidFill>
            <a:prstDash val="solid"/>
          </a:ln>
        </p:spPr>
      </p:sp>
      <p:pic>
        <p:nvPicPr>
          <p:cNvPr id="6" name="Image 0" descr="Entity relationship diagram of the Beeciye database: ApplicationUser, Category, Product, ProductImage, CartItem, Order, OrderItem and Payment">    </p:cNvPr>
          <p:cNvPicPr>
            <a:picLocks noChangeAspect="1"/>
          </p:cNvPicPr>
          <p:nvPr/>
        </p:nvPicPr>
        <p:blipFill>
          <a:blip r:embed="rId1"/>
          <a:stretch>
            <a:fillRect/>
          </a:stretch>
        </p:blipFill>
        <p:spPr>
          <a:xfrm>
            <a:off x="718874" y="1709928"/>
            <a:ext cx="7706252" cy="4261104"/>
          </a:xfrm>
          <a:prstGeom prst="rect">
            <a:avLst/>
          </a:prstGeom>
        </p:spPr>
      </p:pic>
      <p:sp>
        <p:nvSpPr>
          <p:cNvPr id="7" name="Text 4"/>
          <p:cNvSpPr txBox="1"/>
          <p:nvPr/>
        </p:nvSpPr>
        <p:spPr>
          <a:xfrm>
            <a:off x="8961120" y="1828800"/>
            <a:ext cx="2679192" cy="914400"/>
          </a:xfrm>
          <a:prstGeom prst="rect">
            <a:avLst/>
          </a:prstGeom>
          <a:noFill/>
          <a:ln/>
        </p:spPr>
        <p:txBody>
          <a:bodyPr wrap="square" lIns="0" tIns="0" rIns="0" bIns="0" rtlCol="0" anchor="t"/>
          <a:lstStyle/>
          <a:p>
            <a:pPr indent="0" marL="0">
              <a:buNone/>
            </a:pPr>
            <a:r>
              <a:rPr lang="en-US" sz="6000" b="1" dirty="0">
                <a:solidFill>
                  <a:srgbClr val="C48A00"/>
                </a:solidFill>
                <a:latin typeface="Calibri" pitchFamily="34" charset="0"/>
                <a:ea typeface="Calibri" pitchFamily="34" charset="-122"/>
                <a:cs typeface="Calibri" pitchFamily="34" charset="-120"/>
              </a:rPr>
              <a:t>8</a:t>
            </a:r>
            <a:endParaRPr lang="en-US" sz="6000" dirty="0"/>
          </a:p>
        </p:txBody>
      </p:sp>
      <p:sp>
        <p:nvSpPr>
          <p:cNvPr id="8" name="Text 5"/>
          <p:cNvSpPr txBox="1"/>
          <p:nvPr/>
        </p:nvSpPr>
        <p:spPr>
          <a:xfrm>
            <a:off x="8961120" y="2788920"/>
            <a:ext cx="2679192" cy="914400"/>
          </a:xfrm>
          <a:prstGeom prst="rect">
            <a:avLst/>
          </a:prstGeom>
          <a:noFill/>
          <a:ln/>
        </p:spPr>
        <p:txBody>
          <a:bodyPr wrap="square" lIns="0" tIns="0" rIns="0" bIns="0" rtlCol="0" anchor="t"/>
          <a:lstStyle/>
          <a:p>
            <a:pPr indent="0" marL="0">
              <a:buNone/>
            </a:pPr>
            <a:r>
              <a:rPr lang="en-US" sz="1700" dirty="0">
                <a:solidFill>
                  <a:srgbClr val="13203F"/>
                </a:solidFill>
                <a:latin typeface="Calibri" pitchFamily="34" charset="0"/>
                <a:ea typeface="Calibri" pitchFamily="34" charset="-122"/>
                <a:cs typeface="Calibri" pitchFamily="34" charset="-120"/>
              </a:rPr>
              <a:t>entities, built code-first with EF Core migrations.</a:t>
            </a:r>
            <a:endParaRPr lang="en-US" sz="1700" dirty="0"/>
          </a:p>
        </p:txBody>
      </p:sp>
      <p:sp>
        <p:nvSpPr>
          <p:cNvPr id="9" name="Shape 6"/>
          <p:cNvSpPr/>
          <p:nvPr/>
        </p:nvSpPr>
        <p:spPr>
          <a:xfrm>
            <a:off x="8961120" y="3886200"/>
            <a:ext cx="2679192" cy="0"/>
          </a:xfrm>
          <a:prstGeom prst="line">
            <a:avLst/>
          </a:prstGeom>
          <a:noFill/>
          <a:ln w="19050">
            <a:solidFill>
              <a:srgbClr val="E4DFD2"/>
            </a:solidFill>
            <a:prstDash val="solid"/>
          </a:ln>
        </p:spPr>
      </p:sp>
      <p:sp>
        <p:nvSpPr>
          <p:cNvPr id="10" name="Text 7"/>
          <p:cNvSpPr txBox="1"/>
          <p:nvPr/>
        </p:nvSpPr>
        <p:spPr>
          <a:xfrm>
            <a:off x="8961120" y="4114800"/>
            <a:ext cx="2679192" cy="1463040"/>
          </a:xfrm>
          <a:prstGeom prst="rect">
            <a:avLst/>
          </a:prstGeom>
          <a:noFill/>
          <a:ln/>
        </p:spPr>
        <p:txBody>
          <a:bodyPr wrap="square" lIns="0" tIns="0" rIns="0" bIns="0" rtlCol="0" anchor="t"/>
          <a:lstStyle/>
          <a:p>
            <a:pPr indent="0" marL="0">
              <a:buNone/>
            </a:pPr>
            <a:r>
              <a:rPr lang="en-US" sz="1400" b="1" dirty="0">
                <a:solidFill>
                  <a:srgbClr val="13203F"/>
                </a:solidFill>
                <a:latin typeface="Calibri" pitchFamily="34" charset="0"/>
                <a:ea typeface="Calibri" pitchFamily="34" charset="-122"/>
                <a:cs typeface="Calibri" pitchFamily="34" charset="-120"/>
              </a:rPr>
              <a:t>Key design: </a:t>
            </a:r>
            <a:pPr indent="0" marL="0">
              <a:buNone/>
            </a:pPr>
            <a:r>
              <a:rPr lang="en-US" sz="1400" dirty="0">
                <a:solidFill>
                  <a:srgbClr val="3A4560"/>
                </a:solidFill>
                <a:latin typeface="Calibri" pitchFamily="34" charset="0"/>
                <a:ea typeface="Calibri" pitchFamily="34" charset="-122"/>
                <a:cs typeface="Calibri" pitchFamily="34" charset="-120"/>
              </a:rPr>
              <a:t>one Order can have many Payments, so partial and repeated payments are recorded.</a:t>
            </a:r>
            <a:endParaRPr lang="en-US" sz="1400" dirty="0"/>
          </a:p>
        </p:txBody>
      </p:sp>
      <p:sp>
        <p:nvSpPr>
          <p:cNvPr id="25" name="Slide Number Placeholder 0"/>
          <p:cNvSpPr>
            <a:spLocks noGrp="1"/>
          </p:cNvSpPr>
          <p:nvPr>
            <p:ph type="sldNum" sz="quarter" idx="4294967295"/>
          </p:nvPr>
        </p:nvSpPr>
        <p:spPr>
          <a:xfrm>
            <a:off x="10972800" y="6309360"/>
            <a:ext cx="670255"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200" b="1" spc="300" kern="0" dirty="0">
                <a:solidFill>
                  <a:srgbClr val="8A5F00"/>
                </a:solidFill>
                <a:latin typeface="Calibri" pitchFamily="34" charset="0"/>
                <a:ea typeface="Calibri" pitchFamily="34" charset="-122"/>
                <a:cs typeface="Calibri" pitchFamily="34" charset="-120"/>
              </a:rPr>
              <a:t>SYSTEM DESIGN</a:t>
            </a:r>
            <a:endParaRPr lang="en-US" sz="12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t"/>
          <a:lstStyle/>
          <a:p>
            <a:pPr algn="l" indent="0" marL="0">
              <a:buNone/>
            </a:pPr>
            <a:r>
              <a:rPr lang="en-US" sz="3400" b="1" dirty="0">
                <a:solidFill>
                  <a:srgbClr val="13203F"/>
                </a:solidFill>
                <a:latin typeface="Calibri" pitchFamily="34" charset="0"/>
                <a:ea typeface="Calibri" pitchFamily="34" charset="-122"/>
                <a:cs typeface="Calibri" pitchFamily="34" charset="-120"/>
              </a:rPr>
              <a:t>Use Case Diagram</a:t>
            </a:r>
            <a:endParaRPr lang="en-US" sz="3400" dirty="0"/>
          </a:p>
        </p:txBody>
      </p:sp>
      <p:sp>
        <p:nvSpPr>
          <p:cNvPr id="4" name="Text 2"/>
          <p:cNvSpPr txBox="1"/>
          <p:nvPr/>
        </p:nvSpPr>
        <p:spPr>
          <a:xfrm>
            <a:off x="548640" y="6309360"/>
            <a:ext cx="8229600" cy="2743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Figure 4.3 · Use case diagram</a:t>
            </a:r>
            <a:endParaRPr lang="en-US" sz="1100" dirty="0"/>
          </a:p>
        </p:txBody>
      </p:sp>
      <p:sp>
        <p:nvSpPr>
          <p:cNvPr id="5" name="Shape 3"/>
          <p:cNvSpPr/>
          <p:nvPr/>
        </p:nvSpPr>
        <p:spPr>
          <a:xfrm>
            <a:off x="548640" y="1600200"/>
            <a:ext cx="6309360" cy="4480560"/>
          </a:xfrm>
          <a:prstGeom prst="roundRect">
            <a:avLst>
              <a:gd name="adj" fmla="val 2041"/>
            </a:avLst>
          </a:prstGeom>
          <a:solidFill>
            <a:srgbClr val="FFFFFF"/>
          </a:solidFill>
          <a:ln w="9525">
            <a:solidFill>
              <a:srgbClr val="E4DFD2"/>
            </a:solidFill>
            <a:prstDash val="solid"/>
          </a:ln>
        </p:spPr>
      </p:sp>
      <p:pic>
        <p:nvPicPr>
          <p:cNvPr id="6" name="Image 0" descr="Use case diagram with three actors: Guest, Registered User and Administrator">    </p:cNvPr>
          <p:cNvPicPr>
            <a:picLocks noChangeAspect="1"/>
          </p:cNvPicPr>
          <p:nvPr/>
        </p:nvPicPr>
        <p:blipFill>
          <a:blip r:embed="rId1"/>
          <a:stretch>
            <a:fillRect/>
          </a:stretch>
        </p:blipFill>
        <p:spPr>
          <a:xfrm>
            <a:off x="658368" y="1729313"/>
            <a:ext cx="6089904" cy="4222333"/>
          </a:xfrm>
          <a:prstGeom prst="rect">
            <a:avLst/>
          </a:prstGeom>
        </p:spPr>
      </p:pic>
      <p:sp>
        <p:nvSpPr>
          <p:cNvPr id="7" name="Text 4"/>
          <p:cNvSpPr txBox="1"/>
          <p:nvPr/>
        </p:nvSpPr>
        <p:spPr>
          <a:xfrm>
            <a:off x="7269480" y="1828800"/>
            <a:ext cx="4370832" cy="822960"/>
          </a:xfrm>
          <a:prstGeom prst="rect">
            <a:avLst/>
          </a:prstGeom>
          <a:noFill/>
          <a:ln/>
        </p:spPr>
        <p:txBody>
          <a:bodyPr wrap="square" lIns="0" tIns="0" rIns="0" bIns="0" rtlCol="0" anchor="t"/>
          <a:lstStyle/>
          <a:p>
            <a:pPr indent="0" marL="0">
              <a:buNone/>
            </a:pPr>
            <a:r>
              <a:rPr lang="en-US" sz="2000" b="1" dirty="0">
                <a:solidFill>
                  <a:srgbClr val="13203F"/>
                </a:solidFill>
                <a:latin typeface="Calibri" pitchFamily="34" charset="0"/>
                <a:ea typeface="Calibri" pitchFamily="34" charset="-122"/>
                <a:cs typeface="Calibri" pitchFamily="34" charset="-120"/>
              </a:rPr>
              <a:t>Three actors use the system.</a:t>
            </a:r>
            <a:endParaRPr lang="en-US" sz="2000" dirty="0"/>
          </a:p>
        </p:txBody>
      </p:sp>
      <p:sp>
        <p:nvSpPr>
          <p:cNvPr id="8" name="Shape 5"/>
          <p:cNvSpPr/>
          <p:nvPr/>
        </p:nvSpPr>
        <p:spPr>
          <a:xfrm>
            <a:off x="7269480" y="2743200"/>
            <a:ext cx="411480" cy="411480"/>
          </a:xfrm>
          <a:prstGeom prst="ellipse">
            <a:avLst/>
          </a:prstGeom>
          <a:solidFill>
            <a:srgbClr val="13203F"/>
          </a:solidFill>
          <a:ln/>
        </p:spPr>
      </p:sp>
      <p:sp>
        <p:nvSpPr>
          <p:cNvPr id="9" name="Text 6"/>
          <p:cNvSpPr txBox="1"/>
          <p:nvPr/>
        </p:nvSpPr>
        <p:spPr>
          <a:xfrm>
            <a:off x="7269480" y="2743200"/>
            <a:ext cx="411480" cy="411480"/>
          </a:xfrm>
          <a:prstGeom prst="rect">
            <a:avLst/>
          </a:prstGeom>
          <a:noFill/>
          <a:ln/>
        </p:spPr>
        <p:txBody>
          <a:bodyPr wrap="square" lIns="0" tIns="0" rIns="0" bIns="0" rtlCol="0" anchor="ctr"/>
          <a:lstStyle/>
          <a:p>
            <a:pPr algn="ctr" indent="0" marL="0">
              <a:buNone/>
            </a:pPr>
            <a:r>
              <a:rPr lang="en-US" sz="1400" b="1" dirty="0">
                <a:solidFill>
                  <a:srgbClr val="F2B51C"/>
                </a:solidFill>
                <a:latin typeface="Calibri" pitchFamily="34" charset="0"/>
                <a:ea typeface="Calibri" pitchFamily="34" charset="-122"/>
                <a:cs typeface="Calibri" pitchFamily="34" charset="-120"/>
              </a:rPr>
              <a:t>1</a:t>
            </a:r>
            <a:endParaRPr lang="en-US" sz="1400" dirty="0"/>
          </a:p>
        </p:txBody>
      </p:sp>
      <p:sp>
        <p:nvSpPr>
          <p:cNvPr id="10" name="Text 7"/>
          <p:cNvSpPr txBox="1"/>
          <p:nvPr/>
        </p:nvSpPr>
        <p:spPr>
          <a:xfrm>
            <a:off x="7863840" y="2724912"/>
            <a:ext cx="3776472" cy="365760"/>
          </a:xfrm>
          <a:prstGeom prst="rect">
            <a:avLst/>
          </a:prstGeom>
          <a:noFill/>
          <a:ln/>
        </p:spPr>
        <p:txBody>
          <a:bodyPr wrap="square" lIns="0" tIns="0" rIns="0" bIns="0" rtlCol="0" anchor="t"/>
          <a:lstStyle/>
          <a:p>
            <a:pPr indent="0" marL="0">
              <a:buNone/>
            </a:pPr>
            <a:r>
              <a:rPr lang="en-US" sz="1700" b="1" dirty="0">
                <a:solidFill>
                  <a:srgbClr val="13203F"/>
                </a:solidFill>
                <a:latin typeface="Calibri" pitchFamily="34" charset="0"/>
                <a:ea typeface="Calibri" pitchFamily="34" charset="-122"/>
                <a:cs typeface="Calibri" pitchFamily="34" charset="-120"/>
              </a:rPr>
              <a:t>Guest</a:t>
            </a:r>
            <a:endParaRPr lang="en-US" sz="1700" dirty="0"/>
          </a:p>
        </p:txBody>
      </p:sp>
      <p:sp>
        <p:nvSpPr>
          <p:cNvPr id="11" name="Text 8"/>
          <p:cNvSpPr txBox="1"/>
          <p:nvPr/>
        </p:nvSpPr>
        <p:spPr>
          <a:xfrm>
            <a:off x="7863840" y="3090672"/>
            <a:ext cx="3776472" cy="594360"/>
          </a:xfrm>
          <a:prstGeom prst="rect">
            <a:avLst/>
          </a:prstGeom>
          <a:noFill/>
          <a:ln/>
        </p:spPr>
        <p:txBody>
          <a:bodyPr wrap="square" lIns="0" tIns="0" rIns="0" bIns="0" rtlCol="0" anchor="t"/>
          <a:lstStyle/>
          <a:p>
            <a:pPr indent="0" marL="0">
              <a:buNone/>
            </a:pPr>
            <a:r>
              <a:rPr lang="en-US" sz="1400" dirty="0">
                <a:solidFill>
                  <a:srgbClr val="3A4560"/>
                </a:solidFill>
                <a:latin typeface="Calibri" pitchFamily="34" charset="0"/>
                <a:ea typeface="Calibri" pitchFamily="34" charset="-122"/>
                <a:cs typeface="Calibri" pitchFamily="34" charset="-120"/>
              </a:rPr>
              <a:t>Browse, register, list an item with a phone number</a:t>
            </a:r>
            <a:endParaRPr lang="en-US" sz="1400" dirty="0"/>
          </a:p>
        </p:txBody>
      </p:sp>
      <p:sp>
        <p:nvSpPr>
          <p:cNvPr id="12" name="Shape 9"/>
          <p:cNvSpPr/>
          <p:nvPr/>
        </p:nvSpPr>
        <p:spPr>
          <a:xfrm>
            <a:off x="7269480" y="3794760"/>
            <a:ext cx="411480" cy="411480"/>
          </a:xfrm>
          <a:prstGeom prst="ellipse">
            <a:avLst/>
          </a:prstGeom>
          <a:solidFill>
            <a:srgbClr val="13203F"/>
          </a:solidFill>
          <a:ln/>
        </p:spPr>
      </p:sp>
      <p:sp>
        <p:nvSpPr>
          <p:cNvPr id="13" name="Text 10"/>
          <p:cNvSpPr txBox="1"/>
          <p:nvPr/>
        </p:nvSpPr>
        <p:spPr>
          <a:xfrm>
            <a:off x="7269480" y="3794760"/>
            <a:ext cx="411480" cy="411480"/>
          </a:xfrm>
          <a:prstGeom prst="rect">
            <a:avLst/>
          </a:prstGeom>
          <a:noFill/>
          <a:ln/>
        </p:spPr>
        <p:txBody>
          <a:bodyPr wrap="square" lIns="0" tIns="0" rIns="0" bIns="0" rtlCol="0" anchor="ctr"/>
          <a:lstStyle/>
          <a:p>
            <a:pPr algn="ctr" indent="0" marL="0">
              <a:buNone/>
            </a:pPr>
            <a:r>
              <a:rPr lang="en-US" sz="1400" b="1" dirty="0">
                <a:solidFill>
                  <a:srgbClr val="F2B51C"/>
                </a:solidFill>
                <a:latin typeface="Calibri" pitchFamily="34" charset="0"/>
                <a:ea typeface="Calibri" pitchFamily="34" charset="-122"/>
                <a:cs typeface="Calibri" pitchFamily="34" charset="-120"/>
              </a:rPr>
              <a:t>2</a:t>
            </a:r>
            <a:endParaRPr lang="en-US" sz="1400" dirty="0"/>
          </a:p>
        </p:txBody>
      </p:sp>
      <p:sp>
        <p:nvSpPr>
          <p:cNvPr id="14" name="Text 11"/>
          <p:cNvSpPr txBox="1"/>
          <p:nvPr/>
        </p:nvSpPr>
        <p:spPr>
          <a:xfrm>
            <a:off x="7863840" y="3776472"/>
            <a:ext cx="3776472" cy="365760"/>
          </a:xfrm>
          <a:prstGeom prst="rect">
            <a:avLst/>
          </a:prstGeom>
          <a:noFill/>
          <a:ln/>
        </p:spPr>
        <p:txBody>
          <a:bodyPr wrap="square" lIns="0" tIns="0" rIns="0" bIns="0" rtlCol="0" anchor="t"/>
          <a:lstStyle/>
          <a:p>
            <a:pPr indent="0" marL="0">
              <a:buNone/>
            </a:pPr>
            <a:r>
              <a:rPr lang="en-US" sz="1700" b="1" dirty="0">
                <a:solidFill>
                  <a:srgbClr val="13203F"/>
                </a:solidFill>
                <a:latin typeface="Calibri" pitchFamily="34" charset="0"/>
                <a:ea typeface="Calibri" pitchFamily="34" charset="-122"/>
                <a:cs typeface="Calibri" pitchFamily="34" charset="-120"/>
              </a:rPr>
              <a:t>Registered User</a:t>
            </a:r>
            <a:endParaRPr lang="en-US" sz="1700" dirty="0"/>
          </a:p>
        </p:txBody>
      </p:sp>
      <p:sp>
        <p:nvSpPr>
          <p:cNvPr id="15" name="Text 12"/>
          <p:cNvSpPr txBox="1"/>
          <p:nvPr/>
        </p:nvSpPr>
        <p:spPr>
          <a:xfrm>
            <a:off x="7863840" y="4142232"/>
            <a:ext cx="3776472" cy="594360"/>
          </a:xfrm>
          <a:prstGeom prst="rect">
            <a:avLst/>
          </a:prstGeom>
          <a:noFill/>
          <a:ln/>
        </p:spPr>
        <p:txBody>
          <a:bodyPr wrap="square" lIns="0" tIns="0" rIns="0" bIns="0" rtlCol="0" anchor="t"/>
          <a:lstStyle/>
          <a:p>
            <a:pPr indent="0" marL="0">
              <a:buNone/>
            </a:pPr>
            <a:r>
              <a:rPr lang="en-US" sz="1400" dirty="0">
                <a:solidFill>
                  <a:srgbClr val="3A4560"/>
                </a:solidFill>
                <a:latin typeface="Calibri" pitchFamily="34" charset="0"/>
                <a:ea typeface="Calibri" pitchFamily="34" charset="-122"/>
                <a:cs typeface="Calibri" pitchFamily="34" charset="-120"/>
              </a:rPr>
              <a:t>Buys and sells from one account</a:t>
            </a:r>
            <a:endParaRPr lang="en-US" sz="1400" dirty="0"/>
          </a:p>
        </p:txBody>
      </p:sp>
      <p:sp>
        <p:nvSpPr>
          <p:cNvPr id="16" name="Shape 13"/>
          <p:cNvSpPr/>
          <p:nvPr/>
        </p:nvSpPr>
        <p:spPr>
          <a:xfrm>
            <a:off x="7269480" y="4846320"/>
            <a:ext cx="411480" cy="411480"/>
          </a:xfrm>
          <a:prstGeom prst="ellipse">
            <a:avLst/>
          </a:prstGeom>
          <a:solidFill>
            <a:srgbClr val="13203F"/>
          </a:solidFill>
          <a:ln/>
        </p:spPr>
      </p:sp>
      <p:sp>
        <p:nvSpPr>
          <p:cNvPr id="17" name="Text 14"/>
          <p:cNvSpPr txBox="1"/>
          <p:nvPr/>
        </p:nvSpPr>
        <p:spPr>
          <a:xfrm>
            <a:off x="7269480" y="4846320"/>
            <a:ext cx="411480" cy="411480"/>
          </a:xfrm>
          <a:prstGeom prst="rect">
            <a:avLst/>
          </a:prstGeom>
          <a:noFill/>
          <a:ln/>
        </p:spPr>
        <p:txBody>
          <a:bodyPr wrap="square" lIns="0" tIns="0" rIns="0" bIns="0" rtlCol="0" anchor="ctr"/>
          <a:lstStyle/>
          <a:p>
            <a:pPr algn="ctr" indent="0" marL="0">
              <a:buNone/>
            </a:pPr>
            <a:r>
              <a:rPr lang="en-US" sz="1400" b="1" dirty="0">
                <a:solidFill>
                  <a:srgbClr val="F2B51C"/>
                </a:solidFill>
                <a:latin typeface="Calibri" pitchFamily="34" charset="0"/>
                <a:ea typeface="Calibri" pitchFamily="34" charset="-122"/>
                <a:cs typeface="Calibri" pitchFamily="34" charset="-120"/>
              </a:rPr>
              <a:t>3</a:t>
            </a:r>
            <a:endParaRPr lang="en-US" sz="1400" dirty="0"/>
          </a:p>
        </p:txBody>
      </p:sp>
      <p:sp>
        <p:nvSpPr>
          <p:cNvPr id="18" name="Text 15"/>
          <p:cNvSpPr txBox="1"/>
          <p:nvPr/>
        </p:nvSpPr>
        <p:spPr>
          <a:xfrm>
            <a:off x="7863840" y="4828032"/>
            <a:ext cx="3776472" cy="365760"/>
          </a:xfrm>
          <a:prstGeom prst="rect">
            <a:avLst/>
          </a:prstGeom>
          <a:noFill/>
          <a:ln/>
        </p:spPr>
        <p:txBody>
          <a:bodyPr wrap="square" lIns="0" tIns="0" rIns="0" bIns="0" rtlCol="0" anchor="t"/>
          <a:lstStyle/>
          <a:p>
            <a:pPr indent="0" marL="0">
              <a:buNone/>
            </a:pPr>
            <a:r>
              <a:rPr lang="en-US" sz="1700" b="1" dirty="0">
                <a:solidFill>
                  <a:srgbClr val="13203F"/>
                </a:solidFill>
                <a:latin typeface="Calibri" pitchFamily="34" charset="0"/>
                <a:ea typeface="Calibri" pitchFamily="34" charset="-122"/>
                <a:cs typeface="Calibri" pitchFamily="34" charset="-120"/>
              </a:rPr>
              <a:t>Administrator</a:t>
            </a:r>
            <a:endParaRPr lang="en-US" sz="1700" dirty="0"/>
          </a:p>
        </p:txBody>
      </p:sp>
      <p:sp>
        <p:nvSpPr>
          <p:cNvPr id="19" name="Text 16"/>
          <p:cNvSpPr txBox="1"/>
          <p:nvPr/>
        </p:nvSpPr>
        <p:spPr>
          <a:xfrm>
            <a:off x="7863840" y="5193792"/>
            <a:ext cx="3776472" cy="594360"/>
          </a:xfrm>
          <a:prstGeom prst="rect">
            <a:avLst/>
          </a:prstGeom>
          <a:noFill/>
          <a:ln/>
        </p:spPr>
        <p:txBody>
          <a:bodyPr wrap="square" lIns="0" tIns="0" rIns="0" bIns="0" rtlCol="0" anchor="t"/>
          <a:lstStyle/>
          <a:p>
            <a:pPr indent="0" marL="0">
              <a:buNone/>
            </a:pPr>
            <a:r>
              <a:rPr lang="en-US" sz="1400" dirty="0">
                <a:solidFill>
                  <a:srgbClr val="3A4560"/>
                </a:solidFill>
                <a:latin typeface="Calibri" pitchFamily="34" charset="0"/>
                <a:ea typeface="Calibri" pitchFamily="34" charset="-122"/>
                <a:cs typeface="Calibri" pitchFamily="34" charset="-120"/>
              </a:rPr>
              <a:t>Manages users, products, orders and payments</a:t>
            </a:r>
            <a:endParaRPr lang="en-US" sz="1400" dirty="0"/>
          </a:p>
        </p:txBody>
      </p:sp>
      <p:sp>
        <p:nvSpPr>
          <p:cNvPr id="25" name="Slide Number Placeholder 0"/>
          <p:cNvSpPr>
            <a:spLocks noGrp="1"/>
          </p:cNvSpPr>
          <p:nvPr>
            <p:ph type="sldNum" sz="quarter" idx="4294967295"/>
          </p:nvPr>
        </p:nvSpPr>
        <p:spPr>
          <a:xfrm>
            <a:off x="10972800" y="6309360"/>
            <a:ext cx="670255"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200" b="1" spc="300" kern="0" dirty="0">
                <a:solidFill>
                  <a:srgbClr val="8A5F00"/>
                </a:solidFill>
                <a:latin typeface="Calibri" pitchFamily="34" charset="0"/>
                <a:ea typeface="Calibri" pitchFamily="34" charset="-122"/>
                <a:cs typeface="Calibri" pitchFamily="34" charset="-120"/>
              </a:rPr>
              <a:t>IMPLEMENTATION</a:t>
            </a:r>
            <a:endParaRPr lang="en-US" sz="12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t"/>
          <a:lstStyle/>
          <a:p>
            <a:pPr algn="l" indent="0" marL="0">
              <a:buNone/>
            </a:pPr>
            <a:r>
              <a:rPr lang="en-US" sz="3400" b="1" dirty="0">
                <a:solidFill>
                  <a:srgbClr val="13203F"/>
                </a:solidFill>
                <a:latin typeface="Calibri" pitchFamily="34" charset="0"/>
                <a:ea typeface="Calibri" pitchFamily="34" charset="-122"/>
                <a:cs typeface="Calibri" pitchFamily="34" charset="-120"/>
              </a:rPr>
              <a:t>Key Features by Role</a:t>
            </a:r>
            <a:endParaRPr lang="en-US" sz="3400" dirty="0"/>
          </a:p>
        </p:txBody>
      </p:sp>
      <p:sp>
        <p:nvSpPr>
          <p:cNvPr id="4" name="Text 2"/>
          <p:cNvSpPr txBox="1"/>
          <p:nvPr/>
        </p:nvSpPr>
        <p:spPr>
          <a:xfrm>
            <a:off x="548640" y="6309360"/>
            <a:ext cx="8229600" cy="2743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Beeciye · Second-Hand Market Platform</a:t>
            </a:r>
            <a:endParaRPr lang="en-US" sz="1100" dirty="0"/>
          </a:p>
        </p:txBody>
      </p:sp>
      <p:sp>
        <p:nvSpPr>
          <p:cNvPr id="5" name="Shape 3"/>
          <p:cNvSpPr/>
          <p:nvPr/>
        </p:nvSpPr>
        <p:spPr>
          <a:xfrm>
            <a:off x="548640" y="1691640"/>
            <a:ext cx="3515258" cy="3566160"/>
          </a:xfrm>
          <a:prstGeom prst="roundRect">
            <a:avLst>
              <a:gd name="adj" fmla="val 3121"/>
            </a:avLst>
          </a:prstGeom>
          <a:solidFill>
            <a:srgbClr val="FFFDF8"/>
          </a:solidFill>
          <a:ln w="9525">
            <a:solidFill>
              <a:srgbClr val="E4DFD2"/>
            </a:solidFill>
            <a:prstDash val="solid"/>
          </a:ln>
        </p:spPr>
      </p:sp>
      <p:sp>
        <p:nvSpPr>
          <p:cNvPr id="6" name="Text 4"/>
          <p:cNvSpPr txBox="1"/>
          <p:nvPr/>
        </p:nvSpPr>
        <p:spPr>
          <a:xfrm>
            <a:off x="914400" y="1965960"/>
            <a:ext cx="2783738" cy="457200"/>
          </a:xfrm>
          <a:prstGeom prst="rect">
            <a:avLst/>
          </a:prstGeom>
          <a:noFill/>
          <a:ln/>
        </p:spPr>
        <p:txBody>
          <a:bodyPr wrap="square" lIns="0" tIns="0" rIns="0" bIns="0" rtlCol="0" anchor="t"/>
          <a:lstStyle/>
          <a:p>
            <a:pPr indent="0" marL="0">
              <a:buNone/>
            </a:pPr>
            <a:r>
              <a:rPr lang="en-US" sz="2100" b="1" dirty="0">
                <a:solidFill>
                  <a:srgbClr val="13203F"/>
                </a:solidFill>
                <a:latin typeface="Calibri" pitchFamily="34" charset="0"/>
                <a:ea typeface="Calibri" pitchFamily="34" charset="-122"/>
                <a:cs typeface="Calibri" pitchFamily="34" charset="-120"/>
              </a:rPr>
              <a:t>Buying</a:t>
            </a:r>
            <a:endParaRPr lang="en-US" sz="2100" dirty="0"/>
          </a:p>
        </p:txBody>
      </p:sp>
      <p:sp>
        <p:nvSpPr>
          <p:cNvPr id="7" name="Text 5"/>
          <p:cNvSpPr txBox="1"/>
          <p:nvPr/>
        </p:nvSpPr>
        <p:spPr>
          <a:xfrm>
            <a:off x="914400" y="2606040"/>
            <a:ext cx="2783738" cy="32004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A4560"/>
                </a:solidFill>
                <a:latin typeface="Calibri" pitchFamily="34" charset="0"/>
                <a:ea typeface="Calibri" pitchFamily="34" charset="-122"/>
                <a:cs typeface="Calibri" pitchFamily="34" charset="-120"/>
              </a:rPr>
              <a:t>Browse by category and search</a:t>
            </a:r>
            <a:endParaRPr lang="en-US" sz="1500" dirty="0"/>
          </a:p>
          <a:p>
            <a:pPr marL="342900" indent="-342900">
              <a:spcAft>
                <a:spcPts val="800"/>
              </a:spcAft>
              <a:buSzPct val="100000"/>
              <a:buChar char="•"/>
            </a:pPr>
            <a:r>
              <a:rPr lang="en-US" sz="1500" dirty="0">
                <a:solidFill>
                  <a:srgbClr val="3A4560"/>
                </a:solidFill>
                <a:latin typeface="Calibri" pitchFamily="34" charset="0"/>
                <a:ea typeface="Calibri" pitchFamily="34" charset="-122"/>
                <a:cs typeface="Calibri" pitchFamily="34" charset="-120"/>
              </a:rPr>
              <a:t>Product gallery and details</a:t>
            </a:r>
            <a:endParaRPr lang="en-US" sz="1500" dirty="0"/>
          </a:p>
          <a:p>
            <a:pPr marL="342900" indent="-342900">
              <a:spcAft>
                <a:spcPts val="800"/>
              </a:spcAft>
              <a:buSzPct val="100000"/>
              <a:buChar char="•"/>
            </a:pPr>
            <a:r>
              <a:rPr lang="en-US" sz="1500" dirty="0">
                <a:solidFill>
                  <a:srgbClr val="3A4560"/>
                </a:solidFill>
                <a:latin typeface="Calibri" pitchFamily="34" charset="0"/>
                <a:ea typeface="Calibri" pitchFamily="34" charset="-122"/>
                <a:cs typeface="Calibri" pitchFamily="34" charset="-120"/>
              </a:rPr>
              <a:t>Cart and one-click Buy Now</a:t>
            </a:r>
            <a:endParaRPr lang="en-US" sz="1500" dirty="0"/>
          </a:p>
          <a:p>
            <a:pPr marL="342900" indent="-342900">
              <a:spcAft>
                <a:spcPts val="800"/>
              </a:spcAft>
              <a:buSzPct val="100000"/>
              <a:buChar char="•"/>
            </a:pPr>
            <a:r>
              <a:rPr lang="en-US" sz="1500" dirty="0">
                <a:solidFill>
                  <a:srgbClr val="3A4560"/>
                </a:solidFill>
                <a:latin typeface="Calibri" pitchFamily="34" charset="0"/>
                <a:ea typeface="Calibri" pitchFamily="34" charset="-122"/>
                <a:cs typeface="Calibri" pitchFamily="34" charset="-120"/>
              </a:rPr>
              <a:t>Cash on Delivery or Mobile Money</a:t>
            </a:r>
            <a:endParaRPr lang="en-US" sz="1500" dirty="0"/>
          </a:p>
          <a:p>
            <a:pPr marL="342900" indent="-342900">
              <a:spcAft>
                <a:spcPts val="800"/>
              </a:spcAft>
              <a:buSzPct val="100000"/>
              <a:buChar char="•"/>
            </a:pPr>
            <a:r>
              <a:rPr lang="en-US" sz="1500" dirty="0">
                <a:solidFill>
                  <a:srgbClr val="3A4560"/>
                </a:solidFill>
                <a:latin typeface="Calibri" pitchFamily="34" charset="0"/>
                <a:ea typeface="Calibri" pitchFamily="34" charset="-122"/>
                <a:cs typeface="Calibri" pitchFamily="34" charset="-120"/>
              </a:rPr>
              <a:t>Order history</a:t>
            </a:r>
            <a:endParaRPr lang="en-US" sz="1500" dirty="0"/>
          </a:p>
        </p:txBody>
      </p:sp>
      <p:sp>
        <p:nvSpPr>
          <p:cNvPr id="8" name="Shape 6"/>
          <p:cNvSpPr/>
          <p:nvPr/>
        </p:nvSpPr>
        <p:spPr>
          <a:xfrm>
            <a:off x="4338218" y="1691640"/>
            <a:ext cx="3515258" cy="3566160"/>
          </a:xfrm>
          <a:prstGeom prst="roundRect">
            <a:avLst>
              <a:gd name="adj" fmla="val 3121"/>
            </a:avLst>
          </a:prstGeom>
          <a:solidFill>
            <a:srgbClr val="FFFDF8"/>
          </a:solidFill>
          <a:ln w="9525">
            <a:solidFill>
              <a:srgbClr val="E4DFD2"/>
            </a:solidFill>
            <a:prstDash val="solid"/>
          </a:ln>
        </p:spPr>
      </p:sp>
      <p:sp>
        <p:nvSpPr>
          <p:cNvPr id="9" name="Text 7"/>
          <p:cNvSpPr txBox="1"/>
          <p:nvPr/>
        </p:nvSpPr>
        <p:spPr>
          <a:xfrm>
            <a:off x="4703978" y="1965960"/>
            <a:ext cx="2783738" cy="457200"/>
          </a:xfrm>
          <a:prstGeom prst="rect">
            <a:avLst/>
          </a:prstGeom>
          <a:noFill/>
          <a:ln/>
        </p:spPr>
        <p:txBody>
          <a:bodyPr wrap="square" lIns="0" tIns="0" rIns="0" bIns="0" rtlCol="0" anchor="t"/>
          <a:lstStyle/>
          <a:p>
            <a:pPr indent="0" marL="0">
              <a:buNone/>
            </a:pPr>
            <a:r>
              <a:rPr lang="en-US" sz="2100" b="1" dirty="0">
                <a:solidFill>
                  <a:srgbClr val="13203F"/>
                </a:solidFill>
                <a:latin typeface="Calibri" pitchFamily="34" charset="0"/>
                <a:ea typeface="Calibri" pitchFamily="34" charset="-122"/>
                <a:cs typeface="Calibri" pitchFamily="34" charset="-120"/>
              </a:rPr>
              <a:t>Selling</a:t>
            </a:r>
            <a:endParaRPr lang="en-US" sz="2100" dirty="0"/>
          </a:p>
        </p:txBody>
      </p:sp>
      <p:sp>
        <p:nvSpPr>
          <p:cNvPr id="10" name="Text 8"/>
          <p:cNvSpPr txBox="1"/>
          <p:nvPr/>
        </p:nvSpPr>
        <p:spPr>
          <a:xfrm>
            <a:off x="4703978" y="2606040"/>
            <a:ext cx="2783738" cy="32004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A4560"/>
                </a:solidFill>
                <a:latin typeface="Calibri" pitchFamily="34" charset="0"/>
                <a:ea typeface="Calibri" pitchFamily="34" charset="-122"/>
                <a:cs typeface="Calibri" pitchFamily="34" charset="-120"/>
              </a:rPr>
              <a:t>Add products with many images</a:t>
            </a:r>
            <a:endParaRPr lang="en-US" sz="1500" dirty="0"/>
          </a:p>
          <a:p>
            <a:pPr marL="342900" indent="-342900">
              <a:spcAft>
                <a:spcPts val="800"/>
              </a:spcAft>
              <a:buSzPct val="100000"/>
              <a:buChar char="•"/>
            </a:pPr>
            <a:r>
              <a:rPr lang="en-US" sz="1500" dirty="0">
                <a:solidFill>
                  <a:srgbClr val="3A4560"/>
                </a:solidFill>
                <a:latin typeface="Calibri" pitchFamily="34" charset="0"/>
                <a:ea typeface="Calibri" pitchFamily="34" charset="-122"/>
                <a:cs typeface="Calibri" pitchFamily="34" charset="-120"/>
              </a:rPr>
              <a:t>Per-unit pricing from total price</a:t>
            </a:r>
            <a:endParaRPr lang="en-US" sz="1500" dirty="0"/>
          </a:p>
          <a:p>
            <a:pPr marL="342900" indent="-342900">
              <a:spcAft>
                <a:spcPts val="800"/>
              </a:spcAft>
              <a:buSzPct val="100000"/>
              <a:buChar char="•"/>
            </a:pPr>
            <a:r>
              <a:rPr lang="en-US" sz="1500" dirty="0">
                <a:solidFill>
                  <a:srgbClr val="3A4560"/>
                </a:solidFill>
                <a:latin typeface="Calibri" pitchFamily="34" charset="0"/>
                <a:ea typeface="Calibri" pitchFamily="34" charset="-122"/>
                <a:cs typeface="Calibri" pitchFamily="34" charset="-120"/>
              </a:rPr>
              <a:t>Sold-out items hide automatically</a:t>
            </a:r>
            <a:endParaRPr lang="en-US" sz="1500" dirty="0"/>
          </a:p>
          <a:p>
            <a:pPr marL="342900" indent="-342900">
              <a:spcAft>
                <a:spcPts val="800"/>
              </a:spcAft>
              <a:buSzPct val="100000"/>
              <a:buChar char="•"/>
            </a:pPr>
            <a:r>
              <a:rPr lang="en-US" sz="1500" dirty="0">
                <a:solidFill>
                  <a:srgbClr val="3A4560"/>
                </a:solidFill>
                <a:latin typeface="Calibri" pitchFamily="34" charset="0"/>
                <a:ea typeface="Calibri" pitchFamily="34" charset="-122"/>
                <a:cs typeface="Calibri" pitchFamily="34" charset="-120"/>
              </a:rPr>
              <a:t>Sales report with Chart.js</a:t>
            </a:r>
            <a:endParaRPr lang="en-US" sz="1500" dirty="0"/>
          </a:p>
          <a:p>
            <a:pPr marL="342900" indent="-342900">
              <a:spcAft>
                <a:spcPts val="800"/>
              </a:spcAft>
              <a:buSzPct val="100000"/>
              <a:buChar char="•"/>
            </a:pPr>
            <a:r>
              <a:rPr lang="en-US" sz="1500" dirty="0">
                <a:solidFill>
                  <a:srgbClr val="3A4560"/>
                </a:solidFill>
                <a:latin typeface="Calibri" pitchFamily="34" charset="0"/>
                <a:ea typeface="Calibri" pitchFamily="34" charset="-122"/>
                <a:cs typeface="Calibri" pitchFamily="34" charset="-120"/>
              </a:rPr>
              <a:t>Guest listing, no account</a:t>
            </a:r>
            <a:endParaRPr lang="en-US" sz="1500" dirty="0"/>
          </a:p>
        </p:txBody>
      </p:sp>
      <p:sp>
        <p:nvSpPr>
          <p:cNvPr id="11" name="Shape 9"/>
          <p:cNvSpPr/>
          <p:nvPr/>
        </p:nvSpPr>
        <p:spPr>
          <a:xfrm>
            <a:off x="8127797" y="1691640"/>
            <a:ext cx="3515258" cy="3566160"/>
          </a:xfrm>
          <a:prstGeom prst="roundRect">
            <a:avLst>
              <a:gd name="adj" fmla="val 3121"/>
            </a:avLst>
          </a:prstGeom>
          <a:solidFill>
            <a:srgbClr val="13203F"/>
          </a:solidFill>
          <a:ln w="9525">
            <a:solidFill>
              <a:srgbClr val="13203F"/>
            </a:solidFill>
            <a:prstDash val="solid"/>
          </a:ln>
        </p:spPr>
      </p:sp>
      <p:sp>
        <p:nvSpPr>
          <p:cNvPr id="12" name="Text 10"/>
          <p:cNvSpPr txBox="1"/>
          <p:nvPr/>
        </p:nvSpPr>
        <p:spPr>
          <a:xfrm>
            <a:off x="8493557" y="1965960"/>
            <a:ext cx="2783738" cy="457200"/>
          </a:xfrm>
          <a:prstGeom prst="rect">
            <a:avLst/>
          </a:prstGeom>
          <a:noFill/>
          <a:ln/>
        </p:spPr>
        <p:txBody>
          <a:bodyPr wrap="square" lIns="0" tIns="0" rIns="0" bIns="0" rtlCol="0" anchor="t"/>
          <a:lstStyle/>
          <a:p>
            <a:pPr indent="0" marL="0">
              <a:buNone/>
            </a:pPr>
            <a:r>
              <a:rPr lang="en-US" sz="2100" b="1" dirty="0">
                <a:solidFill>
                  <a:srgbClr val="F2B51C"/>
                </a:solidFill>
                <a:latin typeface="Calibri" pitchFamily="34" charset="0"/>
                <a:ea typeface="Calibri" pitchFamily="34" charset="-122"/>
                <a:cs typeface="Calibri" pitchFamily="34" charset="-120"/>
              </a:rPr>
              <a:t>Administration</a:t>
            </a:r>
            <a:endParaRPr lang="en-US" sz="2100" dirty="0"/>
          </a:p>
        </p:txBody>
      </p:sp>
      <p:sp>
        <p:nvSpPr>
          <p:cNvPr id="13" name="Text 11"/>
          <p:cNvSpPr txBox="1"/>
          <p:nvPr/>
        </p:nvSpPr>
        <p:spPr>
          <a:xfrm>
            <a:off x="8493557" y="2606040"/>
            <a:ext cx="2783738" cy="32004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3E7F0"/>
                </a:solidFill>
                <a:latin typeface="Calibri" pitchFamily="34" charset="0"/>
                <a:ea typeface="Calibri" pitchFamily="34" charset="-122"/>
                <a:cs typeface="Calibri" pitchFamily="34" charset="-120"/>
              </a:rPr>
              <a:t>Dashboard with system statistics</a:t>
            </a:r>
            <a:endParaRPr lang="en-US" sz="1500" dirty="0"/>
          </a:p>
          <a:p>
            <a:pPr marL="342900" indent="-342900">
              <a:spcAft>
                <a:spcPts val="800"/>
              </a:spcAft>
              <a:buSzPct val="100000"/>
              <a:buChar char="•"/>
            </a:pPr>
            <a:r>
              <a:rPr lang="en-US" sz="1500" dirty="0">
                <a:solidFill>
                  <a:srgbClr val="E3E7F0"/>
                </a:solidFill>
                <a:latin typeface="Calibri" pitchFamily="34" charset="0"/>
                <a:ea typeface="Calibri" pitchFamily="34" charset="-122"/>
                <a:cs typeface="Calibri" pitchFamily="34" charset="-120"/>
              </a:rPr>
              <a:t>Manage users and roles</a:t>
            </a:r>
            <a:endParaRPr lang="en-US" sz="1500" dirty="0"/>
          </a:p>
          <a:p>
            <a:pPr marL="342900" indent="-342900">
              <a:spcAft>
                <a:spcPts val="800"/>
              </a:spcAft>
              <a:buSzPct val="100000"/>
              <a:buChar char="•"/>
            </a:pPr>
            <a:r>
              <a:rPr lang="en-US" sz="1500" dirty="0">
                <a:solidFill>
                  <a:srgbClr val="E3E7F0"/>
                </a:solidFill>
                <a:latin typeface="Calibri" pitchFamily="34" charset="0"/>
                <a:ea typeface="Calibri" pitchFamily="34" charset="-122"/>
                <a:cs typeface="Calibri" pitchFamily="34" charset="-120"/>
              </a:rPr>
              <a:t>Manage products and categories</a:t>
            </a:r>
            <a:endParaRPr lang="en-US" sz="1500" dirty="0"/>
          </a:p>
          <a:p>
            <a:pPr marL="342900" indent="-342900">
              <a:spcAft>
                <a:spcPts val="800"/>
              </a:spcAft>
              <a:buSzPct val="100000"/>
              <a:buChar char="•"/>
            </a:pPr>
            <a:r>
              <a:rPr lang="en-US" sz="1500" dirty="0">
                <a:solidFill>
                  <a:srgbClr val="E3E7F0"/>
                </a:solidFill>
                <a:latin typeface="Calibri" pitchFamily="34" charset="0"/>
                <a:ea typeface="Calibri" pitchFamily="34" charset="-122"/>
                <a:cs typeface="Calibri" pitchFamily="34" charset="-120"/>
              </a:rPr>
              <a:t>Manage orders and payments</a:t>
            </a:r>
            <a:endParaRPr lang="en-US" sz="1500" dirty="0"/>
          </a:p>
          <a:p>
            <a:pPr marL="342900" indent="-342900">
              <a:spcAft>
                <a:spcPts val="800"/>
              </a:spcAft>
              <a:buSzPct val="100000"/>
              <a:buChar char="•"/>
            </a:pPr>
            <a:r>
              <a:rPr lang="en-US" sz="1500" dirty="0">
                <a:solidFill>
                  <a:srgbClr val="E3E7F0"/>
                </a:solidFill>
                <a:latin typeface="Calibri" pitchFamily="34" charset="0"/>
                <a:ea typeface="Calibri" pitchFamily="34" charset="-122"/>
                <a:cs typeface="Calibri" pitchFamily="34" charset="-120"/>
              </a:rPr>
              <a:t>System-wide reports</a:t>
            </a:r>
            <a:endParaRPr lang="en-US" sz="1500" dirty="0"/>
          </a:p>
        </p:txBody>
      </p:sp>
      <p:sp>
        <p:nvSpPr>
          <p:cNvPr id="25" name="Slide Number Placeholder 0"/>
          <p:cNvSpPr>
            <a:spLocks noGrp="1"/>
          </p:cNvSpPr>
          <p:nvPr>
            <p:ph type="sldNum" sz="quarter" idx="4294967295"/>
          </p:nvPr>
        </p:nvSpPr>
        <p:spPr>
          <a:xfrm>
            <a:off x="10972800" y="6309360"/>
            <a:ext cx="670255"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200" b="1" spc="300" kern="0" dirty="0">
                <a:solidFill>
                  <a:srgbClr val="F2B51C"/>
                </a:solidFill>
                <a:latin typeface="Calibri" pitchFamily="34" charset="0"/>
                <a:ea typeface="Calibri" pitchFamily="34" charset="-122"/>
                <a:cs typeface="Calibri" pitchFamily="34" charset="-120"/>
              </a:rPr>
              <a:t>IMPLEMENTATION</a:t>
            </a:r>
            <a:endParaRPr lang="en-US" sz="12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t"/>
          <a:lstStyle/>
          <a:p>
            <a:pPr algn="l" indent="0" marL="0">
              <a:buNone/>
            </a:pPr>
            <a:r>
              <a:rPr lang="en-US" sz="3400" b="1" dirty="0">
                <a:solidFill>
                  <a:srgbClr val="F7F5EF"/>
                </a:solidFill>
                <a:latin typeface="Calibri" pitchFamily="34" charset="0"/>
                <a:ea typeface="Calibri" pitchFamily="34" charset="-122"/>
                <a:cs typeface="Calibri" pitchFamily="34" charset="-120"/>
              </a:rPr>
              <a:t>The Working System</a:t>
            </a:r>
            <a:endParaRPr lang="en-US" sz="3400" dirty="0"/>
          </a:p>
        </p:txBody>
      </p:sp>
      <p:sp>
        <p:nvSpPr>
          <p:cNvPr id="4" name="Text 2"/>
          <p:cNvSpPr txBox="1"/>
          <p:nvPr/>
        </p:nvSpPr>
        <p:spPr>
          <a:xfrm>
            <a:off x="548640" y="6309360"/>
            <a:ext cx="8229600" cy="274320"/>
          </a:xfrm>
          <a:prstGeom prst="rect">
            <a:avLst/>
          </a:prstGeom>
          <a:noFill/>
          <a:ln/>
        </p:spPr>
        <p:txBody>
          <a:bodyPr wrap="square" lIns="0" tIns="0" rIns="0" bIns="0" rtlCol="0" anchor="t"/>
          <a:lstStyle/>
          <a:p>
            <a:pPr indent="0" marL="0">
              <a:buNone/>
            </a:pPr>
            <a:r>
              <a:rPr lang="en-US" sz="1100" dirty="0">
                <a:solidFill>
                  <a:srgbClr val="9AA6C2"/>
                </a:solidFill>
                <a:latin typeface="Calibri" pitchFamily="34" charset="0"/>
                <a:ea typeface="Calibri" pitchFamily="34" charset="-122"/>
                <a:cs typeface="Calibri" pitchFamily="34" charset="-120"/>
              </a:rPr>
              <a:t>Screenshots from the running application</a:t>
            </a:r>
            <a:endParaRPr lang="en-US" sz="1100" dirty="0"/>
          </a:p>
        </p:txBody>
      </p:sp>
      <p:pic>
        <p:nvPicPr>
          <p:cNvPr id="5" name="Image 0" descr="Browse Products page with category sidebar, search bar and product cards">    </p:cNvPr>
          <p:cNvPicPr>
            <a:picLocks noChangeAspect="1"/>
          </p:cNvPicPr>
          <p:nvPr/>
        </p:nvPicPr>
        <p:blipFill>
          <a:blip r:embed="rId1"/>
          <a:stretch>
            <a:fillRect/>
          </a:stretch>
        </p:blipFill>
        <p:spPr>
          <a:xfrm>
            <a:off x="548640" y="1691640"/>
            <a:ext cx="5318608" cy="3236429"/>
          </a:xfrm>
          <a:prstGeom prst="rect">
            <a:avLst/>
          </a:prstGeom>
        </p:spPr>
      </p:pic>
      <p:sp>
        <p:nvSpPr>
          <p:cNvPr id="6" name="Shape 3"/>
          <p:cNvSpPr/>
          <p:nvPr/>
        </p:nvSpPr>
        <p:spPr>
          <a:xfrm>
            <a:off x="548640" y="1691640"/>
            <a:ext cx="5318608" cy="3236429"/>
          </a:xfrm>
          <a:prstGeom prst="rect">
            <a:avLst/>
          </a:prstGeom>
          <a:ln w="12700">
            <a:solidFill>
              <a:srgbClr val="2E3B5E"/>
            </a:solidFill>
            <a:prstDash val="solid"/>
          </a:ln>
        </p:spPr>
      </p:sp>
      <p:sp>
        <p:nvSpPr>
          <p:cNvPr id="7" name="Text 4"/>
          <p:cNvSpPr txBox="1"/>
          <p:nvPr/>
        </p:nvSpPr>
        <p:spPr>
          <a:xfrm>
            <a:off x="548640" y="5110949"/>
            <a:ext cx="5318608" cy="365760"/>
          </a:xfrm>
          <a:prstGeom prst="rect">
            <a:avLst/>
          </a:prstGeom>
          <a:noFill/>
          <a:ln/>
        </p:spPr>
        <p:txBody>
          <a:bodyPr wrap="square" lIns="0" tIns="0" rIns="0" bIns="0" rtlCol="0" anchor="t"/>
          <a:lstStyle/>
          <a:p>
            <a:pPr indent="0" marL="0">
              <a:buNone/>
            </a:pPr>
            <a:r>
              <a:rPr lang="en-US" sz="1500" b="1" dirty="0">
                <a:solidFill>
                  <a:srgbClr val="F7F5EF"/>
                </a:solidFill>
                <a:latin typeface="Calibri" pitchFamily="34" charset="0"/>
                <a:ea typeface="Calibri" pitchFamily="34" charset="-122"/>
                <a:cs typeface="Calibri" pitchFamily="34" charset="-120"/>
              </a:rPr>
              <a:t>Browse Products</a:t>
            </a:r>
            <a:pPr indent="0" marL="0">
              <a:buNone/>
            </a:pPr>
            <a:r>
              <a:rPr lang="en-US" sz="1500" dirty="0">
                <a:solidFill>
                  <a:srgbClr val="C9D1E3"/>
                </a:solidFill>
                <a:latin typeface="Calibri" pitchFamily="34" charset="0"/>
                <a:ea typeface="Calibri" pitchFamily="34" charset="-122"/>
                <a:cs typeface="Calibri" pitchFamily="34" charset="-120"/>
              </a:rPr>
              <a:t> · categories, search and cart</a:t>
            </a:r>
            <a:endParaRPr lang="en-US" sz="1500" dirty="0"/>
          </a:p>
        </p:txBody>
      </p:sp>
      <p:pic>
        <p:nvPicPr>
          <p:cNvPr id="8" name="Image 1" descr="Admin Dashboard showing users, sellers, products and sales totals with recent products and orders">    </p:cNvPr>
          <p:cNvPicPr>
            <a:picLocks noChangeAspect="1"/>
          </p:cNvPicPr>
          <p:nvPr/>
        </p:nvPicPr>
        <p:blipFill>
          <a:blip r:embed="rId2"/>
          <a:stretch>
            <a:fillRect/>
          </a:stretch>
        </p:blipFill>
        <p:spPr>
          <a:xfrm>
            <a:off x="6324448" y="1691640"/>
            <a:ext cx="5318608" cy="3236429"/>
          </a:xfrm>
          <a:prstGeom prst="rect">
            <a:avLst/>
          </a:prstGeom>
        </p:spPr>
      </p:pic>
      <p:sp>
        <p:nvSpPr>
          <p:cNvPr id="9" name="Shape 5"/>
          <p:cNvSpPr/>
          <p:nvPr/>
        </p:nvSpPr>
        <p:spPr>
          <a:xfrm>
            <a:off x="6324448" y="1691640"/>
            <a:ext cx="5318608" cy="3236429"/>
          </a:xfrm>
          <a:prstGeom prst="rect">
            <a:avLst/>
          </a:prstGeom>
          <a:ln w="12700">
            <a:solidFill>
              <a:srgbClr val="2E3B5E"/>
            </a:solidFill>
            <a:prstDash val="solid"/>
          </a:ln>
        </p:spPr>
      </p:sp>
      <p:sp>
        <p:nvSpPr>
          <p:cNvPr id="10" name="Text 6"/>
          <p:cNvSpPr txBox="1"/>
          <p:nvPr/>
        </p:nvSpPr>
        <p:spPr>
          <a:xfrm>
            <a:off x="6324448" y="5110949"/>
            <a:ext cx="5318608" cy="365760"/>
          </a:xfrm>
          <a:prstGeom prst="rect">
            <a:avLst/>
          </a:prstGeom>
          <a:noFill/>
          <a:ln/>
        </p:spPr>
        <p:txBody>
          <a:bodyPr wrap="square" lIns="0" tIns="0" rIns="0" bIns="0" rtlCol="0" anchor="t"/>
          <a:lstStyle/>
          <a:p>
            <a:pPr indent="0" marL="0">
              <a:buNone/>
            </a:pPr>
            <a:r>
              <a:rPr lang="en-US" sz="1500" b="1" dirty="0">
                <a:solidFill>
                  <a:srgbClr val="F7F5EF"/>
                </a:solidFill>
                <a:latin typeface="Calibri" pitchFamily="34" charset="0"/>
                <a:ea typeface="Calibri" pitchFamily="34" charset="-122"/>
                <a:cs typeface="Calibri" pitchFamily="34" charset="-120"/>
              </a:rPr>
              <a:t>Admin Dashboard</a:t>
            </a:r>
            <a:pPr indent="0" marL="0">
              <a:buNone/>
            </a:pPr>
            <a:r>
              <a:rPr lang="en-US" sz="1500" dirty="0">
                <a:solidFill>
                  <a:srgbClr val="C9D1E3"/>
                </a:solidFill>
                <a:latin typeface="Calibri" pitchFamily="34" charset="0"/>
                <a:ea typeface="Calibri" pitchFamily="34" charset="-122"/>
                <a:cs typeface="Calibri" pitchFamily="34" charset="-120"/>
              </a:rPr>
              <a:t> · system statistics at a glance</a:t>
            </a:r>
            <a:endParaRPr lang="en-US" sz="1500" dirty="0"/>
          </a:p>
        </p:txBody>
      </p:sp>
      <p:sp>
        <p:nvSpPr>
          <p:cNvPr id="25" name="Slide Number Placeholder 0"/>
          <p:cNvSpPr>
            <a:spLocks noGrp="1"/>
          </p:cNvSpPr>
          <p:nvPr>
            <p:ph type="sldNum" sz="quarter" idx="4294967295"/>
          </p:nvPr>
        </p:nvSpPr>
        <p:spPr>
          <a:xfrm>
            <a:off x="10972800" y="6309360"/>
            <a:ext cx="670255"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AA6C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200" b="1" spc="300" kern="0" dirty="0">
                <a:solidFill>
                  <a:srgbClr val="8A5F00"/>
                </a:solidFill>
                <a:latin typeface="Calibri" pitchFamily="34" charset="0"/>
                <a:ea typeface="Calibri" pitchFamily="34" charset="-122"/>
                <a:cs typeface="Calibri" pitchFamily="34" charset="-120"/>
              </a:rPr>
              <a:t>TESTING</a:t>
            </a:r>
            <a:endParaRPr lang="en-US" sz="12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t"/>
          <a:lstStyle/>
          <a:p>
            <a:pPr algn="l" indent="0" marL="0">
              <a:buNone/>
            </a:pPr>
            <a:r>
              <a:rPr lang="en-US" sz="3400" b="1" dirty="0">
                <a:solidFill>
                  <a:srgbClr val="13203F"/>
                </a:solidFill>
                <a:latin typeface="Calibri" pitchFamily="34" charset="0"/>
                <a:ea typeface="Calibri" pitchFamily="34" charset="-122"/>
                <a:cs typeface="Calibri" pitchFamily="34" charset="-120"/>
              </a:rPr>
              <a:t>Testing Results</a:t>
            </a:r>
            <a:endParaRPr lang="en-US" sz="3400" dirty="0"/>
          </a:p>
        </p:txBody>
      </p:sp>
      <p:sp>
        <p:nvSpPr>
          <p:cNvPr id="4" name="Text 2"/>
          <p:cNvSpPr txBox="1"/>
          <p:nvPr/>
        </p:nvSpPr>
        <p:spPr>
          <a:xfrm>
            <a:off x="548640" y="6309360"/>
            <a:ext cx="8229600" cy="2743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Sample from Table 5.1 · Test cases and results</a:t>
            </a:r>
            <a:endParaRPr lang="en-US" sz="1100" dirty="0"/>
          </a:p>
        </p:txBody>
      </p:sp>
      <p:sp>
        <p:nvSpPr>
          <p:cNvPr id="5" name="Shape 3"/>
          <p:cNvSpPr/>
          <p:nvPr/>
        </p:nvSpPr>
        <p:spPr>
          <a:xfrm>
            <a:off x="548640" y="1691640"/>
            <a:ext cx="3108960" cy="4114800"/>
          </a:xfrm>
          <a:prstGeom prst="roundRect">
            <a:avLst>
              <a:gd name="adj" fmla="val 3529"/>
            </a:avLst>
          </a:prstGeom>
          <a:solidFill>
            <a:srgbClr val="13203F"/>
          </a:solidFill>
          <a:ln w="9525">
            <a:solidFill>
              <a:srgbClr val="13203F"/>
            </a:solidFill>
            <a:prstDash val="solid"/>
          </a:ln>
        </p:spPr>
      </p:sp>
      <p:sp>
        <p:nvSpPr>
          <p:cNvPr id="6" name="Text 4"/>
          <p:cNvSpPr txBox="1"/>
          <p:nvPr/>
        </p:nvSpPr>
        <p:spPr>
          <a:xfrm>
            <a:off x="868680" y="2057400"/>
            <a:ext cx="2651760" cy="1005840"/>
          </a:xfrm>
          <a:prstGeom prst="rect">
            <a:avLst/>
          </a:prstGeom>
          <a:noFill/>
          <a:ln/>
        </p:spPr>
        <p:txBody>
          <a:bodyPr wrap="square" lIns="0" tIns="0" rIns="0" bIns="0" rtlCol="0" anchor="t"/>
          <a:lstStyle/>
          <a:p>
            <a:pPr indent="0" marL="0">
              <a:buNone/>
            </a:pPr>
            <a:r>
              <a:rPr lang="en-US" sz="5800" b="1" dirty="0">
                <a:solidFill>
                  <a:srgbClr val="F2B51C"/>
                </a:solidFill>
                <a:latin typeface="Calibri" pitchFamily="34" charset="0"/>
                <a:ea typeface="Calibri" pitchFamily="34" charset="-122"/>
                <a:cs typeface="Calibri" pitchFamily="34" charset="-120"/>
              </a:rPr>
              <a:t>14/14</a:t>
            </a:r>
            <a:endParaRPr lang="en-US" sz="5800" dirty="0"/>
          </a:p>
        </p:txBody>
      </p:sp>
      <p:sp>
        <p:nvSpPr>
          <p:cNvPr id="7" name="Text 5"/>
          <p:cNvSpPr txBox="1"/>
          <p:nvPr/>
        </p:nvSpPr>
        <p:spPr>
          <a:xfrm>
            <a:off x="868680" y="3154680"/>
            <a:ext cx="2651760" cy="457200"/>
          </a:xfrm>
          <a:prstGeom prst="rect">
            <a:avLst/>
          </a:prstGeom>
          <a:noFill/>
          <a:ln/>
        </p:spPr>
        <p:txBody>
          <a:bodyPr wrap="square" lIns="0" tIns="0" rIns="0" bIns="0" rtlCol="0" anchor="t"/>
          <a:lstStyle/>
          <a:p>
            <a:pPr indent="0" marL="0">
              <a:buNone/>
            </a:pPr>
            <a:r>
              <a:rPr lang="en-US" sz="1900" dirty="0">
                <a:solidFill>
                  <a:srgbClr val="F7F5EF"/>
                </a:solidFill>
                <a:latin typeface="Calibri" pitchFamily="34" charset="0"/>
                <a:ea typeface="Calibri" pitchFamily="34" charset="-122"/>
                <a:cs typeface="Calibri" pitchFamily="34" charset="-120"/>
              </a:rPr>
              <a:t>test cases passed</a:t>
            </a:r>
            <a:endParaRPr lang="en-US" sz="1900" dirty="0"/>
          </a:p>
        </p:txBody>
      </p:sp>
      <p:sp>
        <p:nvSpPr>
          <p:cNvPr id="8" name="Text 6"/>
          <p:cNvSpPr txBox="1"/>
          <p:nvPr/>
        </p:nvSpPr>
        <p:spPr>
          <a:xfrm>
            <a:off x="868680" y="3840480"/>
            <a:ext cx="2468880" cy="1097280"/>
          </a:xfrm>
          <a:prstGeom prst="rect">
            <a:avLst/>
          </a:prstGeom>
          <a:noFill/>
          <a:ln/>
        </p:spPr>
        <p:txBody>
          <a:bodyPr wrap="square" lIns="0" tIns="0" rIns="0" bIns="0" rtlCol="0" anchor="t"/>
          <a:lstStyle/>
          <a:p>
            <a:pPr indent="0" marL="0">
              <a:buNone/>
            </a:pPr>
            <a:r>
              <a:rPr lang="en-US" sz="1400" dirty="0">
                <a:solidFill>
                  <a:srgbClr val="C9D1E3"/>
                </a:solidFill>
                <a:latin typeface="Calibri" pitchFamily="34" charset="0"/>
                <a:ea typeface="Calibri" pitchFamily="34" charset="-122"/>
                <a:cs typeface="Calibri" pitchFamily="34" charset="-120"/>
              </a:rPr>
              <a:t>Manual, integration and smoke testing after every round</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023360" y="1691640"/>
          <a:ext cx="7619695" cy="914400"/>
        </p:xfrm>
        <a:graphic>
          <a:graphicData uri="http://schemas.openxmlformats.org/drawingml/2006/table">
            <a:tbl>
              <a:tblPr/>
              <a:tblGrid>
                <a:gridCol w="1097280"/>
                <a:gridCol w="5333695"/>
                <a:gridCol w="1188720"/>
              </a:tblGrid>
              <a:tr h="457200">
                <a:tc>
                  <a:txBody>
                    <a:bodyPr/>
                    <a:lstStyle/>
                    <a:p>
                      <a:pPr indent="0" marL="0">
                        <a:buNone/>
                      </a:pPr>
                      <a:r>
                        <a:rPr lang="en-US" sz="1400" b="1" dirty="0">
                          <a:solidFill>
                            <a:srgbClr val="13203F"/>
                          </a:solidFill>
                          <a:latin typeface="Calibri" pitchFamily="34" charset="0"/>
                          <a:ea typeface="Calibri" pitchFamily="34" charset="-122"/>
                          <a:cs typeface="Calibri" pitchFamily="34" charset="-120"/>
                        </a:rPr>
                        <a:t>ID</a:t>
                      </a:r>
                      <a:endParaRPr lang="en-US" sz="1400" dirty="0">
                        <a:latin typeface="Calibri" charset="0"/>
                        <a:ea typeface="Calibri" charset="0"/>
                        <a:cs typeface="Calibri" charset="0"/>
                      </a:endParaRPr>
                    </a:p>
                  </a:txBody>
                  <a:tcPr marL="137160" marR="137160" marT="45720" marB="45720"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E9E4D6"/>
                    </a:solidFill>
                  </a:tcPr>
                </a:tc>
                <a:tc>
                  <a:txBody>
                    <a:bodyPr/>
                    <a:lstStyle/>
                    <a:p>
                      <a:pPr indent="0" marL="0">
                        <a:buNone/>
                      </a:pPr>
                      <a:r>
                        <a:rPr lang="en-US" sz="1400" b="1" dirty="0">
                          <a:solidFill>
                            <a:srgbClr val="13203F"/>
                          </a:solidFill>
                          <a:latin typeface="Calibri" pitchFamily="34" charset="0"/>
                          <a:ea typeface="Calibri" pitchFamily="34" charset="-122"/>
                          <a:cs typeface="Calibri" pitchFamily="34" charset="-120"/>
                        </a:rPr>
                        <a:t>Test</a:t>
                      </a:r>
                      <a:endParaRPr lang="en-US" sz="1400" dirty="0">
                        <a:latin typeface="Calibri" charset="0"/>
                        <a:ea typeface="Calibri" charset="0"/>
                        <a:cs typeface="Calibri" charset="0"/>
                      </a:endParaRPr>
                    </a:p>
                  </a:txBody>
                  <a:tcPr marL="137160" marR="137160" marT="45720" marB="45720"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E9E4D6"/>
                    </a:solidFill>
                  </a:tcPr>
                </a:tc>
                <a:tc>
                  <a:txBody>
                    <a:bodyPr/>
                    <a:lstStyle/>
                    <a:p>
                      <a:pPr indent="0" marL="0">
                        <a:buNone/>
                      </a:pPr>
                      <a:r>
                        <a:rPr lang="en-US" sz="1400" b="1" dirty="0">
                          <a:solidFill>
                            <a:srgbClr val="13203F"/>
                          </a:solidFill>
                          <a:latin typeface="Calibri" pitchFamily="34" charset="0"/>
                          <a:ea typeface="Calibri" pitchFamily="34" charset="-122"/>
                          <a:cs typeface="Calibri" pitchFamily="34" charset="-120"/>
                        </a:rPr>
                        <a:t>Result</a:t>
                      </a:r>
                      <a:endParaRPr lang="en-US" sz="1400" dirty="0">
                        <a:latin typeface="Calibri" charset="0"/>
                        <a:ea typeface="Calibri" charset="0"/>
                        <a:cs typeface="Calibri" charset="0"/>
                      </a:endParaRPr>
                    </a:p>
                  </a:txBody>
                  <a:tcPr marL="137160" marR="137160" marT="45720" marB="45720"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E9E4D6"/>
                    </a:solidFill>
                  </a:tcPr>
                </a:tc>
              </a:tr>
              <a:tr h="457200">
                <a:tc>
                  <a:txBody>
                    <a:bodyPr/>
                    <a:lstStyle/>
                    <a:p>
                      <a:pPr indent="0" marL="0">
                        <a:buNone/>
                      </a:pPr>
                      <a:r>
                        <a:rPr lang="en-US" sz="1400" dirty="0">
                          <a:solidFill>
                            <a:srgbClr val="13203F"/>
                          </a:solidFill>
                          <a:latin typeface="Calibri" pitchFamily="34" charset="0"/>
                          <a:ea typeface="Calibri" pitchFamily="34" charset="-122"/>
                          <a:cs typeface="Calibri" pitchFamily="34" charset="-120"/>
                        </a:rPr>
                        <a:t>TC01</a:t>
                      </a:r>
                      <a:endParaRPr lang="en-US" sz="1400" dirty="0">
                        <a:latin typeface="Calibri" charset="0"/>
                        <a:ea typeface="Calibri" charset="0"/>
                        <a:cs typeface="Calibri" charset="0"/>
                      </a:endParaRPr>
                    </a:p>
                  </a:txBody>
                  <a:tcPr marL="137160" marR="137160" marT="45720" marB="45720"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FFDF8"/>
                    </a:solidFill>
                  </a:tcPr>
                </a:tc>
                <a:tc>
                  <a:txBody>
                    <a:bodyPr/>
                    <a:lstStyle/>
                    <a:p>
                      <a:pPr indent="0" marL="0">
                        <a:buNone/>
                      </a:pPr>
                      <a:r>
                        <a:rPr lang="en-US" sz="1400" dirty="0">
                          <a:solidFill>
                            <a:srgbClr val="13203F"/>
                          </a:solidFill>
                          <a:latin typeface="Calibri" pitchFamily="34" charset="0"/>
                          <a:ea typeface="Calibri" pitchFamily="34" charset="-122"/>
                          <a:cs typeface="Calibri" pitchFamily="34" charset="-120"/>
                        </a:rPr>
                        <a:t>Register a new account</a:t>
                      </a:r>
                      <a:endParaRPr lang="en-US" sz="1400" dirty="0">
                        <a:latin typeface="Calibri" charset="0"/>
                        <a:ea typeface="Calibri" charset="0"/>
                        <a:cs typeface="Calibri" charset="0"/>
                      </a:endParaRPr>
                    </a:p>
                  </a:txBody>
                  <a:tcPr marL="137160" marR="137160" marT="45720" marB="45720"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FFDF8"/>
                    </a:solidFill>
                  </a:tcPr>
                </a:tc>
                <a:tc>
                  <a:txBody>
                    <a:bodyPr/>
                    <a:lstStyle/>
                    <a:p>
                      <a:pPr indent="0" marL="0">
                        <a:buNone/>
                      </a:pPr>
                      <a:r>
                        <a:rPr lang="en-US" sz="1400" b="1" dirty="0">
                          <a:solidFill>
                            <a:srgbClr val="1F6B3A"/>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137160" marR="137160" marT="45720" marB="45720"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FFDF8"/>
                    </a:solidFill>
                  </a:tcPr>
                </a:tc>
              </a:tr>
              <a:tr h="457200">
                <a:tc>
                  <a:txBody>
                    <a:bodyPr/>
                    <a:lstStyle/>
                    <a:p>
                      <a:pPr indent="0" marL="0">
                        <a:buNone/>
                      </a:pPr>
                      <a:r>
                        <a:rPr lang="en-US" sz="1400" dirty="0">
                          <a:solidFill>
                            <a:srgbClr val="13203F"/>
                          </a:solidFill>
                          <a:latin typeface="Calibri" pitchFamily="34" charset="0"/>
                          <a:ea typeface="Calibri" pitchFamily="34" charset="-122"/>
                          <a:cs typeface="Calibri" pitchFamily="34" charset="-120"/>
                        </a:rPr>
                        <a:t>TC02</a:t>
                      </a:r>
                      <a:endParaRPr lang="en-US" sz="1400" dirty="0">
                        <a:latin typeface="Calibri" charset="0"/>
                        <a:ea typeface="Calibri" charset="0"/>
                        <a:cs typeface="Calibri" charset="0"/>
                      </a:endParaRPr>
                    </a:p>
                  </a:txBody>
                  <a:tcPr marL="137160" marR="137160" marT="45720" marB="45720"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1EEE5"/>
                    </a:solidFill>
                  </a:tcPr>
                </a:tc>
                <a:tc>
                  <a:txBody>
                    <a:bodyPr/>
                    <a:lstStyle/>
                    <a:p>
                      <a:pPr indent="0" marL="0">
                        <a:buNone/>
                      </a:pPr>
                      <a:r>
                        <a:rPr lang="en-US" sz="1400" dirty="0">
                          <a:solidFill>
                            <a:srgbClr val="13203F"/>
                          </a:solidFill>
                          <a:latin typeface="Calibri" pitchFamily="34" charset="0"/>
                          <a:ea typeface="Calibri" pitchFamily="34" charset="-122"/>
                          <a:cs typeface="Calibri" pitchFamily="34" charset="-120"/>
                        </a:rPr>
                        <a:t>Out-of-stock item cannot be added to cart</a:t>
                      </a:r>
                      <a:endParaRPr lang="en-US" sz="1400" dirty="0">
                        <a:latin typeface="Calibri" charset="0"/>
                        <a:ea typeface="Calibri" charset="0"/>
                        <a:cs typeface="Calibri" charset="0"/>
                      </a:endParaRPr>
                    </a:p>
                  </a:txBody>
                  <a:tcPr marL="137160" marR="137160" marT="45720" marB="45720"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1EEE5"/>
                    </a:solidFill>
                  </a:tcPr>
                </a:tc>
                <a:tc>
                  <a:txBody>
                    <a:bodyPr/>
                    <a:lstStyle/>
                    <a:p>
                      <a:pPr indent="0" marL="0">
                        <a:buNone/>
                      </a:pPr>
                      <a:r>
                        <a:rPr lang="en-US" sz="1400" b="1" dirty="0">
                          <a:solidFill>
                            <a:srgbClr val="1F6B3A"/>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137160" marR="137160" marT="45720" marB="45720"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1EEE5"/>
                    </a:solidFill>
                  </a:tcPr>
                </a:tc>
              </a:tr>
              <a:tr h="457200">
                <a:tc>
                  <a:txBody>
                    <a:bodyPr/>
                    <a:lstStyle/>
                    <a:p>
                      <a:pPr indent="0" marL="0">
                        <a:buNone/>
                      </a:pPr>
                      <a:r>
                        <a:rPr lang="en-US" sz="1400" dirty="0">
                          <a:solidFill>
                            <a:srgbClr val="13203F"/>
                          </a:solidFill>
                          <a:latin typeface="Calibri" pitchFamily="34" charset="0"/>
                          <a:ea typeface="Calibri" pitchFamily="34" charset="-122"/>
                          <a:cs typeface="Calibri" pitchFamily="34" charset="-120"/>
                        </a:rPr>
                        <a:t>TC04</a:t>
                      </a:r>
                      <a:endParaRPr lang="en-US" sz="1400" dirty="0">
                        <a:latin typeface="Calibri" charset="0"/>
                        <a:ea typeface="Calibri" charset="0"/>
                        <a:cs typeface="Calibri" charset="0"/>
                      </a:endParaRPr>
                    </a:p>
                  </a:txBody>
                  <a:tcPr marL="137160" marR="137160" marT="45720" marB="45720"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FFDF8"/>
                    </a:solidFill>
                  </a:tcPr>
                </a:tc>
                <a:tc>
                  <a:txBody>
                    <a:bodyPr/>
                    <a:lstStyle/>
                    <a:p>
                      <a:pPr indent="0" marL="0">
                        <a:buNone/>
                      </a:pPr>
                      <a:r>
                        <a:rPr lang="en-US" sz="1400" dirty="0">
                          <a:solidFill>
                            <a:srgbClr val="13203F"/>
                          </a:solidFill>
                          <a:latin typeface="Calibri" pitchFamily="34" charset="0"/>
                          <a:ea typeface="Calibri" pitchFamily="34" charset="-122"/>
                          <a:cs typeface="Calibri" pitchFamily="34" charset="-120"/>
                        </a:rPr>
                        <a:t>Checkout with Cash on Delivery</a:t>
                      </a:r>
                      <a:endParaRPr lang="en-US" sz="1400" dirty="0">
                        <a:latin typeface="Calibri" charset="0"/>
                        <a:ea typeface="Calibri" charset="0"/>
                        <a:cs typeface="Calibri" charset="0"/>
                      </a:endParaRPr>
                    </a:p>
                  </a:txBody>
                  <a:tcPr marL="137160" marR="137160" marT="45720" marB="45720"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FFDF8"/>
                    </a:solidFill>
                  </a:tcPr>
                </a:tc>
                <a:tc>
                  <a:txBody>
                    <a:bodyPr/>
                    <a:lstStyle/>
                    <a:p>
                      <a:pPr indent="0" marL="0">
                        <a:buNone/>
                      </a:pPr>
                      <a:r>
                        <a:rPr lang="en-US" sz="1400" b="1" dirty="0">
                          <a:solidFill>
                            <a:srgbClr val="1F6B3A"/>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137160" marR="137160" marT="45720" marB="45720"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FFDF8"/>
                    </a:solidFill>
                  </a:tcPr>
                </a:tc>
              </a:tr>
              <a:tr h="457200">
                <a:tc>
                  <a:txBody>
                    <a:bodyPr/>
                    <a:lstStyle/>
                    <a:p>
                      <a:pPr indent="0" marL="0">
                        <a:buNone/>
                      </a:pPr>
                      <a:r>
                        <a:rPr lang="en-US" sz="1400" dirty="0">
                          <a:solidFill>
                            <a:srgbClr val="13203F"/>
                          </a:solidFill>
                          <a:latin typeface="Calibri" pitchFamily="34" charset="0"/>
                          <a:ea typeface="Calibri" pitchFamily="34" charset="-122"/>
                          <a:cs typeface="Calibri" pitchFamily="34" charset="-120"/>
                        </a:rPr>
                        <a:t>TC05</a:t>
                      </a:r>
                      <a:endParaRPr lang="en-US" sz="1400" dirty="0">
                        <a:latin typeface="Calibri" charset="0"/>
                        <a:ea typeface="Calibri" charset="0"/>
                        <a:cs typeface="Calibri" charset="0"/>
                      </a:endParaRPr>
                    </a:p>
                  </a:txBody>
                  <a:tcPr marL="137160" marR="137160" marT="45720" marB="45720"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1EEE5"/>
                    </a:solidFill>
                  </a:tcPr>
                </a:tc>
                <a:tc>
                  <a:txBody>
                    <a:bodyPr/>
                    <a:lstStyle/>
                    <a:p>
                      <a:pPr indent="0" marL="0">
                        <a:buNone/>
                      </a:pPr>
                      <a:r>
                        <a:rPr lang="en-US" sz="1400" dirty="0">
                          <a:solidFill>
                            <a:srgbClr val="13203F"/>
                          </a:solidFill>
                          <a:latin typeface="Calibri" pitchFamily="34" charset="0"/>
                          <a:ea typeface="Calibri" pitchFamily="34" charset="-122"/>
                          <a:cs typeface="Calibri" pitchFamily="34" charset="-120"/>
                        </a:rPr>
                        <a:t>Normal user blocked from /Admin</a:t>
                      </a:r>
                      <a:endParaRPr lang="en-US" sz="1400" dirty="0">
                        <a:latin typeface="Calibri" charset="0"/>
                        <a:ea typeface="Calibri" charset="0"/>
                        <a:cs typeface="Calibri" charset="0"/>
                      </a:endParaRPr>
                    </a:p>
                  </a:txBody>
                  <a:tcPr marL="137160" marR="137160" marT="45720" marB="45720"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1EEE5"/>
                    </a:solidFill>
                  </a:tcPr>
                </a:tc>
                <a:tc>
                  <a:txBody>
                    <a:bodyPr/>
                    <a:lstStyle/>
                    <a:p>
                      <a:pPr indent="0" marL="0">
                        <a:buNone/>
                      </a:pPr>
                      <a:r>
                        <a:rPr lang="en-US" sz="1400" b="1" dirty="0">
                          <a:solidFill>
                            <a:srgbClr val="1F6B3A"/>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137160" marR="137160" marT="45720" marB="45720"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1EEE5"/>
                    </a:solidFill>
                  </a:tcPr>
                </a:tc>
              </a:tr>
              <a:tr h="457200">
                <a:tc>
                  <a:txBody>
                    <a:bodyPr/>
                    <a:lstStyle/>
                    <a:p>
                      <a:pPr indent="0" marL="0">
                        <a:buNone/>
                      </a:pPr>
                      <a:r>
                        <a:rPr lang="en-US" sz="1400" dirty="0">
                          <a:solidFill>
                            <a:srgbClr val="13203F"/>
                          </a:solidFill>
                          <a:latin typeface="Calibri" pitchFamily="34" charset="0"/>
                          <a:ea typeface="Calibri" pitchFamily="34" charset="-122"/>
                          <a:cs typeface="Calibri" pitchFamily="34" charset="-120"/>
                        </a:rPr>
                        <a:t>TC07</a:t>
                      </a:r>
                      <a:endParaRPr lang="en-US" sz="1400" dirty="0">
                        <a:latin typeface="Calibri" charset="0"/>
                        <a:ea typeface="Calibri" charset="0"/>
                        <a:cs typeface="Calibri" charset="0"/>
                      </a:endParaRPr>
                    </a:p>
                  </a:txBody>
                  <a:tcPr marL="137160" marR="137160" marT="45720" marB="45720"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FFDF8"/>
                    </a:solidFill>
                  </a:tcPr>
                </a:tc>
                <a:tc>
                  <a:txBody>
                    <a:bodyPr/>
                    <a:lstStyle/>
                    <a:p>
                      <a:pPr indent="0" marL="0">
                        <a:buNone/>
                      </a:pPr>
                      <a:r>
                        <a:rPr lang="en-US" sz="1400" dirty="0">
                          <a:solidFill>
                            <a:srgbClr val="13203F"/>
                          </a:solidFill>
                          <a:latin typeface="Calibri" pitchFamily="34" charset="0"/>
                          <a:ea typeface="Calibri" pitchFamily="34" charset="-122"/>
                          <a:cs typeface="Calibri" pitchFamily="34" charset="-120"/>
                        </a:rPr>
                        <a:t>Second payment added to one order</a:t>
                      </a:r>
                      <a:endParaRPr lang="en-US" sz="1400" dirty="0">
                        <a:latin typeface="Calibri" charset="0"/>
                        <a:ea typeface="Calibri" charset="0"/>
                        <a:cs typeface="Calibri" charset="0"/>
                      </a:endParaRPr>
                    </a:p>
                  </a:txBody>
                  <a:tcPr marL="137160" marR="137160" marT="45720" marB="45720"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FFDF8"/>
                    </a:solidFill>
                  </a:tcPr>
                </a:tc>
                <a:tc>
                  <a:txBody>
                    <a:bodyPr/>
                    <a:lstStyle/>
                    <a:p>
                      <a:pPr indent="0" marL="0">
                        <a:buNone/>
                      </a:pPr>
                      <a:r>
                        <a:rPr lang="en-US" sz="1400" b="1" dirty="0">
                          <a:solidFill>
                            <a:srgbClr val="1F6B3A"/>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137160" marR="137160" marT="45720" marB="45720"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FFDF8"/>
                    </a:solidFill>
                  </a:tcPr>
                </a:tc>
              </a:tr>
              <a:tr h="457200">
                <a:tc>
                  <a:txBody>
                    <a:bodyPr/>
                    <a:lstStyle/>
                    <a:p>
                      <a:pPr indent="0" marL="0">
                        <a:buNone/>
                      </a:pPr>
                      <a:r>
                        <a:rPr lang="en-US" sz="1400" dirty="0">
                          <a:solidFill>
                            <a:srgbClr val="13203F"/>
                          </a:solidFill>
                          <a:latin typeface="Calibri" pitchFamily="34" charset="0"/>
                          <a:ea typeface="Calibri" pitchFamily="34" charset="-122"/>
                          <a:cs typeface="Calibri" pitchFamily="34" charset="-120"/>
                        </a:rPr>
                        <a:t>TC09</a:t>
                      </a:r>
                      <a:endParaRPr lang="en-US" sz="1400" dirty="0">
                        <a:latin typeface="Calibri" charset="0"/>
                        <a:ea typeface="Calibri" charset="0"/>
                        <a:cs typeface="Calibri" charset="0"/>
                      </a:endParaRPr>
                    </a:p>
                  </a:txBody>
                  <a:tcPr marL="137160" marR="137160" marT="45720" marB="45720"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1EEE5"/>
                    </a:solidFill>
                  </a:tcPr>
                </a:tc>
                <a:tc>
                  <a:txBody>
                    <a:bodyPr/>
                    <a:lstStyle/>
                    <a:p>
                      <a:pPr indent="0" marL="0">
                        <a:buNone/>
                      </a:pPr>
                      <a:r>
                        <a:rPr lang="en-US" sz="1400" dirty="0">
                          <a:solidFill>
                            <a:srgbClr val="13203F"/>
                          </a:solidFill>
                          <a:latin typeface="Calibri" pitchFamily="34" charset="0"/>
                          <a:ea typeface="Calibri" pitchFamily="34" charset="-122"/>
                          <a:cs typeface="Calibri" pitchFamily="34" charset="-120"/>
                        </a:rPr>
                        <a:t>Guest lists an item without an account</a:t>
                      </a:r>
                      <a:endParaRPr lang="en-US" sz="1400" dirty="0">
                        <a:latin typeface="Calibri" charset="0"/>
                        <a:ea typeface="Calibri" charset="0"/>
                        <a:cs typeface="Calibri" charset="0"/>
                      </a:endParaRPr>
                    </a:p>
                  </a:txBody>
                  <a:tcPr marL="137160" marR="137160" marT="45720" marB="45720"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1EEE5"/>
                    </a:solidFill>
                  </a:tcPr>
                </a:tc>
                <a:tc>
                  <a:txBody>
                    <a:bodyPr/>
                    <a:lstStyle/>
                    <a:p>
                      <a:pPr indent="0" marL="0">
                        <a:buNone/>
                      </a:pPr>
                      <a:r>
                        <a:rPr lang="en-US" sz="1400" b="1" dirty="0">
                          <a:solidFill>
                            <a:srgbClr val="1F6B3A"/>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137160" marR="137160" marT="45720" marB="45720"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1EEE5"/>
                    </a:solidFill>
                  </a:tcPr>
                </a:tc>
              </a:tr>
              <a:tr h="457200">
                <a:tc>
                  <a:txBody>
                    <a:bodyPr/>
                    <a:lstStyle/>
                    <a:p>
                      <a:pPr indent="0" marL="0">
                        <a:buNone/>
                      </a:pPr>
                      <a:r>
                        <a:rPr lang="en-US" sz="1400" dirty="0">
                          <a:solidFill>
                            <a:srgbClr val="13203F"/>
                          </a:solidFill>
                          <a:latin typeface="Calibri" pitchFamily="34" charset="0"/>
                          <a:ea typeface="Calibri" pitchFamily="34" charset="-122"/>
                          <a:cs typeface="Calibri" pitchFamily="34" charset="-120"/>
                        </a:rPr>
                        <a:t>TC13</a:t>
                      </a:r>
                      <a:endParaRPr lang="en-US" sz="1400" dirty="0">
                        <a:latin typeface="Calibri" charset="0"/>
                        <a:ea typeface="Calibri" charset="0"/>
                        <a:cs typeface="Calibri" charset="0"/>
                      </a:endParaRPr>
                    </a:p>
                  </a:txBody>
                  <a:tcPr marL="137160" marR="137160" marT="45720" marB="45720"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FFDF8"/>
                    </a:solidFill>
                  </a:tcPr>
                </a:tc>
                <a:tc>
                  <a:txBody>
                    <a:bodyPr/>
                    <a:lstStyle/>
                    <a:p>
                      <a:pPr indent="0" marL="0">
                        <a:buNone/>
                      </a:pPr>
                      <a:r>
                        <a:rPr lang="en-US" sz="1400" dirty="0">
                          <a:solidFill>
                            <a:srgbClr val="13203F"/>
                          </a:solidFill>
                          <a:latin typeface="Calibri" pitchFamily="34" charset="0"/>
                          <a:ea typeface="Calibri" pitchFamily="34" charset="-122"/>
                          <a:cs typeface="Calibri" pitchFamily="34" charset="-120"/>
                        </a:rPr>
                        <a:t>$15 for 3 units charges $5 per unit</a:t>
                      </a:r>
                      <a:endParaRPr lang="en-US" sz="1400" dirty="0">
                        <a:latin typeface="Calibri" charset="0"/>
                        <a:ea typeface="Calibri" charset="0"/>
                        <a:cs typeface="Calibri" charset="0"/>
                      </a:endParaRPr>
                    </a:p>
                  </a:txBody>
                  <a:tcPr marL="137160" marR="137160" marT="45720" marB="45720"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FFDF8"/>
                    </a:solidFill>
                  </a:tcPr>
                </a:tc>
                <a:tc>
                  <a:txBody>
                    <a:bodyPr/>
                    <a:lstStyle/>
                    <a:p>
                      <a:pPr indent="0" marL="0">
                        <a:buNone/>
                      </a:pPr>
                      <a:r>
                        <a:rPr lang="en-US" sz="1400" b="1" dirty="0">
                          <a:solidFill>
                            <a:srgbClr val="1F6B3A"/>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137160" marR="137160" marT="45720" marB="45720" anchor="ctr">
                    <a:lnL w="9525" cap="flat" cmpd="sng" algn="ctr">
                      <a:solidFill>
                        <a:srgbClr val="E4DFD2"/>
                      </a:solidFill>
                      <a:prstDash val="solid"/>
                      <a:round/>
                      <a:headEnd type="none" w="med" len="med"/>
                      <a:tailEnd type="none" w="med" len="med"/>
                    </a:lnL>
                    <a:lnR w="9525" cap="flat" cmpd="sng" algn="ctr">
                      <a:solidFill>
                        <a:srgbClr val="E4DFD2"/>
                      </a:solidFill>
                      <a:prstDash val="solid"/>
                      <a:round/>
                      <a:headEnd type="none" w="med" len="med"/>
                      <a:tailEnd type="none" w="med" len="med"/>
                    </a:lnR>
                    <a:lnT w="9525" cap="flat" cmpd="sng" algn="ctr">
                      <a:solidFill>
                        <a:srgbClr val="E4DFD2"/>
                      </a:solidFill>
                      <a:prstDash val="solid"/>
                      <a:round/>
                      <a:headEnd type="none" w="med" len="med"/>
                      <a:tailEnd type="none" w="med" len="med"/>
                    </a:lnT>
                    <a:lnB w="9525" cap="flat" cmpd="sng" algn="ctr">
                      <a:solidFill>
                        <a:srgbClr val="E4DFD2"/>
                      </a:solidFill>
                      <a:prstDash val="solid"/>
                      <a:round/>
                      <a:headEnd type="none" w="med" len="med"/>
                      <a:tailEnd type="none" w="med" len="med"/>
                    </a:lnB>
                    <a:solidFill>
                      <a:srgbClr val="FFFDF8"/>
                    </a:solidFill>
                  </a:tcPr>
                </a:tc>
              </a:tr>
            </a:tbl>
          </a:graphicData>
        </a:graphic>
      </p:graphicFrame>
      <p:sp>
        <p:nvSpPr>
          <p:cNvPr id="25" name="Slide Number Placeholder 0"/>
          <p:cNvSpPr>
            <a:spLocks noGrp="1"/>
          </p:cNvSpPr>
          <p:nvPr>
            <p:ph type="sldNum" sz="quarter" idx="4294967295"/>
          </p:nvPr>
        </p:nvSpPr>
        <p:spPr>
          <a:xfrm>
            <a:off x="10972800" y="6309360"/>
            <a:ext cx="670255"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200" b="1" spc="300" kern="0" dirty="0">
                <a:solidFill>
                  <a:srgbClr val="8A5F00"/>
                </a:solidFill>
                <a:latin typeface="Calibri" pitchFamily="34" charset="0"/>
                <a:ea typeface="Calibri" pitchFamily="34" charset="-122"/>
                <a:cs typeface="Calibri" pitchFamily="34" charset="-120"/>
              </a:rPr>
              <a:t>CONCLUSION</a:t>
            </a:r>
            <a:endParaRPr lang="en-US" sz="12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t"/>
          <a:lstStyle/>
          <a:p>
            <a:pPr algn="l" indent="0" marL="0">
              <a:buNone/>
            </a:pPr>
            <a:r>
              <a:rPr lang="en-US" sz="3400" b="1" dirty="0">
                <a:solidFill>
                  <a:srgbClr val="13203F"/>
                </a:solidFill>
                <a:latin typeface="Calibri" pitchFamily="34" charset="0"/>
                <a:ea typeface="Calibri" pitchFamily="34" charset="-122"/>
                <a:cs typeface="Calibri" pitchFamily="34" charset="-120"/>
              </a:rPr>
              <a:t>Conclusion and Findings</a:t>
            </a:r>
            <a:endParaRPr lang="en-US" sz="3400" dirty="0"/>
          </a:p>
        </p:txBody>
      </p:sp>
      <p:sp>
        <p:nvSpPr>
          <p:cNvPr id="4" name="Text 2"/>
          <p:cNvSpPr txBox="1"/>
          <p:nvPr/>
        </p:nvSpPr>
        <p:spPr>
          <a:xfrm>
            <a:off x="548640" y="6309360"/>
            <a:ext cx="8229600" cy="2743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Beeciye · Second-Hand Market Platform</a:t>
            </a:r>
            <a:endParaRPr lang="en-US" sz="1100" dirty="0"/>
          </a:p>
        </p:txBody>
      </p:sp>
      <p:sp>
        <p:nvSpPr>
          <p:cNvPr id="5" name="Text 3"/>
          <p:cNvSpPr txBox="1"/>
          <p:nvPr/>
        </p:nvSpPr>
        <p:spPr>
          <a:xfrm>
            <a:off x="548640" y="1645920"/>
            <a:ext cx="10515600" cy="1005840"/>
          </a:xfrm>
          <a:prstGeom prst="rect">
            <a:avLst/>
          </a:prstGeom>
          <a:noFill/>
          <a:ln/>
        </p:spPr>
        <p:txBody>
          <a:bodyPr wrap="square" lIns="0" tIns="0" rIns="0" bIns="0" rtlCol="0" anchor="t"/>
          <a:lstStyle/>
          <a:p>
            <a:pPr indent="0" marL="0">
              <a:buNone/>
            </a:pPr>
            <a:r>
              <a:rPr lang="en-US" sz="2200" dirty="0">
                <a:solidFill>
                  <a:srgbClr val="13203F"/>
                </a:solidFill>
                <a:latin typeface="Calibri" pitchFamily="34" charset="0"/>
                <a:ea typeface="Calibri" pitchFamily="34" charset="-122"/>
                <a:cs typeface="Calibri" pitchFamily="34" charset="-120"/>
              </a:rPr>
              <a:t>A structured, role-based web platform can make second-hand trading in Garowe </a:t>
            </a:r>
            <a:pPr indent="0" marL="0">
              <a:buNone/>
            </a:pPr>
            <a:r>
              <a:rPr lang="en-US" sz="2200" b="1" dirty="0">
                <a:solidFill>
                  <a:srgbClr val="13203F"/>
                </a:solidFill>
                <a:latin typeface="Calibri" pitchFamily="34" charset="0"/>
                <a:ea typeface="Calibri" pitchFamily="34" charset="-122"/>
                <a:cs typeface="Calibri" pitchFamily="34" charset="-120"/>
              </a:rPr>
              <a:t>more organised, transparent and accountable</a:t>
            </a:r>
            <a:pPr indent="0" marL="0">
              <a:buNone/>
            </a:pPr>
            <a:r>
              <a:rPr lang="en-US" sz="2200" dirty="0">
                <a:solidFill>
                  <a:srgbClr val="13203F"/>
                </a:solidFill>
                <a:latin typeface="Calibri" pitchFamily="34" charset="0"/>
                <a:ea typeface="Calibri" pitchFamily="34" charset="-122"/>
                <a:cs typeface="Calibri" pitchFamily="34" charset="-120"/>
              </a:rPr>
              <a:t>.</a:t>
            </a:r>
            <a:endParaRPr lang="en-US" sz="2200" dirty="0"/>
          </a:p>
        </p:txBody>
      </p:sp>
      <p:sp>
        <p:nvSpPr>
          <p:cNvPr id="6" name="Shape 4"/>
          <p:cNvSpPr/>
          <p:nvPr/>
        </p:nvSpPr>
        <p:spPr>
          <a:xfrm>
            <a:off x="548640" y="2926080"/>
            <a:ext cx="5410048" cy="1005840"/>
          </a:xfrm>
          <a:prstGeom prst="roundRect">
            <a:avLst>
              <a:gd name="adj" fmla="val 10909"/>
            </a:avLst>
          </a:prstGeom>
          <a:solidFill>
            <a:srgbClr val="FFFDF8"/>
          </a:solidFill>
          <a:ln w="9525">
            <a:solidFill>
              <a:srgbClr val="E4DFD2"/>
            </a:solidFill>
            <a:prstDash val="solid"/>
          </a:ln>
        </p:spPr>
      </p:sp>
      <p:sp>
        <p:nvSpPr>
          <p:cNvPr id="7" name="Shape 5"/>
          <p:cNvSpPr/>
          <p:nvPr/>
        </p:nvSpPr>
        <p:spPr>
          <a:xfrm>
            <a:off x="822960" y="3182112"/>
            <a:ext cx="502920" cy="502920"/>
          </a:xfrm>
          <a:prstGeom prst="ellipse">
            <a:avLst/>
          </a:prstGeom>
          <a:solidFill>
            <a:srgbClr val="13203F"/>
          </a:solidFill>
          <a:ln/>
        </p:spPr>
      </p:sp>
      <p:sp>
        <p:nvSpPr>
          <p:cNvPr id="8" name="Text 6"/>
          <p:cNvSpPr txBox="1"/>
          <p:nvPr/>
        </p:nvSpPr>
        <p:spPr>
          <a:xfrm>
            <a:off x="822960" y="3182112"/>
            <a:ext cx="502920" cy="502920"/>
          </a:xfrm>
          <a:prstGeom prst="rect">
            <a:avLst/>
          </a:prstGeom>
          <a:noFill/>
          <a:ln/>
        </p:spPr>
        <p:txBody>
          <a:bodyPr wrap="square" lIns="0" tIns="0" rIns="0" bIns="0" rtlCol="0" anchor="ctr"/>
          <a:lstStyle/>
          <a:p>
            <a:pPr algn="ctr" indent="0" marL="0">
              <a:buNone/>
            </a:pPr>
            <a:r>
              <a:rPr lang="en-US" sz="1400" b="1" dirty="0">
                <a:solidFill>
                  <a:srgbClr val="F2B51C"/>
                </a:solidFill>
                <a:latin typeface="Calibri" pitchFamily="34" charset="0"/>
                <a:ea typeface="Calibri" pitchFamily="34" charset="-122"/>
                <a:cs typeface="Calibri" pitchFamily="34" charset="-120"/>
              </a:rPr>
              <a:t>✓</a:t>
            </a:r>
            <a:endParaRPr lang="en-US" sz="1400" dirty="0"/>
          </a:p>
        </p:txBody>
      </p:sp>
      <p:sp>
        <p:nvSpPr>
          <p:cNvPr id="9" name="Text 7"/>
          <p:cNvSpPr txBox="1"/>
          <p:nvPr/>
        </p:nvSpPr>
        <p:spPr>
          <a:xfrm>
            <a:off x="1554480" y="3108960"/>
            <a:ext cx="4129888" cy="640080"/>
          </a:xfrm>
          <a:prstGeom prst="rect">
            <a:avLst/>
          </a:prstGeom>
          <a:noFill/>
          <a:ln/>
        </p:spPr>
        <p:txBody>
          <a:bodyPr wrap="square" lIns="0" tIns="0" rIns="0" bIns="0" rtlCol="0" anchor="ctr"/>
          <a:lstStyle/>
          <a:p>
            <a:pPr indent="0" marL="0">
              <a:buNone/>
            </a:pPr>
            <a:r>
              <a:rPr lang="en-US" sz="1600" dirty="0">
                <a:solidFill>
                  <a:srgbClr val="13203F"/>
                </a:solidFill>
                <a:latin typeface="Calibri" pitchFamily="34" charset="0"/>
                <a:ea typeface="Calibri" pitchFamily="34" charset="-122"/>
                <a:cs typeface="Calibri" pitchFamily="34" charset="-120"/>
              </a:rPr>
              <a:t>Database supports multiple payments per order</a:t>
            </a:r>
            <a:endParaRPr lang="en-US" sz="1600" dirty="0"/>
          </a:p>
        </p:txBody>
      </p:sp>
      <p:sp>
        <p:nvSpPr>
          <p:cNvPr id="10" name="Shape 8"/>
          <p:cNvSpPr/>
          <p:nvPr/>
        </p:nvSpPr>
        <p:spPr>
          <a:xfrm>
            <a:off x="6233008" y="2926080"/>
            <a:ext cx="5410048" cy="1005840"/>
          </a:xfrm>
          <a:prstGeom prst="roundRect">
            <a:avLst>
              <a:gd name="adj" fmla="val 10909"/>
            </a:avLst>
          </a:prstGeom>
          <a:solidFill>
            <a:srgbClr val="FFFDF8"/>
          </a:solidFill>
          <a:ln w="9525">
            <a:solidFill>
              <a:srgbClr val="E4DFD2"/>
            </a:solidFill>
            <a:prstDash val="solid"/>
          </a:ln>
        </p:spPr>
      </p:sp>
      <p:sp>
        <p:nvSpPr>
          <p:cNvPr id="11" name="Shape 9"/>
          <p:cNvSpPr/>
          <p:nvPr/>
        </p:nvSpPr>
        <p:spPr>
          <a:xfrm>
            <a:off x="6507328" y="3182112"/>
            <a:ext cx="502920" cy="502920"/>
          </a:xfrm>
          <a:prstGeom prst="ellipse">
            <a:avLst/>
          </a:prstGeom>
          <a:solidFill>
            <a:srgbClr val="13203F"/>
          </a:solidFill>
          <a:ln/>
        </p:spPr>
      </p:sp>
      <p:sp>
        <p:nvSpPr>
          <p:cNvPr id="12" name="Text 10"/>
          <p:cNvSpPr txBox="1"/>
          <p:nvPr/>
        </p:nvSpPr>
        <p:spPr>
          <a:xfrm>
            <a:off x="6507328" y="3182112"/>
            <a:ext cx="502920" cy="502920"/>
          </a:xfrm>
          <a:prstGeom prst="rect">
            <a:avLst/>
          </a:prstGeom>
          <a:noFill/>
          <a:ln/>
        </p:spPr>
        <p:txBody>
          <a:bodyPr wrap="square" lIns="0" tIns="0" rIns="0" bIns="0" rtlCol="0" anchor="ctr"/>
          <a:lstStyle/>
          <a:p>
            <a:pPr algn="ctr" indent="0" marL="0">
              <a:buNone/>
            </a:pPr>
            <a:r>
              <a:rPr lang="en-US" sz="1400" b="1" dirty="0">
                <a:solidFill>
                  <a:srgbClr val="F2B51C"/>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7238848" y="3108960"/>
            <a:ext cx="4129888" cy="640080"/>
          </a:xfrm>
          <a:prstGeom prst="rect">
            <a:avLst/>
          </a:prstGeom>
          <a:noFill/>
          <a:ln/>
        </p:spPr>
        <p:txBody>
          <a:bodyPr wrap="square" lIns="0" tIns="0" rIns="0" bIns="0" rtlCol="0" anchor="ctr"/>
          <a:lstStyle/>
          <a:p>
            <a:pPr indent="0" marL="0">
              <a:buNone/>
            </a:pPr>
            <a:r>
              <a:rPr lang="en-US" sz="1600" dirty="0">
                <a:solidFill>
                  <a:srgbClr val="13203F"/>
                </a:solidFill>
                <a:latin typeface="Calibri" pitchFamily="34" charset="0"/>
                <a:ea typeface="Calibri" pitchFamily="34" charset="-122"/>
                <a:cs typeface="Calibri" pitchFamily="34" charset="-120"/>
              </a:rPr>
              <a:t>Secure login with Admin and User roles</a:t>
            </a:r>
            <a:endParaRPr lang="en-US" sz="1600" dirty="0"/>
          </a:p>
        </p:txBody>
      </p:sp>
      <p:sp>
        <p:nvSpPr>
          <p:cNvPr id="14" name="Shape 12"/>
          <p:cNvSpPr/>
          <p:nvPr/>
        </p:nvSpPr>
        <p:spPr>
          <a:xfrm>
            <a:off x="548640" y="4160520"/>
            <a:ext cx="5410048" cy="1005840"/>
          </a:xfrm>
          <a:prstGeom prst="roundRect">
            <a:avLst>
              <a:gd name="adj" fmla="val 10909"/>
            </a:avLst>
          </a:prstGeom>
          <a:solidFill>
            <a:srgbClr val="FFFDF8"/>
          </a:solidFill>
          <a:ln w="9525">
            <a:solidFill>
              <a:srgbClr val="E4DFD2"/>
            </a:solidFill>
            <a:prstDash val="solid"/>
          </a:ln>
        </p:spPr>
      </p:sp>
      <p:sp>
        <p:nvSpPr>
          <p:cNvPr id="15" name="Shape 13"/>
          <p:cNvSpPr/>
          <p:nvPr/>
        </p:nvSpPr>
        <p:spPr>
          <a:xfrm>
            <a:off x="822960" y="4416552"/>
            <a:ext cx="502920" cy="502920"/>
          </a:xfrm>
          <a:prstGeom prst="ellipse">
            <a:avLst/>
          </a:prstGeom>
          <a:solidFill>
            <a:srgbClr val="13203F"/>
          </a:solidFill>
          <a:ln/>
        </p:spPr>
      </p:sp>
      <p:sp>
        <p:nvSpPr>
          <p:cNvPr id="16" name="Text 14"/>
          <p:cNvSpPr txBox="1"/>
          <p:nvPr/>
        </p:nvSpPr>
        <p:spPr>
          <a:xfrm>
            <a:off x="822960" y="4416552"/>
            <a:ext cx="502920" cy="502920"/>
          </a:xfrm>
          <a:prstGeom prst="rect">
            <a:avLst/>
          </a:prstGeom>
          <a:noFill/>
          <a:ln/>
        </p:spPr>
        <p:txBody>
          <a:bodyPr wrap="square" lIns="0" tIns="0" rIns="0" bIns="0" rtlCol="0" anchor="ctr"/>
          <a:lstStyle/>
          <a:p>
            <a:pPr algn="ctr" indent="0" marL="0">
              <a:buNone/>
            </a:pPr>
            <a:r>
              <a:rPr lang="en-US" sz="1400" b="1" dirty="0">
                <a:solidFill>
                  <a:srgbClr val="F2B51C"/>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1554480" y="4343400"/>
            <a:ext cx="4129888" cy="640080"/>
          </a:xfrm>
          <a:prstGeom prst="rect">
            <a:avLst/>
          </a:prstGeom>
          <a:noFill/>
          <a:ln/>
        </p:spPr>
        <p:txBody>
          <a:bodyPr wrap="square" lIns="0" tIns="0" rIns="0" bIns="0" rtlCol="0" anchor="ctr"/>
          <a:lstStyle/>
          <a:p>
            <a:pPr indent="0" marL="0">
              <a:buNone/>
            </a:pPr>
            <a:r>
              <a:rPr lang="en-US" sz="1600" dirty="0">
                <a:solidFill>
                  <a:srgbClr val="13203F"/>
                </a:solidFill>
                <a:latin typeface="Calibri" pitchFamily="34" charset="0"/>
                <a:ea typeface="Calibri" pitchFamily="34" charset="-122"/>
                <a:cs typeface="Calibri" pitchFamily="34" charset="-120"/>
              </a:rPr>
              <a:t>Complete browse-to-checkout workflow with stock checks</a:t>
            </a:r>
            <a:endParaRPr lang="en-US" sz="1600" dirty="0"/>
          </a:p>
        </p:txBody>
      </p:sp>
      <p:sp>
        <p:nvSpPr>
          <p:cNvPr id="18" name="Shape 16"/>
          <p:cNvSpPr/>
          <p:nvPr/>
        </p:nvSpPr>
        <p:spPr>
          <a:xfrm>
            <a:off x="6233008" y="4160520"/>
            <a:ext cx="5410048" cy="1005840"/>
          </a:xfrm>
          <a:prstGeom prst="roundRect">
            <a:avLst>
              <a:gd name="adj" fmla="val 10909"/>
            </a:avLst>
          </a:prstGeom>
          <a:solidFill>
            <a:srgbClr val="FFFDF8"/>
          </a:solidFill>
          <a:ln w="9525">
            <a:solidFill>
              <a:srgbClr val="E4DFD2"/>
            </a:solidFill>
            <a:prstDash val="solid"/>
          </a:ln>
        </p:spPr>
      </p:sp>
      <p:sp>
        <p:nvSpPr>
          <p:cNvPr id="19" name="Shape 17"/>
          <p:cNvSpPr/>
          <p:nvPr/>
        </p:nvSpPr>
        <p:spPr>
          <a:xfrm>
            <a:off x="6507328" y="4416552"/>
            <a:ext cx="502920" cy="502920"/>
          </a:xfrm>
          <a:prstGeom prst="ellipse">
            <a:avLst/>
          </a:prstGeom>
          <a:solidFill>
            <a:srgbClr val="13203F"/>
          </a:solidFill>
          <a:ln/>
        </p:spPr>
      </p:sp>
      <p:sp>
        <p:nvSpPr>
          <p:cNvPr id="20" name="Text 18"/>
          <p:cNvSpPr txBox="1"/>
          <p:nvPr/>
        </p:nvSpPr>
        <p:spPr>
          <a:xfrm>
            <a:off x="6507328" y="4416552"/>
            <a:ext cx="502920" cy="502920"/>
          </a:xfrm>
          <a:prstGeom prst="rect">
            <a:avLst/>
          </a:prstGeom>
          <a:noFill/>
          <a:ln/>
        </p:spPr>
        <p:txBody>
          <a:bodyPr wrap="square" lIns="0" tIns="0" rIns="0" bIns="0" rtlCol="0" anchor="ctr"/>
          <a:lstStyle/>
          <a:p>
            <a:pPr algn="ctr" indent="0" marL="0">
              <a:buNone/>
            </a:pPr>
            <a:r>
              <a:rPr lang="en-US" sz="1400" b="1" dirty="0">
                <a:solidFill>
                  <a:srgbClr val="F2B51C"/>
                </a:solidFill>
                <a:latin typeface="Calibri" pitchFamily="34" charset="0"/>
                <a:ea typeface="Calibri" pitchFamily="34" charset="-122"/>
                <a:cs typeface="Calibri" pitchFamily="34" charset="-120"/>
              </a:rPr>
              <a:t>✓</a:t>
            </a:r>
            <a:endParaRPr lang="en-US" sz="1400" dirty="0"/>
          </a:p>
        </p:txBody>
      </p:sp>
      <p:sp>
        <p:nvSpPr>
          <p:cNvPr id="21" name="Text 19"/>
          <p:cNvSpPr txBox="1"/>
          <p:nvPr/>
        </p:nvSpPr>
        <p:spPr>
          <a:xfrm>
            <a:off x="7238848" y="4343400"/>
            <a:ext cx="4129888" cy="640080"/>
          </a:xfrm>
          <a:prstGeom prst="rect">
            <a:avLst/>
          </a:prstGeom>
          <a:noFill/>
          <a:ln/>
        </p:spPr>
        <p:txBody>
          <a:bodyPr wrap="square" lIns="0" tIns="0" rIns="0" bIns="0" rtlCol="0" anchor="ctr"/>
          <a:lstStyle/>
          <a:p>
            <a:pPr indent="0" marL="0">
              <a:buNone/>
            </a:pPr>
            <a:r>
              <a:rPr lang="en-US" sz="1600" dirty="0">
                <a:solidFill>
                  <a:srgbClr val="13203F"/>
                </a:solidFill>
                <a:latin typeface="Calibri" pitchFamily="34" charset="0"/>
                <a:ea typeface="Calibri" pitchFamily="34" charset="-122"/>
                <a:cs typeface="Calibri" pitchFamily="34" charset="-120"/>
              </a:rPr>
              <a:t>Seller and admin dashboards with reports</a:t>
            </a:r>
            <a:endParaRPr lang="en-US" sz="1600" dirty="0"/>
          </a:p>
        </p:txBody>
      </p:sp>
      <p:sp>
        <p:nvSpPr>
          <p:cNvPr id="22" name="Text 20"/>
          <p:cNvSpPr txBox="1"/>
          <p:nvPr/>
        </p:nvSpPr>
        <p:spPr>
          <a:xfrm>
            <a:off x="548640" y="5532120"/>
            <a:ext cx="11094415" cy="365760"/>
          </a:xfrm>
          <a:prstGeom prst="rect">
            <a:avLst/>
          </a:prstGeom>
          <a:noFill/>
          <a:ln/>
        </p:spPr>
        <p:txBody>
          <a:bodyPr wrap="square" lIns="0" tIns="0" rIns="0" bIns="0" rtlCol="0" anchor="t"/>
          <a:lstStyle/>
          <a:p>
            <a:pPr indent="0" marL="0">
              <a:buNone/>
            </a:pPr>
            <a:r>
              <a:rPr lang="en-US" sz="1500" i="1" dirty="0">
                <a:solidFill>
                  <a:srgbClr val="3A4560"/>
                </a:solidFill>
                <a:latin typeface="Calibri" pitchFamily="34" charset="0"/>
                <a:ea typeface="Calibri" pitchFamily="34" charset="-122"/>
                <a:cs typeface="Calibri" pitchFamily="34" charset="-120"/>
              </a:rPr>
              <a:t>All six specific objectives were achieved.</a:t>
            </a:r>
            <a:endParaRPr lang="en-US" sz="1500" dirty="0"/>
          </a:p>
        </p:txBody>
      </p:sp>
      <p:sp>
        <p:nvSpPr>
          <p:cNvPr id="25" name="Slide Number Placeholder 0"/>
          <p:cNvSpPr>
            <a:spLocks noGrp="1"/>
          </p:cNvSpPr>
          <p:nvPr>
            <p:ph type="sldNum" sz="quarter" idx="4294967295"/>
          </p:nvPr>
        </p:nvSpPr>
        <p:spPr>
          <a:xfrm>
            <a:off x="10972800" y="6309360"/>
            <a:ext cx="670255"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47472"/>
            <a:ext cx="11094415" cy="274320"/>
          </a:xfrm>
          <a:prstGeom prst="rect">
            <a:avLst/>
          </a:prstGeom>
          <a:noFill/>
          <a:ln/>
        </p:spPr>
        <p:txBody>
          <a:bodyPr wrap="square" lIns="0" tIns="0" rIns="0" bIns="0" rtlCol="0" anchor="t"/>
          <a:lstStyle/>
          <a:p>
            <a:pPr indent="0" marL="0">
              <a:buNone/>
            </a:pPr>
            <a:r>
              <a:rPr lang="en-US" sz="1200" b="1" spc="300" kern="0" dirty="0">
                <a:solidFill>
                  <a:srgbClr val="8A5F00"/>
                </a:solidFill>
                <a:latin typeface="Calibri" pitchFamily="34" charset="0"/>
                <a:ea typeface="Calibri" pitchFamily="34" charset="-122"/>
                <a:cs typeface="Calibri" pitchFamily="34" charset="-120"/>
              </a:rPr>
              <a:t>RECOMMENDATIONS</a:t>
            </a:r>
            <a:endParaRPr lang="en-US" sz="1200" dirty="0"/>
          </a:p>
        </p:txBody>
      </p:sp>
      <p:sp>
        <p:nvSpPr>
          <p:cNvPr id="3" name="Text 0"/>
          <p:cNvSpPr/>
          <p:nvPr>
            <p:ph idx="100" type="title" hasCustomPrompt="1"/>
          </p:nvPr>
        </p:nvSpPr>
        <p:spPr>
          <a:xfrm>
            <a:off x="548640" y="658368"/>
            <a:ext cx="11094415" cy="685800"/>
          </a:xfrm>
          <a:prstGeom prst="rect">
            <a:avLst/>
          </a:prstGeom>
          <a:noFill/>
          <a:ln/>
        </p:spPr>
        <p:txBody>
          <a:bodyPr wrap="square" lIns="0" tIns="0" rIns="0" bIns="0" rtlCol="0" anchor="t"/>
          <a:lstStyle/>
          <a:p>
            <a:pPr algn="l" indent="0" marL="0">
              <a:buNone/>
            </a:pPr>
            <a:r>
              <a:rPr lang="en-US" sz="3400" b="1" dirty="0">
                <a:solidFill>
                  <a:srgbClr val="13203F"/>
                </a:solidFill>
                <a:latin typeface="Calibri" pitchFamily="34" charset="0"/>
                <a:ea typeface="Calibri" pitchFamily="34" charset="-122"/>
                <a:cs typeface="Calibri" pitchFamily="34" charset="-120"/>
              </a:rPr>
              <a:t>Recommendations and Future Work</a:t>
            </a:r>
            <a:endParaRPr lang="en-US" sz="3400" dirty="0"/>
          </a:p>
        </p:txBody>
      </p:sp>
      <p:sp>
        <p:nvSpPr>
          <p:cNvPr id="4" name="Text 2"/>
          <p:cNvSpPr txBox="1"/>
          <p:nvPr/>
        </p:nvSpPr>
        <p:spPr>
          <a:xfrm>
            <a:off x="548640" y="6309360"/>
            <a:ext cx="8229600" cy="2743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Beeciye · Second-Hand Market Platform</a:t>
            </a:r>
            <a:endParaRPr lang="en-US" sz="1100" dirty="0"/>
          </a:p>
        </p:txBody>
      </p:sp>
      <p:sp>
        <p:nvSpPr>
          <p:cNvPr id="5" name="Shape 3"/>
          <p:cNvSpPr/>
          <p:nvPr/>
        </p:nvSpPr>
        <p:spPr>
          <a:xfrm>
            <a:off x="548640" y="1691640"/>
            <a:ext cx="5410048" cy="3291840"/>
          </a:xfrm>
          <a:prstGeom prst="roundRect">
            <a:avLst>
              <a:gd name="adj" fmla="val 3333"/>
            </a:avLst>
          </a:prstGeom>
          <a:solidFill>
            <a:srgbClr val="FFFDF8"/>
          </a:solidFill>
          <a:ln w="9525">
            <a:solidFill>
              <a:srgbClr val="E4DFD2"/>
            </a:solidFill>
            <a:prstDash val="solid"/>
          </a:ln>
        </p:spPr>
      </p:sp>
      <p:sp>
        <p:nvSpPr>
          <p:cNvPr id="6" name="Text 4"/>
          <p:cNvSpPr txBox="1"/>
          <p:nvPr/>
        </p:nvSpPr>
        <p:spPr>
          <a:xfrm>
            <a:off x="960120" y="2011680"/>
            <a:ext cx="4587088" cy="457200"/>
          </a:xfrm>
          <a:prstGeom prst="rect">
            <a:avLst/>
          </a:prstGeom>
          <a:noFill/>
          <a:ln/>
        </p:spPr>
        <p:txBody>
          <a:bodyPr wrap="square" lIns="0" tIns="0" rIns="0" bIns="0" rtlCol="0" anchor="t"/>
          <a:lstStyle/>
          <a:p>
            <a:pPr indent="0" marL="0">
              <a:buNone/>
            </a:pPr>
            <a:r>
              <a:rPr lang="en-US" sz="2200" b="1" dirty="0">
                <a:solidFill>
                  <a:srgbClr val="13203F"/>
                </a:solidFill>
                <a:latin typeface="Calibri" pitchFamily="34" charset="0"/>
                <a:ea typeface="Calibri" pitchFamily="34" charset="-122"/>
                <a:cs typeface="Calibri" pitchFamily="34" charset="-120"/>
              </a:rPr>
              <a:t>Recommendations</a:t>
            </a:r>
            <a:endParaRPr lang="en-US" sz="2200" dirty="0"/>
          </a:p>
        </p:txBody>
      </p:sp>
      <p:sp>
        <p:nvSpPr>
          <p:cNvPr id="7" name="Text 5"/>
          <p:cNvSpPr txBox="1"/>
          <p:nvPr/>
        </p:nvSpPr>
        <p:spPr>
          <a:xfrm>
            <a:off x="960120" y="2697480"/>
            <a:ext cx="4587088" cy="31089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3A4560"/>
                </a:solidFill>
                <a:latin typeface="Calibri" pitchFamily="34" charset="0"/>
                <a:ea typeface="Calibri" pitchFamily="34" charset="-122"/>
                <a:cs typeface="Calibri" pitchFamily="34" charset="-120"/>
              </a:rPr>
              <a:t>Clearer labels on the checkout form</a:t>
            </a:r>
            <a:endParaRPr lang="en-US" sz="1700" dirty="0"/>
          </a:p>
          <a:p>
            <a:pPr marL="342900" indent="-342900">
              <a:spcAft>
                <a:spcPts val="800"/>
              </a:spcAft>
              <a:buSzPct val="100000"/>
              <a:buChar char="•"/>
            </a:pPr>
            <a:r>
              <a:rPr lang="en-US" sz="1700" dirty="0">
                <a:solidFill>
                  <a:srgbClr val="3A4560"/>
                </a:solidFill>
                <a:latin typeface="Calibri" pitchFamily="34" charset="0"/>
                <a:ea typeface="Calibri" pitchFamily="34" charset="-122"/>
                <a:cs typeface="Calibri" pitchFamily="34" charset="-120"/>
              </a:rPr>
              <a:t>Password reset by email</a:t>
            </a:r>
            <a:endParaRPr lang="en-US" sz="1700" dirty="0"/>
          </a:p>
          <a:p>
            <a:pPr marL="342900" indent="-342900">
              <a:spcAft>
                <a:spcPts val="800"/>
              </a:spcAft>
              <a:buSzPct val="100000"/>
              <a:buChar char="•"/>
            </a:pPr>
            <a:r>
              <a:rPr lang="en-US" sz="1700" dirty="0">
                <a:solidFill>
                  <a:srgbClr val="3A4560"/>
                </a:solidFill>
                <a:latin typeface="Calibri" pitchFamily="34" charset="0"/>
                <a:ea typeface="Calibri" pitchFamily="34" charset="-122"/>
                <a:cs typeface="Calibri" pitchFamily="34" charset="-120"/>
              </a:rPr>
              <a:t>Seller ratings and reviews to build trust</a:t>
            </a:r>
            <a:endParaRPr lang="en-US" sz="1700" dirty="0"/>
          </a:p>
          <a:p>
            <a:pPr marL="342900" indent="-342900">
              <a:spcAft>
                <a:spcPts val="800"/>
              </a:spcAft>
              <a:buSzPct val="100000"/>
              <a:buChar char="•"/>
            </a:pPr>
            <a:r>
              <a:rPr lang="en-US" sz="1700" dirty="0">
                <a:solidFill>
                  <a:srgbClr val="3A4560"/>
                </a:solidFill>
                <a:latin typeface="Calibri" pitchFamily="34" charset="0"/>
                <a:ea typeface="Calibri" pitchFamily="34" charset="-122"/>
                <a:cs typeface="Calibri" pitchFamily="34" charset="-120"/>
              </a:rPr>
              <a:t>Automated tests with xUnit</a:t>
            </a:r>
            <a:endParaRPr lang="en-US" sz="1700" dirty="0"/>
          </a:p>
          <a:p>
            <a:pPr marL="342900" indent="-342900">
              <a:spcAft>
                <a:spcPts val="800"/>
              </a:spcAft>
              <a:buSzPct val="100000"/>
              <a:buChar char="•"/>
            </a:pPr>
            <a:r>
              <a:rPr lang="en-US" sz="1700" dirty="0">
                <a:solidFill>
                  <a:srgbClr val="3A4560"/>
                </a:solidFill>
                <a:latin typeface="Calibri" pitchFamily="34" charset="0"/>
                <a:ea typeface="Calibri" pitchFamily="34" charset="-122"/>
                <a:cs typeface="Calibri" pitchFamily="34" charset="-120"/>
              </a:rPr>
              <a:t>Public deployment and load testing</a:t>
            </a:r>
            <a:endParaRPr lang="en-US" sz="1700" dirty="0"/>
          </a:p>
        </p:txBody>
      </p:sp>
      <p:sp>
        <p:nvSpPr>
          <p:cNvPr id="8" name="Shape 6"/>
          <p:cNvSpPr/>
          <p:nvPr/>
        </p:nvSpPr>
        <p:spPr>
          <a:xfrm>
            <a:off x="6233008" y="1691640"/>
            <a:ext cx="5410048" cy="3291840"/>
          </a:xfrm>
          <a:prstGeom prst="roundRect">
            <a:avLst>
              <a:gd name="adj" fmla="val 3333"/>
            </a:avLst>
          </a:prstGeom>
          <a:solidFill>
            <a:srgbClr val="13203F"/>
          </a:solidFill>
          <a:ln w="9525">
            <a:solidFill>
              <a:srgbClr val="13203F"/>
            </a:solidFill>
            <a:prstDash val="solid"/>
          </a:ln>
        </p:spPr>
      </p:sp>
      <p:sp>
        <p:nvSpPr>
          <p:cNvPr id="9" name="Text 7"/>
          <p:cNvSpPr txBox="1"/>
          <p:nvPr/>
        </p:nvSpPr>
        <p:spPr>
          <a:xfrm>
            <a:off x="6644488" y="2011680"/>
            <a:ext cx="4587088" cy="457200"/>
          </a:xfrm>
          <a:prstGeom prst="rect">
            <a:avLst/>
          </a:prstGeom>
          <a:noFill/>
          <a:ln/>
        </p:spPr>
        <p:txBody>
          <a:bodyPr wrap="square" lIns="0" tIns="0" rIns="0" bIns="0" rtlCol="0" anchor="t"/>
          <a:lstStyle/>
          <a:p>
            <a:pPr indent="0" marL="0">
              <a:buNone/>
            </a:pPr>
            <a:r>
              <a:rPr lang="en-US" sz="2200" b="1" dirty="0">
                <a:solidFill>
                  <a:srgbClr val="F2B51C"/>
                </a:solidFill>
                <a:latin typeface="Calibri" pitchFamily="34" charset="0"/>
                <a:ea typeface="Calibri" pitchFamily="34" charset="-122"/>
                <a:cs typeface="Calibri" pitchFamily="34" charset="-120"/>
              </a:rPr>
              <a:t>Future enhancements</a:t>
            </a:r>
            <a:endParaRPr lang="en-US" sz="2200" dirty="0"/>
          </a:p>
        </p:txBody>
      </p:sp>
      <p:sp>
        <p:nvSpPr>
          <p:cNvPr id="10" name="Text 8"/>
          <p:cNvSpPr txBox="1"/>
          <p:nvPr/>
        </p:nvSpPr>
        <p:spPr>
          <a:xfrm>
            <a:off x="6644488" y="2697480"/>
            <a:ext cx="4587088" cy="31089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E3E7F0"/>
                </a:solidFill>
                <a:latin typeface="Calibri" pitchFamily="34" charset="0"/>
                <a:ea typeface="Calibri" pitchFamily="34" charset="-122"/>
                <a:cs typeface="Calibri" pitchFamily="34" charset="-120"/>
              </a:rPr>
              <a:t>Real mobile-money payment gateway</a:t>
            </a:r>
            <a:endParaRPr lang="en-US" sz="1700" dirty="0"/>
          </a:p>
          <a:p>
            <a:pPr marL="342900" indent="-342900">
              <a:spcAft>
                <a:spcPts val="800"/>
              </a:spcAft>
              <a:buSzPct val="100000"/>
              <a:buChar char="•"/>
            </a:pPr>
            <a:r>
              <a:rPr lang="en-US" sz="1700" dirty="0">
                <a:solidFill>
                  <a:srgbClr val="E3E7F0"/>
                </a:solidFill>
                <a:latin typeface="Calibri" pitchFamily="34" charset="0"/>
                <a:ea typeface="Calibri" pitchFamily="34" charset="-122"/>
                <a:cs typeface="Calibri" pitchFamily="34" charset="-120"/>
              </a:rPr>
              <a:t>Mobile app or progressive web app</a:t>
            </a:r>
            <a:endParaRPr lang="en-US" sz="1700" dirty="0"/>
          </a:p>
          <a:p>
            <a:pPr marL="342900" indent="-342900">
              <a:spcAft>
                <a:spcPts val="800"/>
              </a:spcAft>
              <a:buSzPct val="100000"/>
              <a:buChar char="•"/>
            </a:pPr>
            <a:r>
              <a:rPr lang="en-US" sz="1700" dirty="0">
                <a:solidFill>
                  <a:srgbClr val="E3E7F0"/>
                </a:solidFill>
                <a:latin typeface="Calibri" pitchFamily="34" charset="0"/>
                <a:ea typeface="Calibri" pitchFamily="34" charset="-122"/>
                <a:cs typeface="Calibri" pitchFamily="34" charset="-120"/>
              </a:rPr>
              <a:t>Somali and English interface</a:t>
            </a:r>
            <a:endParaRPr lang="en-US" sz="1700" dirty="0"/>
          </a:p>
          <a:p>
            <a:pPr marL="342900" indent="-342900">
              <a:spcAft>
                <a:spcPts val="800"/>
              </a:spcAft>
              <a:buSzPct val="100000"/>
              <a:buChar char="•"/>
            </a:pPr>
            <a:r>
              <a:rPr lang="en-US" sz="1700" dirty="0">
                <a:solidFill>
                  <a:srgbClr val="E3E7F0"/>
                </a:solidFill>
                <a:latin typeface="Calibri" pitchFamily="34" charset="0"/>
                <a:ea typeface="Calibri" pitchFamily="34" charset="-122"/>
                <a:cs typeface="Calibri" pitchFamily="34" charset="-120"/>
              </a:rPr>
              <a:t>Automated image moderation</a:t>
            </a:r>
            <a:endParaRPr lang="en-US" sz="1700" dirty="0"/>
          </a:p>
          <a:p>
            <a:pPr marL="342900" indent="-342900">
              <a:spcAft>
                <a:spcPts val="800"/>
              </a:spcAft>
              <a:buSzPct val="100000"/>
              <a:buChar char="•"/>
            </a:pPr>
            <a:r>
              <a:rPr lang="en-US" sz="1700" dirty="0">
                <a:solidFill>
                  <a:srgbClr val="E3E7F0"/>
                </a:solidFill>
                <a:latin typeface="Calibri" pitchFamily="34" charset="0"/>
                <a:ea typeface="Calibri" pitchFamily="34" charset="-122"/>
                <a:cs typeface="Calibri" pitchFamily="34" charset="-120"/>
              </a:rPr>
              <a:t>Richer sales analytics</a:t>
            </a:r>
            <a:endParaRPr lang="en-US" sz="1700" dirty="0"/>
          </a:p>
        </p:txBody>
      </p:sp>
      <p:sp>
        <p:nvSpPr>
          <p:cNvPr id="25" name="Slide Number Placeholder 0"/>
          <p:cNvSpPr>
            <a:spLocks noGrp="1"/>
          </p:cNvSpPr>
          <p:nvPr>
            <p:ph type="sldNum" sz="quarter" idx="4294967295"/>
          </p:nvPr>
        </p:nvSpPr>
        <p:spPr>
          <a:xfrm>
            <a:off x="10972800" y="6309360"/>
            <a:ext cx="670255"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B51C"/>
        </a:solidFill>
      </p:bgPr>
    </p:bg>
    <p:spTree>
      <p:nvGrpSpPr>
        <p:cNvPr id="1" name=""/>
        <p:cNvGrpSpPr/>
        <p:nvPr/>
      </p:nvGrpSpPr>
      <p:grpSpPr>
        <a:xfrm>
          <a:off x="0" y="0"/>
          <a:ext cx="0" cy="0"/>
          <a:chOff x="0" y="0"/>
          <a:chExt cx="0" cy="0"/>
        </a:xfrm>
      </p:grpSpPr>
      <p:sp>
        <p:nvSpPr>
          <p:cNvPr id="2" name="Shape 0"/>
          <p:cNvSpPr/>
          <p:nvPr/>
        </p:nvSpPr>
        <p:spPr>
          <a:xfrm>
            <a:off x="8961120" y="3291840"/>
            <a:ext cx="4572000" cy="4572000"/>
          </a:xfrm>
          <a:prstGeom prst="ellipse">
            <a:avLst/>
          </a:prstGeom>
          <a:solidFill>
            <a:srgbClr val="E3A818"/>
          </a:solidFill>
          <a:ln/>
        </p:spPr>
      </p:sp>
      <p:sp>
        <p:nvSpPr>
          <p:cNvPr id="3" name="Text 1"/>
          <p:cNvSpPr txBox="1"/>
          <p:nvPr/>
        </p:nvSpPr>
        <p:spPr>
          <a:xfrm>
            <a:off x="822960" y="1828800"/>
            <a:ext cx="9144000" cy="1188720"/>
          </a:xfrm>
          <a:prstGeom prst="rect">
            <a:avLst/>
          </a:prstGeom>
          <a:noFill/>
          <a:ln/>
        </p:spPr>
        <p:txBody>
          <a:bodyPr wrap="square" lIns="0" tIns="0" rIns="0" bIns="0" rtlCol="0" anchor="t"/>
          <a:lstStyle/>
          <a:p>
            <a:pPr indent="0" marL="0">
              <a:buNone/>
            </a:pPr>
            <a:r>
              <a:rPr lang="en-US" sz="8000" b="1" dirty="0">
                <a:solidFill>
                  <a:srgbClr val="13203F"/>
                </a:solidFill>
                <a:latin typeface="Calibri" pitchFamily="34" charset="0"/>
                <a:ea typeface="Calibri" pitchFamily="34" charset="-122"/>
                <a:cs typeface="Calibri" pitchFamily="34" charset="-120"/>
              </a:rPr>
              <a:t>Thank you</a:t>
            </a:r>
            <a:endParaRPr lang="en-US" sz="8000" dirty="0"/>
          </a:p>
        </p:txBody>
      </p:sp>
      <p:sp>
        <p:nvSpPr>
          <p:cNvPr id="4" name="Text 2"/>
          <p:cNvSpPr txBox="1"/>
          <p:nvPr/>
        </p:nvSpPr>
        <p:spPr>
          <a:xfrm>
            <a:off x="822960" y="3154680"/>
            <a:ext cx="9144000" cy="640080"/>
          </a:xfrm>
          <a:prstGeom prst="rect">
            <a:avLst/>
          </a:prstGeom>
          <a:noFill/>
          <a:ln/>
        </p:spPr>
        <p:txBody>
          <a:bodyPr wrap="square" lIns="0" tIns="0" rIns="0" bIns="0" rtlCol="0" anchor="t"/>
          <a:lstStyle/>
          <a:p>
            <a:pPr indent="0" marL="0">
              <a:buNone/>
            </a:pPr>
            <a:r>
              <a:rPr lang="en-US" sz="3000" dirty="0">
                <a:solidFill>
                  <a:srgbClr val="13203F"/>
                </a:solidFill>
                <a:latin typeface="Calibri" pitchFamily="34" charset="0"/>
                <a:ea typeface="Calibri" pitchFamily="34" charset="-122"/>
                <a:cs typeface="Calibri" pitchFamily="34" charset="-120"/>
              </a:rPr>
              <a:t>Questions and discussion</a:t>
            </a:r>
            <a:endParaRPr lang="en-US" sz="3000" dirty="0"/>
          </a:p>
        </p:txBody>
      </p:sp>
      <p:sp>
        <p:nvSpPr>
          <p:cNvPr id="5" name="Text 3"/>
          <p:cNvSpPr txBox="1"/>
          <p:nvPr/>
        </p:nvSpPr>
        <p:spPr>
          <a:xfrm>
            <a:off x="822960" y="4206240"/>
            <a:ext cx="9144000" cy="822960"/>
          </a:xfrm>
          <a:prstGeom prst="rect">
            <a:avLst/>
          </a:prstGeom>
          <a:noFill/>
          <a:ln/>
        </p:spPr>
        <p:txBody>
          <a:bodyPr wrap="square" lIns="0" tIns="0" rIns="0" bIns="0" rtlCol="0" anchor="t"/>
          <a:lstStyle/>
          <a:p>
            <a:pPr indent="0" marL="0">
              <a:buNone/>
            </a:pPr>
            <a:r>
              <a:rPr lang="en-US" sz="1600" dirty="0">
                <a:solidFill>
                  <a:srgbClr val="13203F"/>
                </a:solidFill>
                <a:latin typeface="Calibri" pitchFamily="34" charset="0"/>
                <a:ea typeface="Calibri" pitchFamily="34" charset="-122"/>
                <a:cs typeface="Calibri" pitchFamily="34" charset="-120"/>
              </a:rPr>
              <a:t>[Student Full Name] · Supervisor: [Supervisor Full Name]</a:t>
            </a:r>
            <a:endParaRPr lang="en-US" sz="1600" dirty="0"/>
          </a:p>
          <a:p>
            <a:pPr indent="0" marL="0">
              <a:buNone/>
            </a:pPr>
            <a:r>
              <a:rPr lang="en-US" sz="1600" dirty="0">
                <a:solidFill>
                  <a:srgbClr val="13203F"/>
                </a:solidFill>
                <a:latin typeface="Calibri" pitchFamily="34" charset="0"/>
                <a:ea typeface="Calibri" pitchFamily="34" charset="-122"/>
                <a:cs typeface="Calibri" pitchFamily="34" charset="-120"/>
              </a:rPr>
              <a:t>East Africa University – Garowe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Beeciye Thesis Presentation</dc:title>
  <dc:subject>PptxGenJS Presentation</dc:subject>
  <dc:creator>PptxGenJS</dc:creator>
  <cp:lastModifiedBy>PptxGenJS</cp:lastModifiedBy>
  <cp:revision>1</cp:revision>
  <dcterms:created xsi:type="dcterms:W3CDTF">2026-10-03T03:15:23Z</dcterms:created>
  <dcterms:modified xsi:type="dcterms:W3CDTF">2026-10-03T03:15:23Z</dcterms:modified>
</cp:coreProperties>
</file>